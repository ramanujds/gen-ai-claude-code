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59" r:id="rId3"/>
    <p:sldId id="263" r:id="rId4"/>
    <p:sldId id="264" r:id="rId5"/>
    <p:sldId id="265" r:id="rId6"/>
    <p:sldId id="278" r:id="rId7"/>
    <p:sldId id="267" r:id="rId8"/>
    <p:sldId id="268" r:id="rId9"/>
    <p:sldId id="269" r:id="rId10"/>
    <p:sldId id="270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0"/>
    <p:restoredTop sz="94610"/>
  </p:normalViewPr>
  <p:slideViewPr>
    <p:cSldViewPr snapToGrid="0">
      <p:cViewPr varScale="1">
        <p:scale>
          <a:sx n="132" d="100"/>
          <a:sy n="132" d="100"/>
        </p:scale>
        <p:origin x="17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7179E-A1B9-FF7E-757A-51B9E3D3C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8CADA-599C-8334-2E78-FFB8DEEAD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A01DF-2A4D-205C-9059-DB099E0B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688-8A83-1C7F-D331-EEC73C13B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7C8B7-C402-5CC5-76B3-4085D1E1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4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4A40-8679-5D28-82B3-7F0B34A3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0D8EE-67D3-C2ED-1C58-E8537E4A0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9004-A3FD-2B4C-1F3B-65622CBD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17DA0-D991-EA81-9B9F-05E687CE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6262B-A193-91EE-E4BC-C9A48815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418C-C46D-DF04-0B74-0A57D53B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A4199-2564-622E-1808-73C28726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695CB-5DB5-C4B8-0B61-15399F8D8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A15EB-7325-B43D-DB25-89AEF161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3210F-FE59-4F8D-B4D2-41A1487D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8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3A20-CE7B-7B07-F479-8E25E132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E74F2-47D1-B85C-609A-B3E77CD69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6861B-0591-6831-16FF-EF9F8F0C2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39443-5BCD-2CCC-244B-9A8178CB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34DC3-490D-871D-54BA-389FAF9D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755D5-0662-E502-7209-05DAD78A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9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555C-770F-2D18-415E-800C232F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BD5F2-EEFE-8850-D39B-30527A198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A958F-4044-71FD-D79C-6CA934CFF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CDB5A4-C69C-0FD5-BE13-3C41C32E8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A7E6AC-AF89-360D-7092-66CD5B7A5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8010B-7A58-ABCE-9497-8E4B816C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028660-77F8-F7BF-5892-4912578D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051A5-F90B-AAB0-7321-7CB4748A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6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D314B-820D-200A-89D2-EA18B17F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5BCB9-06A3-F3E1-33A1-E679E0A3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C80D9-8F24-4C49-0B77-A50157E6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3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9750-F7D3-4B6E-6018-43CA61AE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0E60C-49E1-75AC-2C42-732BCBBD2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67EDF-875B-AC8B-2947-C7A90BAB7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D2BB1-3C35-36AB-02A1-5B858DCD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6A30F-FF3B-CD38-8594-1B71B177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75748-1647-1580-094D-2B676EEA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7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2ED6F-662C-858F-B83C-E57BC892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5A6D4-DF93-3819-452A-45589CF4B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94D76-6D89-1DF7-20F4-7FE56CB2F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C07EA-9E7E-3B26-6935-F3A43A6C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18C7C-455F-B94A-3BDF-878F72C0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1EEC8-9770-BDC2-D5E7-4C7BA308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90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E2A9A-EEAF-0E9A-2E34-8AC0E99D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C3293-F677-95AD-C930-7D1A28D23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7BBE1-9BD6-B855-6159-3164FC0C1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AF32-8260-7082-E884-C1E75BA8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374B9-69B6-3A86-7763-FC8E4A54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1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FA3EA6-38B7-74FA-EE9E-31E8D82C6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36303-562E-5016-EF49-420FCBBC6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00528-2EE0-9C12-2B0D-B5DDB0B2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AFDC3-D939-A4AC-354C-0BB03870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365AE-60E3-5F70-A052-0C3B1158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1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72A"/>
            </a:gs>
            <a:gs pos="60000">
              <a:srgbClr val="1E293B"/>
            </a:gs>
            <a:gs pos="100000">
              <a:srgbClr val="0F172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E6517-48DF-ED9F-C563-5BD09755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AA30E-0C61-4C61-9907-888B798B9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E175E-10B0-E2F3-A4C9-F276D4579E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4021D0-65B5-2E42-9902-E488A89A8FAB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CFAA4-5800-8174-760C-7C11822BC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E2223-E851-83EF-3A7F-6FC92EA7F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A194B-FD7B-734E-A071-31D9FC5B14A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gradFill>
            <a:gsLst>
              <a:gs pos="0">
                <a:srgbClr val="6366F1"/>
              </a:gs>
              <a:gs pos="50000">
                <a:srgbClr val="8B5CF6"/>
              </a:gs>
              <a:gs pos="100000">
                <a:srgbClr val="06B6D4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2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4F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BD5E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BD5E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BD5E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CBD5E1"/>
          </a:solidFill>
        </a:defRPr>
      </a:defPPr>
      <a:lvl1pPr marL="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575A94D-D18A-FD47-91BD-FA06BF65B21F}"/>
              </a:ext>
            </a:extLst>
          </p:cNvPr>
          <p:cNvSpPr/>
          <p:nvPr/>
        </p:nvSpPr>
        <p:spPr>
          <a:xfrm>
            <a:off x="6827715" y="274516"/>
            <a:ext cx="5080000" cy="5080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836CF8-BD7D-F341-8557-D054C7510495}"/>
              </a:ext>
            </a:extLst>
          </p:cNvPr>
          <p:cNvSpPr/>
          <p:nvPr/>
        </p:nvSpPr>
        <p:spPr>
          <a:xfrm>
            <a:off x="7552592" y="1667608"/>
            <a:ext cx="3175000" cy="31750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C9A84-9453-7446-917D-A890395D221F}"/>
              </a:ext>
            </a:extLst>
          </p:cNvPr>
          <p:cNvSpPr txBox="1"/>
          <p:nvPr/>
        </p:nvSpPr>
        <p:spPr>
          <a:xfrm>
            <a:off x="762000" y="2032000"/>
            <a:ext cx="6985000" cy="132343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0F4F8"/>
                </a:solidFill>
              </a:rPr>
              <a:t>Introduction to
Generative 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39357A-F387-6A4E-B665-BE895AEA3C95}"/>
              </a:ext>
            </a:extLst>
          </p:cNvPr>
          <p:cNvSpPr/>
          <p:nvPr/>
        </p:nvSpPr>
        <p:spPr>
          <a:xfrm>
            <a:off x="762000" y="5207000"/>
            <a:ext cx="2286000" cy="508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9" name="Graphic 9" descr="Artificial Intelligenc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2007" y="2595393"/>
            <a:ext cx="203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E700D8-C588-BA48-8051-5A2E83D262C9}"/>
              </a:ext>
            </a:extLst>
          </p:cNvPr>
          <p:cNvSpPr txBox="1"/>
          <p:nvPr/>
        </p:nvSpPr>
        <p:spPr>
          <a:xfrm>
            <a:off x="635000" y="381000"/>
            <a:ext cx="635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 dirty="0">
                <a:solidFill>
                  <a:srgbClr val="F0F4F8"/>
                </a:solidFill>
              </a:rPr>
              <a:t>Session’s Agenda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10F5B2-9449-F043-9944-286356110AD4}"/>
              </a:ext>
            </a:extLst>
          </p:cNvPr>
          <p:cNvSpPr/>
          <p:nvPr/>
        </p:nvSpPr>
        <p:spPr>
          <a:xfrm>
            <a:off x="990600" y="1752600"/>
            <a:ext cx="38100" cy="45212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9B5D16-E13A-C640-BB9F-381E95284184}"/>
              </a:ext>
            </a:extLst>
          </p:cNvPr>
          <p:cNvSpPr/>
          <p:nvPr/>
        </p:nvSpPr>
        <p:spPr>
          <a:xfrm>
            <a:off x="762000" y="1651000"/>
            <a:ext cx="508000" cy="508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2C45D-E938-0641-BDBE-A3DAE05A9F77}"/>
              </a:ext>
            </a:extLst>
          </p:cNvPr>
          <p:cNvSpPr txBox="1"/>
          <p:nvPr/>
        </p:nvSpPr>
        <p:spPr>
          <a:xfrm>
            <a:off x="1524000" y="1625600"/>
            <a:ext cx="635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F0F4F8"/>
                </a:solidFill>
              </a:rPr>
              <a:t>What is Generative AI?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52A51-FF2F-6F4B-AD83-A1279BC5AA46}"/>
              </a:ext>
            </a:extLst>
          </p:cNvPr>
          <p:cNvSpPr txBox="1"/>
          <p:nvPr/>
        </p:nvSpPr>
        <p:spPr>
          <a:xfrm>
            <a:off x="1524000" y="1930400"/>
            <a:ext cx="660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Definition, key traits, and core concepts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4D3EF4-195F-DE4B-9A06-91F0856DC4E1}"/>
              </a:ext>
            </a:extLst>
          </p:cNvPr>
          <p:cNvSpPr/>
          <p:nvPr/>
        </p:nvSpPr>
        <p:spPr>
          <a:xfrm>
            <a:off x="762000" y="2438400"/>
            <a:ext cx="508000" cy="508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33BDFD-CFD4-3248-8902-37632225FFA6}"/>
              </a:ext>
            </a:extLst>
          </p:cNvPr>
          <p:cNvSpPr txBox="1"/>
          <p:nvPr/>
        </p:nvSpPr>
        <p:spPr>
          <a:xfrm>
            <a:off x="1524000" y="2413000"/>
            <a:ext cx="635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How It 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6CA938-9EFC-5041-AD5F-DEE748A8E208}"/>
              </a:ext>
            </a:extLst>
          </p:cNvPr>
          <p:cNvSpPr txBox="1"/>
          <p:nvPr/>
        </p:nvSpPr>
        <p:spPr>
          <a:xfrm>
            <a:off x="1524000" y="2717800"/>
            <a:ext cx="660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LLMs, training, and neural network fundamentals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13FB48-7894-024D-806E-2BFC4A996E37}"/>
              </a:ext>
            </a:extLst>
          </p:cNvPr>
          <p:cNvSpPr/>
          <p:nvPr/>
        </p:nvSpPr>
        <p:spPr>
          <a:xfrm>
            <a:off x="762000" y="3225800"/>
            <a:ext cx="508000" cy="508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464058-0A69-2747-9AB8-C8BD7AD16BD8}"/>
              </a:ext>
            </a:extLst>
          </p:cNvPr>
          <p:cNvSpPr txBox="1"/>
          <p:nvPr/>
        </p:nvSpPr>
        <p:spPr>
          <a:xfrm>
            <a:off x="1524000" y="3200400"/>
            <a:ext cx="635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F0F4F8"/>
                </a:solidFill>
              </a:rPr>
              <a:t>Traditional AI vs. Generative AI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2219B4-12D5-5942-82C9-EC7FD256E6E9}"/>
              </a:ext>
            </a:extLst>
          </p:cNvPr>
          <p:cNvSpPr txBox="1"/>
          <p:nvPr/>
        </p:nvSpPr>
        <p:spPr>
          <a:xfrm>
            <a:off x="1524000" y="3505200"/>
            <a:ext cx="660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Side-by-side comparison of capabilities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BAAA770-70EF-4D4B-97E1-8D3130CD4DAD}"/>
              </a:ext>
            </a:extLst>
          </p:cNvPr>
          <p:cNvSpPr/>
          <p:nvPr/>
        </p:nvSpPr>
        <p:spPr>
          <a:xfrm>
            <a:off x="762000" y="4013200"/>
            <a:ext cx="508000" cy="508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6C302D-538F-BD46-9D33-0C32E71E6126}"/>
              </a:ext>
            </a:extLst>
          </p:cNvPr>
          <p:cNvSpPr txBox="1"/>
          <p:nvPr/>
        </p:nvSpPr>
        <p:spPr>
          <a:xfrm>
            <a:off x="1524000" y="3987800"/>
            <a:ext cx="635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The GenAI Landscape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FC16D6-3612-704C-9849-DEB3A220257C}"/>
              </a:ext>
            </a:extLst>
          </p:cNvPr>
          <p:cNvSpPr txBox="1"/>
          <p:nvPr/>
        </p:nvSpPr>
        <p:spPr>
          <a:xfrm>
            <a:off x="1524000" y="4292600"/>
            <a:ext cx="660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Major models, providers, and ecosystem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E2C8C41-4498-8E42-BD69-C53D35F27E37}"/>
              </a:ext>
            </a:extLst>
          </p:cNvPr>
          <p:cNvSpPr/>
          <p:nvPr/>
        </p:nvSpPr>
        <p:spPr>
          <a:xfrm>
            <a:off x="762000" y="4800600"/>
            <a:ext cx="508000" cy="508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C5B919-3B04-4648-BE44-416B218261F5}"/>
              </a:ext>
            </a:extLst>
          </p:cNvPr>
          <p:cNvSpPr txBox="1"/>
          <p:nvPr/>
        </p:nvSpPr>
        <p:spPr>
          <a:xfrm>
            <a:off x="1524000" y="4775200"/>
            <a:ext cx="635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Deep Dive: Real-World Examples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A8EECF-5A9C-B147-A359-9E696F85FB34}"/>
              </a:ext>
            </a:extLst>
          </p:cNvPr>
          <p:cNvSpPr txBox="1"/>
          <p:nvPr/>
        </p:nvSpPr>
        <p:spPr>
          <a:xfrm>
            <a:off x="1524000" y="5080000"/>
            <a:ext cx="660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Text generation, summarization, chatbots, document analysis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C92ADE9-FDF0-D74D-85F4-A72001286B03}"/>
              </a:ext>
            </a:extLst>
          </p:cNvPr>
          <p:cNvSpPr/>
          <p:nvPr/>
        </p:nvSpPr>
        <p:spPr>
          <a:xfrm>
            <a:off x="762000" y="5588000"/>
            <a:ext cx="508000" cy="508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C27C26-0D02-6743-92C8-6CAE0F1CFED2}"/>
              </a:ext>
            </a:extLst>
          </p:cNvPr>
          <p:cNvSpPr txBox="1"/>
          <p:nvPr/>
        </p:nvSpPr>
        <p:spPr>
          <a:xfrm>
            <a:off x="1524000" y="5562600"/>
            <a:ext cx="635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Enterprise Use Cases &amp; Next Steps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17C38E-23A4-A74D-BAD7-0BAAA53ACF98}"/>
              </a:ext>
            </a:extLst>
          </p:cNvPr>
          <p:cNvSpPr txBox="1"/>
          <p:nvPr/>
        </p:nvSpPr>
        <p:spPr>
          <a:xfrm>
            <a:off x="1524000" y="5867400"/>
            <a:ext cx="660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Support team applications and getting started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7199FAD-178A-F34A-968C-68FC680930AB}"/>
              </a:ext>
            </a:extLst>
          </p:cNvPr>
          <p:cNvSpPr/>
          <p:nvPr/>
        </p:nvSpPr>
        <p:spPr>
          <a:xfrm>
            <a:off x="9017000" y="1905000"/>
            <a:ext cx="2921000" cy="2921000"/>
          </a:xfrm>
          <a:prstGeom prst="ellipse">
            <a:avLst/>
          </a:prstGeom>
          <a:solidFill>
            <a:srgbClr val="1E293B"/>
          </a:solidFill>
          <a:ln w="25400" cap="flat" cmpd="sng" algn="ctr">
            <a:solidFill>
              <a:srgbClr val="6366F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23BE68-A59E-624C-A8C5-DA4361E97BB0}"/>
              </a:ext>
            </a:extLst>
          </p:cNvPr>
          <p:cNvSpPr/>
          <p:nvPr/>
        </p:nvSpPr>
        <p:spPr>
          <a:xfrm>
            <a:off x="9461500" y="2349500"/>
            <a:ext cx="2032000" cy="2032000"/>
          </a:xfrm>
          <a:prstGeom prst="ellipse">
            <a:avLst/>
          </a:prstGeom>
          <a:solidFill>
            <a:srgbClr val="1E293B"/>
          </a:solidFill>
          <a:ln w="25400" cap="flat" cmpd="sng" algn="ctr">
            <a:solidFill>
              <a:srgbClr val="8B5C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50D98B-E856-8B4C-8393-50D3EB1034EE}"/>
              </a:ext>
            </a:extLst>
          </p:cNvPr>
          <p:cNvSpPr/>
          <p:nvPr/>
        </p:nvSpPr>
        <p:spPr>
          <a:xfrm>
            <a:off x="10033000" y="2921000"/>
            <a:ext cx="889000" cy="889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701286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D41134-01F4-7144-8D5D-C0988746191F}"/>
              </a:ext>
            </a:extLst>
          </p:cNvPr>
          <p:cNvSpPr txBox="1"/>
          <p:nvPr/>
        </p:nvSpPr>
        <p:spPr>
          <a:xfrm>
            <a:off x="635000" y="381000"/>
            <a:ext cx="762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0F4F8"/>
                </a:solidFill>
              </a:rPr>
              <a:t>What is Generative AI?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1010FA2-AE5D-0648-AA3F-84B18365A93D}"/>
              </a:ext>
            </a:extLst>
          </p:cNvPr>
          <p:cNvSpPr/>
          <p:nvPr/>
        </p:nvSpPr>
        <p:spPr>
          <a:xfrm>
            <a:off x="635000" y="1333500"/>
            <a:ext cx="10922000" cy="1016000"/>
          </a:xfrm>
          <a:prstGeom prst="roundRect">
            <a:avLst/>
          </a:prstGeom>
          <a:solidFill>
            <a:srgbClr val="1E293B"/>
          </a:solidFill>
          <a:ln w="25400" cap="flat" cmpd="sng" algn="ctr">
            <a:solidFill>
              <a:srgbClr val="6366F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DF5BB4-7F52-904E-A7C8-CA784EB5998E}"/>
              </a:ext>
            </a:extLst>
          </p:cNvPr>
          <p:cNvSpPr/>
          <p:nvPr/>
        </p:nvSpPr>
        <p:spPr>
          <a:xfrm>
            <a:off x="635000" y="1333500"/>
            <a:ext cx="76200" cy="1016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C3476-8863-1347-A7B2-2E224B0EDD33}"/>
              </a:ext>
            </a:extLst>
          </p:cNvPr>
          <p:cNvSpPr txBox="1"/>
          <p:nvPr/>
        </p:nvSpPr>
        <p:spPr>
          <a:xfrm>
            <a:off x="952500" y="1460500"/>
            <a:ext cx="10350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600" dirty="0">
                <a:solidFill>
                  <a:srgbClr val="CBD5E1"/>
                </a:solidFill>
              </a:rPr>
              <a:t>Generative AI refers to artificial intelligence systems that can create new, original content — including text, images, code, audio, and video - by learning patterns from vast amounts of training data.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93F3D4-69B9-4C46-8D8D-7AC86F15EFBF}"/>
              </a:ext>
            </a:extLst>
          </p:cNvPr>
          <p:cNvSpPr/>
          <p:nvPr/>
        </p:nvSpPr>
        <p:spPr>
          <a:xfrm>
            <a:off x="635000" y="2667000"/>
            <a:ext cx="3492500" cy="3302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1FCC12-2227-5C4A-9C16-19D1B0CF41B0}"/>
              </a:ext>
            </a:extLst>
          </p:cNvPr>
          <p:cNvSpPr/>
          <p:nvPr/>
        </p:nvSpPr>
        <p:spPr>
          <a:xfrm>
            <a:off x="635000" y="2667000"/>
            <a:ext cx="3492500" cy="635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EA7A42-CD4A-DB47-BAAA-2C9805C97061}"/>
              </a:ext>
            </a:extLst>
          </p:cNvPr>
          <p:cNvSpPr/>
          <p:nvPr/>
        </p:nvSpPr>
        <p:spPr>
          <a:xfrm>
            <a:off x="2032000" y="2984500"/>
            <a:ext cx="698500" cy="6985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E9F06A-D822-0D4C-8DDF-6571E242708B}"/>
              </a:ext>
            </a:extLst>
          </p:cNvPr>
          <p:cNvSpPr txBox="1"/>
          <p:nvPr/>
        </p:nvSpPr>
        <p:spPr>
          <a:xfrm>
            <a:off x="825500" y="3873500"/>
            <a:ext cx="311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Creates New Content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99512-D271-4641-AC99-BA5B33747523}"/>
              </a:ext>
            </a:extLst>
          </p:cNvPr>
          <p:cNvSpPr txBox="1"/>
          <p:nvPr/>
        </p:nvSpPr>
        <p:spPr>
          <a:xfrm>
            <a:off x="825500" y="4318000"/>
            <a:ext cx="3111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Unlike traditional AI that classifies or predicts, GenAI produces entirely new outputs — drafting emails, writing code, composing summaries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728ED3-AB08-D34C-A176-7B6A1C93D210}"/>
              </a:ext>
            </a:extLst>
          </p:cNvPr>
          <p:cNvSpPr/>
          <p:nvPr/>
        </p:nvSpPr>
        <p:spPr>
          <a:xfrm>
            <a:off x="4381500" y="2667000"/>
            <a:ext cx="3492500" cy="3302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49EE8F-A236-3D4E-A394-23C8FB88425E}"/>
              </a:ext>
            </a:extLst>
          </p:cNvPr>
          <p:cNvSpPr/>
          <p:nvPr/>
        </p:nvSpPr>
        <p:spPr>
          <a:xfrm>
            <a:off x="4381500" y="2667000"/>
            <a:ext cx="3492500" cy="635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E82757-A651-6347-B23E-0E40C52D63A6}"/>
              </a:ext>
            </a:extLst>
          </p:cNvPr>
          <p:cNvSpPr/>
          <p:nvPr/>
        </p:nvSpPr>
        <p:spPr>
          <a:xfrm>
            <a:off x="5778500" y="2984500"/>
            <a:ext cx="698500" cy="6985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D578E-7E0B-7549-835C-ADCBBC99A1ED}"/>
              </a:ext>
            </a:extLst>
          </p:cNvPr>
          <p:cNvSpPr txBox="1"/>
          <p:nvPr/>
        </p:nvSpPr>
        <p:spPr>
          <a:xfrm>
            <a:off x="4572000" y="3873500"/>
            <a:ext cx="311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Learns from Patterns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32E820-0293-8448-BE73-15E2DAA49613}"/>
              </a:ext>
            </a:extLst>
          </p:cNvPr>
          <p:cNvSpPr txBox="1"/>
          <p:nvPr/>
        </p:nvSpPr>
        <p:spPr>
          <a:xfrm>
            <a:off x="4572000" y="4318000"/>
            <a:ext cx="3111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 dirty="0">
                <a:solidFill>
                  <a:srgbClr val="94A3B8"/>
                </a:solidFill>
              </a:rPr>
              <a:t>Trained on billions of text samples, it learns grammar, facts, reasoning, and context to generate human-quality responses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44582F1-640C-E147-B6DD-D14D8D72FBF2}"/>
              </a:ext>
            </a:extLst>
          </p:cNvPr>
          <p:cNvSpPr/>
          <p:nvPr/>
        </p:nvSpPr>
        <p:spPr>
          <a:xfrm>
            <a:off x="8128000" y="2667000"/>
            <a:ext cx="3492500" cy="3302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19C4E5-23BD-3F4B-A5E8-AB261FCBD39D}"/>
              </a:ext>
            </a:extLst>
          </p:cNvPr>
          <p:cNvSpPr/>
          <p:nvPr/>
        </p:nvSpPr>
        <p:spPr>
          <a:xfrm>
            <a:off x="8128000" y="2667000"/>
            <a:ext cx="3492500" cy="635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BBC021D-F98B-964F-8A8D-5108B6338AB7}"/>
              </a:ext>
            </a:extLst>
          </p:cNvPr>
          <p:cNvSpPr/>
          <p:nvPr/>
        </p:nvSpPr>
        <p:spPr>
          <a:xfrm>
            <a:off x="9525000" y="2984500"/>
            <a:ext cx="698500" cy="6985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4508D0-9A34-3343-B9E4-5DB1E7233DB0}"/>
              </a:ext>
            </a:extLst>
          </p:cNvPr>
          <p:cNvSpPr txBox="1"/>
          <p:nvPr/>
        </p:nvSpPr>
        <p:spPr>
          <a:xfrm>
            <a:off x="8318500" y="3873500"/>
            <a:ext cx="311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Context-Aware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21F014-4EFB-9A49-80A7-D39DA88946C9}"/>
              </a:ext>
            </a:extLst>
          </p:cNvPr>
          <p:cNvSpPr txBox="1"/>
          <p:nvPr/>
        </p:nvSpPr>
        <p:spPr>
          <a:xfrm>
            <a:off x="8318500" y="4318000"/>
            <a:ext cx="3111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Understands nuance, follows instructions, and adapts its output based on conversation history and user intent</a:t>
            </a:r>
          </a:p>
        </p:txBody>
      </p:sp>
      <p:pic>
        <p:nvPicPr>
          <p:cNvPr id="21" name="Graphic 21" descr="Creates conten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9000" y="3086100"/>
            <a:ext cx="457200" cy="457200"/>
          </a:xfrm>
          <a:prstGeom prst="rect">
            <a:avLst/>
          </a:prstGeom>
        </p:spPr>
      </p:pic>
      <p:pic>
        <p:nvPicPr>
          <p:cNvPr id="22" name="Graphic 22" descr="Learns pattern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500" y="3086100"/>
            <a:ext cx="457200" cy="457200"/>
          </a:xfrm>
          <a:prstGeom prst="rect">
            <a:avLst/>
          </a:prstGeom>
        </p:spPr>
      </p:pic>
      <p:pic>
        <p:nvPicPr>
          <p:cNvPr id="23" name="Graphic 23" descr="Context awar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0" y="30861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20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584C1-7EF4-0B47-8F02-80A8454B2F30}"/>
              </a:ext>
            </a:extLst>
          </p:cNvPr>
          <p:cNvSpPr txBox="1"/>
          <p:nvPr/>
        </p:nvSpPr>
        <p:spPr>
          <a:xfrm>
            <a:off x="635000" y="381000"/>
            <a:ext cx="889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0F4F8"/>
                </a:solidFill>
              </a:rPr>
              <a:t>How Does Generative AI Work?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651F82-6270-744F-9486-5BC02C0D8424}"/>
              </a:ext>
            </a:extLst>
          </p:cNvPr>
          <p:cNvSpPr/>
          <p:nvPr/>
        </p:nvSpPr>
        <p:spPr>
          <a:xfrm>
            <a:off x="609600" y="1460500"/>
            <a:ext cx="2349500" cy="2540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DEA9B4-273B-E74D-892E-8EDDE1802B39}"/>
              </a:ext>
            </a:extLst>
          </p:cNvPr>
          <p:cNvSpPr/>
          <p:nvPr/>
        </p:nvSpPr>
        <p:spPr>
          <a:xfrm>
            <a:off x="609600" y="1460500"/>
            <a:ext cx="2349500" cy="635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C4DACF-D211-814B-B0C9-9CD0101DB4A9}"/>
              </a:ext>
            </a:extLst>
          </p:cNvPr>
          <p:cNvSpPr/>
          <p:nvPr/>
        </p:nvSpPr>
        <p:spPr>
          <a:xfrm>
            <a:off x="1498600" y="1714500"/>
            <a:ext cx="571500" cy="5715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3D0CD-3944-DC42-B684-46D39C19FEC8}"/>
              </a:ext>
            </a:extLst>
          </p:cNvPr>
          <p:cNvSpPr txBox="1"/>
          <p:nvPr/>
        </p:nvSpPr>
        <p:spPr>
          <a:xfrm>
            <a:off x="736600" y="2476500"/>
            <a:ext cx="20955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0F4F8"/>
                </a:solidFill>
              </a:rPr>
              <a:t>Training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81B4A-157A-BF45-8860-971C52D9DF10}"/>
              </a:ext>
            </a:extLst>
          </p:cNvPr>
          <p:cNvSpPr txBox="1"/>
          <p:nvPr/>
        </p:nvSpPr>
        <p:spPr>
          <a:xfrm>
            <a:off x="736600" y="2882900"/>
            <a:ext cx="20955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Billions of text documents, books, code, and web content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16A24A64-00C8-264A-B235-62EBA7033982}"/>
              </a:ext>
            </a:extLst>
          </p:cNvPr>
          <p:cNvSpPr/>
          <p:nvPr/>
        </p:nvSpPr>
        <p:spPr>
          <a:xfrm>
            <a:off x="2984500" y="2603500"/>
            <a:ext cx="228600" cy="2540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6F795D-1513-4A4E-8E36-7575A56554E9}"/>
              </a:ext>
            </a:extLst>
          </p:cNvPr>
          <p:cNvSpPr/>
          <p:nvPr/>
        </p:nvSpPr>
        <p:spPr>
          <a:xfrm>
            <a:off x="3238500" y="1460500"/>
            <a:ext cx="2349500" cy="2540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B706B5-A706-FC42-8B72-88B9B5779929}"/>
              </a:ext>
            </a:extLst>
          </p:cNvPr>
          <p:cNvSpPr/>
          <p:nvPr/>
        </p:nvSpPr>
        <p:spPr>
          <a:xfrm>
            <a:off x="3238500" y="1460500"/>
            <a:ext cx="2349500" cy="635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49DA04-2598-9546-8374-76D04DF90564}"/>
              </a:ext>
            </a:extLst>
          </p:cNvPr>
          <p:cNvSpPr/>
          <p:nvPr/>
        </p:nvSpPr>
        <p:spPr>
          <a:xfrm>
            <a:off x="4127500" y="1714500"/>
            <a:ext cx="571500" cy="5715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B31BE-AC45-2F40-AFD0-DDF1482D0CA4}"/>
              </a:ext>
            </a:extLst>
          </p:cNvPr>
          <p:cNvSpPr txBox="1"/>
          <p:nvPr/>
        </p:nvSpPr>
        <p:spPr>
          <a:xfrm>
            <a:off x="3365500" y="2476500"/>
            <a:ext cx="20955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0F4F8"/>
                </a:solidFill>
              </a:rPr>
              <a:t>Neural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E73ADA-642D-F740-9ACA-D85E845E1A2C}"/>
              </a:ext>
            </a:extLst>
          </p:cNvPr>
          <p:cNvSpPr txBox="1"/>
          <p:nvPr/>
        </p:nvSpPr>
        <p:spPr>
          <a:xfrm>
            <a:off x="3365500" y="2882900"/>
            <a:ext cx="20955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Transformer architecture learns language patterns and relationships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48B2A09-E748-864A-A366-26B1F0B114E5}"/>
              </a:ext>
            </a:extLst>
          </p:cNvPr>
          <p:cNvSpPr/>
          <p:nvPr/>
        </p:nvSpPr>
        <p:spPr>
          <a:xfrm>
            <a:off x="5613400" y="2603500"/>
            <a:ext cx="228600" cy="2540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EA1977-5A5A-A544-9353-1E2F0B20944B}"/>
              </a:ext>
            </a:extLst>
          </p:cNvPr>
          <p:cNvSpPr/>
          <p:nvPr/>
        </p:nvSpPr>
        <p:spPr>
          <a:xfrm>
            <a:off x="5867400" y="1460500"/>
            <a:ext cx="2349500" cy="2540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FA21F3-D6B5-A448-AC23-01505AF8A4CC}"/>
              </a:ext>
            </a:extLst>
          </p:cNvPr>
          <p:cNvSpPr/>
          <p:nvPr/>
        </p:nvSpPr>
        <p:spPr>
          <a:xfrm>
            <a:off x="5867400" y="1460500"/>
            <a:ext cx="2349500" cy="635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17F860-F866-A642-8A10-8FD538AD5030}"/>
              </a:ext>
            </a:extLst>
          </p:cNvPr>
          <p:cNvSpPr/>
          <p:nvPr/>
        </p:nvSpPr>
        <p:spPr>
          <a:xfrm>
            <a:off x="6756400" y="1714500"/>
            <a:ext cx="571500" cy="5715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55C76C-5F0E-A64D-870B-40FE5492CE33}"/>
              </a:ext>
            </a:extLst>
          </p:cNvPr>
          <p:cNvSpPr txBox="1"/>
          <p:nvPr/>
        </p:nvSpPr>
        <p:spPr>
          <a:xfrm>
            <a:off x="5994400" y="2476500"/>
            <a:ext cx="20955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0F4F8"/>
                </a:solidFill>
              </a:rPr>
              <a:t>Fine-Tuning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478701-AE7D-F147-AF89-51288BE8E61B}"/>
              </a:ext>
            </a:extLst>
          </p:cNvPr>
          <p:cNvSpPr txBox="1"/>
          <p:nvPr/>
        </p:nvSpPr>
        <p:spPr>
          <a:xfrm>
            <a:off x="5994400" y="2882900"/>
            <a:ext cx="20955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Model refined with human feedback for safety and helpfulness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0937B279-F6BB-8A4F-B238-2FA8A0FE797F}"/>
              </a:ext>
            </a:extLst>
          </p:cNvPr>
          <p:cNvSpPr/>
          <p:nvPr/>
        </p:nvSpPr>
        <p:spPr>
          <a:xfrm>
            <a:off x="8242300" y="2603500"/>
            <a:ext cx="228600" cy="2540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E616BA2-C279-8549-A226-259D94D9F221}"/>
              </a:ext>
            </a:extLst>
          </p:cNvPr>
          <p:cNvSpPr/>
          <p:nvPr/>
        </p:nvSpPr>
        <p:spPr>
          <a:xfrm>
            <a:off x="8496300" y="1460500"/>
            <a:ext cx="2349500" cy="2540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479A60-AD51-CC4D-AA62-B5B51C9FE582}"/>
              </a:ext>
            </a:extLst>
          </p:cNvPr>
          <p:cNvSpPr/>
          <p:nvPr/>
        </p:nvSpPr>
        <p:spPr>
          <a:xfrm>
            <a:off x="8496300" y="1460500"/>
            <a:ext cx="2349500" cy="635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027A3F-038D-6E4C-9877-0F4FDE49CD0F}"/>
              </a:ext>
            </a:extLst>
          </p:cNvPr>
          <p:cNvSpPr/>
          <p:nvPr/>
        </p:nvSpPr>
        <p:spPr>
          <a:xfrm>
            <a:off x="9385300" y="1714500"/>
            <a:ext cx="571500" cy="5715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34CC8B-08A5-2E4A-BF6D-4B166A76CB1F}"/>
              </a:ext>
            </a:extLst>
          </p:cNvPr>
          <p:cNvSpPr txBox="1"/>
          <p:nvPr/>
        </p:nvSpPr>
        <p:spPr>
          <a:xfrm>
            <a:off x="8623300" y="2476500"/>
            <a:ext cx="20955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0F4F8"/>
                </a:solidFill>
              </a:rPr>
              <a:t>Generation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A0F52C-AB21-254A-9A10-C5B24F811244}"/>
              </a:ext>
            </a:extLst>
          </p:cNvPr>
          <p:cNvSpPr txBox="1"/>
          <p:nvPr/>
        </p:nvSpPr>
        <p:spPr>
          <a:xfrm>
            <a:off x="8623300" y="2882900"/>
            <a:ext cx="20955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Produces new content one token at a time based on context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67C3D95-F725-224D-A0E2-40E8D4517ACF}"/>
              </a:ext>
            </a:extLst>
          </p:cNvPr>
          <p:cNvSpPr/>
          <p:nvPr/>
        </p:nvSpPr>
        <p:spPr>
          <a:xfrm>
            <a:off x="635000" y="4318000"/>
            <a:ext cx="10922000" cy="1778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8B5C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2590C8-109F-CD43-B9AC-D8FB0E149298}"/>
              </a:ext>
            </a:extLst>
          </p:cNvPr>
          <p:cNvSpPr txBox="1"/>
          <p:nvPr/>
        </p:nvSpPr>
        <p:spPr>
          <a:xfrm>
            <a:off x="952500" y="4445000"/>
            <a:ext cx="254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8B5CF6"/>
                </a:solidFill>
              </a:rPr>
              <a:t>Key Insight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2D1CF0-1382-144D-8EA3-6E246C320AC0}"/>
              </a:ext>
            </a:extLst>
          </p:cNvPr>
          <p:cNvSpPr txBox="1"/>
          <p:nvPr/>
        </p:nvSpPr>
        <p:spPr>
          <a:xfrm>
            <a:off x="952500" y="4826000"/>
            <a:ext cx="103505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Large Language Models (LLMs) like GPT-4, Claude, and Gemini use the Transformer architecture — a breakthrough in AI that allows models to process entire sentences in parallel, understand word relationships across long contexts, and generate coherent, contextually relevant responses.</a:t>
            </a:r>
          </a:p>
        </p:txBody>
      </p:sp>
    </p:spTree>
    <p:extLst>
      <p:ext uri="{BB962C8B-B14F-4D97-AF65-F5344CB8AC3E}">
        <p14:creationId xmlns:p14="http://schemas.microsoft.com/office/powerpoint/2010/main" val="3565891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59E39-C885-1643-AA8C-E0BF4B8DC2F7}"/>
              </a:ext>
            </a:extLst>
          </p:cNvPr>
          <p:cNvSpPr txBox="1"/>
          <p:nvPr/>
        </p:nvSpPr>
        <p:spPr>
          <a:xfrm>
            <a:off x="635000" y="381000"/>
            <a:ext cx="889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0F4F8"/>
                </a:solidFill>
              </a:rPr>
              <a:t>Traditional AI vs. Generative AI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F26AC9-8FDB-8640-AAFB-C78BEEA3A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549754"/>
              </p:ext>
            </p:extLst>
          </p:nvPr>
        </p:nvGraphicFramePr>
        <p:xfrm>
          <a:off x="635000" y="1333500"/>
          <a:ext cx="10922000" cy="4826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75094862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166590568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397430593"/>
                    </a:ext>
                  </a:extLst>
                </a:gridCol>
              </a:tblGrid>
              <a:tr h="68942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Traditional AI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Generative AI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226361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Primary Function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Classifies, predicts, optimizes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Creates new content and ideas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12254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Input Type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Structured data (numbers, labels)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Natural language, images, code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749618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Output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Predictions, scores, categories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Text, images, code, audio, video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095068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Training Approach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Supervised learning on labeled data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Self-supervised on massive corpora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546823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Adaptability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Narrow, task-specific models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General-purpose, multi-task capable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70472"/>
                  </a:ext>
                </a:extLst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0F4F8"/>
                          </a:solidFill>
                        </a:rPr>
                        <a:t>Examples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Spam filters, fraud detection, recommendations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CBD5E1"/>
                          </a:solidFill>
                        </a:rPr>
                        <a:t>ChatGPT, Claude, Midjourney, Copilot</a:t>
                      </a:r>
                    </a:p>
                  </a:txBody>
                  <a:tcPr anchor="ctr"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036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72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8A277C-918E-F043-99B9-EC2DB1602413}"/>
              </a:ext>
            </a:extLst>
          </p:cNvPr>
          <p:cNvSpPr txBox="1"/>
          <p:nvPr/>
        </p:nvSpPr>
        <p:spPr>
          <a:xfrm>
            <a:off x="635000" y="381000"/>
            <a:ext cx="889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0F4F8"/>
                </a:solidFill>
              </a:rPr>
              <a:t>The Generative AI Landscape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809A59F-5904-E34B-ADB3-CB02C8A39CF1}"/>
              </a:ext>
            </a:extLst>
          </p:cNvPr>
          <p:cNvSpPr/>
          <p:nvPr/>
        </p:nvSpPr>
        <p:spPr>
          <a:xfrm>
            <a:off x="635000" y="1397000"/>
            <a:ext cx="3492500" cy="2413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3FC5F1-453F-CE4E-A7E9-F9B411D2DB7F}"/>
              </a:ext>
            </a:extLst>
          </p:cNvPr>
          <p:cNvSpPr/>
          <p:nvPr/>
        </p:nvSpPr>
        <p:spPr>
          <a:xfrm>
            <a:off x="635000" y="1397000"/>
            <a:ext cx="63500" cy="2413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187EC-7BC7-314E-B74E-106EB66C31AF}"/>
              </a:ext>
            </a:extLst>
          </p:cNvPr>
          <p:cNvSpPr txBox="1"/>
          <p:nvPr/>
        </p:nvSpPr>
        <p:spPr>
          <a:xfrm>
            <a:off x="889000" y="1587500"/>
            <a:ext cx="3048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OpenAI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A4012D-9598-8043-84A1-E9453E4C237B}"/>
              </a:ext>
            </a:extLst>
          </p:cNvPr>
          <p:cNvSpPr/>
          <p:nvPr/>
        </p:nvSpPr>
        <p:spPr>
          <a:xfrm>
            <a:off x="889000" y="2032000"/>
            <a:ext cx="1524000" cy="355600"/>
          </a:xfrm>
          <a:prstGeom prst="round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</a:rPr>
              <a:t>GPT-5.4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EB4F3-D2A6-5544-9D2F-3005500EA950}"/>
              </a:ext>
            </a:extLst>
          </p:cNvPr>
          <p:cNvSpPr txBox="1"/>
          <p:nvPr/>
        </p:nvSpPr>
        <p:spPr>
          <a:xfrm>
            <a:off x="889000" y="25400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Frontier reasoning and agentic models with 1M-token context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10D253-4315-CE4B-BB58-F79DDACC04E0}"/>
              </a:ext>
            </a:extLst>
          </p:cNvPr>
          <p:cNvSpPr/>
          <p:nvPr/>
        </p:nvSpPr>
        <p:spPr>
          <a:xfrm>
            <a:off x="4381500" y="1397000"/>
            <a:ext cx="3492500" cy="2413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F43F4-9749-354F-BDB0-E5161B6CE9C3}"/>
              </a:ext>
            </a:extLst>
          </p:cNvPr>
          <p:cNvSpPr/>
          <p:nvPr/>
        </p:nvSpPr>
        <p:spPr>
          <a:xfrm>
            <a:off x="4381500" y="1397000"/>
            <a:ext cx="63500" cy="24130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D7B2CB-FC5D-5B42-90CF-5F5FE884D3B1}"/>
              </a:ext>
            </a:extLst>
          </p:cNvPr>
          <p:cNvSpPr txBox="1"/>
          <p:nvPr/>
        </p:nvSpPr>
        <p:spPr>
          <a:xfrm>
            <a:off x="4635500" y="1587500"/>
            <a:ext cx="3048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Anthropic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F401C0-10C2-7949-9FBB-F00020EBDE94}"/>
              </a:ext>
            </a:extLst>
          </p:cNvPr>
          <p:cNvSpPr/>
          <p:nvPr/>
        </p:nvSpPr>
        <p:spPr>
          <a:xfrm>
            <a:off x="4635500" y="2032000"/>
            <a:ext cx="2540000" cy="355600"/>
          </a:xfrm>
          <a:prstGeom prst="round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Claude Sonnet 4.6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B9997-A182-C749-9A69-E0CF01079482}"/>
              </a:ext>
            </a:extLst>
          </p:cNvPr>
          <p:cNvSpPr txBox="1"/>
          <p:nvPr/>
        </p:nvSpPr>
        <p:spPr>
          <a:xfrm>
            <a:off x="4635500" y="25400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Leads coding and agentic workflows with 1M-token context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0C1F0DE-42E1-8B4D-A1CE-593DBB3255F5}"/>
              </a:ext>
            </a:extLst>
          </p:cNvPr>
          <p:cNvSpPr/>
          <p:nvPr/>
        </p:nvSpPr>
        <p:spPr>
          <a:xfrm>
            <a:off x="8128000" y="1397000"/>
            <a:ext cx="3492500" cy="2413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CC62A2-7BA5-1A48-9BA9-E97249F2568F}"/>
              </a:ext>
            </a:extLst>
          </p:cNvPr>
          <p:cNvSpPr/>
          <p:nvPr/>
        </p:nvSpPr>
        <p:spPr>
          <a:xfrm>
            <a:off x="8128000" y="1397000"/>
            <a:ext cx="63500" cy="24130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E75F5B-44C9-544A-B475-D973E553323D}"/>
              </a:ext>
            </a:extLst>
          </p:cNvPr>
          <p:cNvSpPr txBox="1"/>
          <p:nvPr/>
        </p:nvSpPr>
        <p:spPr>
          <a:xfrm>
            <a:off x="8382000" y="1587500"/>
            <a:ext cx="3048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Google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DA063F-BFB7-E94B-ACBC-5F1F29607D0E}"/>
              </a:ext>
            </a:extLst>
          </p:cNvPr>
          <p:cNvSpPr/>
          <p:nvPr/>
        </p:nvSpPr>
        <p:spPr>
          <a:xfrm>
            <a:off x="8382000" y="2032000"/>
            <a:ext cx="1524000" cy="355600"/>
          </a:xfrm>
          <a:prstGeom prst="round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Gemini 3.1 Pro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EE278D-A9A8-7D41-96DC-37F27AB3C03E}"/>
              </a:ext>
            </a:extLst>
          </p:cNvPr>
          <p:cNvSpPr txBox="1"/>
          <p:nvPr/>
        </p:nvSpPr>
        <p:spPr>
          <a:xfrm>
            <a:off x="8382000" y="25400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Top reasoning benchmarks, deep multimodal across Google ecosystem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7BDD55-5A40-EB47-A0CF-AE0B77D75D95}"/>
              </a:ext>
            </a:extLst>
          </p:cNvPr>
          <p:cNvSpPr/>
          <p:nvPr/>
        </p:nvSpPr>
        <p:spPr>
          <a:xfrm>
            <a:off x="635000" y="4064000"/>
            <a:ext cx="3492500" cy="2413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A68385-C387-EE40-9633-00C4BBAD889D}"/>
              </a:ext>
            </a:extLst>
          </p:cNvPr>
          <p:cNvSpPr/>
          <p:nvPr/>
        </p:nvSpPr>
        <p:spPr>
          <a:xfrm>
            <a:off x="635000" y="4064000"/>
            <a:ext cx="63500" cy="2413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1B727F-D92E-CF42-B1BF-23C151026FBE}"/>
              </a:ext>
            </a:extLst>
          </p:cNvPr>
          <p:cNvSpPr txBox="1"/>
          <p:nvPr/>
        </p:nvSpPr>
        <p:spPr>
          <a:xfrm>
            <a:off x="889000" y="4254500"/>
            <a:ext cx="3048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Meta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CD9EE5E-A938-764C-B31C-14BED7B6BE4F}"/>
              </a:ext>
            </a:extLst>
          </p:cNvPr>
          <p:cNvSpPr/>
          <p:nvPr/>
        </p:nvSpPr>
        <p:spPr>
          <a:xfrm>
            <a:off x="889000" y="4699000"/>
            <a:ext cx="1524000" cy="3556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Muse Spark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5F55CA-994F-4247-92B8-A2F80F29519F}"/>
              </a:ext>
            </a:extLst>
          </p:cNvPr>
          <p:cNvSpPr txBox="1"/>
          <p:nvPr/>
        </p:nvSpPr>
        <p:spPr>
          <a:xfrm>
            <a:off x="889000" y="52070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New flagship from Superintelligence Labs, succeeding the Llama line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BF90353-7F46-3846-A7B1-C95A2FDB46FF}"/>
              </a:ext>
            </a:extLst>
          </p:cNvPr>
          <p:cNvSpPr/>
          <p:nvPr/>
        </p:nvSpPr>
        <p:spPr>
          <a:xfrm>
            <a:off x="4381500" y="4064000"/>
            <a:ext cx="3492500" cy="2413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A4447D-693E-5C47-A630-1F64A619365E}"/>
              </a:ext>
            </a:extLst>
          </p:cNvPr>
          <p:cNvSpPr/>
          <p:nvPr/>
        </p:nvSpPr>
        <p:spPr>
          <a:xfrm>
            <a:off x="4381500" y="4064000"/>
            <a:ext cx="63500" cy="2413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904A9E-3402-084F-A96D-E893747F10A7}"/>
              </a:ext>
            </a:extLst>
          </p:cNvPr>
          <p:cNvSpPr txBox="1"/>
          <p:nvPr/>
        </p:nvSpPr>
        <p:spPr>
          <a:xfrm>
            <a:off x="4635500" y="4254500"/>
            <a:ext cx="3048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Microsoft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E7BF9E4-7899-054E-AD7D-CC0FED034F0B}"/>
              </a:ext>
            </a:extLst>
          </p:cNvPr>
          <p:cNvSpPr/>
          <p:nvPr/>
        </p:nvSpPr>
        <p:spPr>
          <a:xfrm>
            <a:off x="4635500" y="4699000"/>
            <a:ext cx="1524000" cy="355600"/>
          </a:xfrm>
          <a:prstGeom prst="round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921BA1-A665-7C4D-B15A-26972A84B671}"/>
              </a:ext>
            </a:extLst>
          </p:cNvPr>
          <p:cNvSpPr txBox="1"/>
          <p:nvPr/>
        </p:nvSpPr>
        <p:spPr>
          <a:xfrm>
            <a:off x="4635500" y="52070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AI embedded across Microsoft 365, Azure, and GitHub workflows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F45AC5B-A474-E44F-8439-11EC8F66C891}"/>
              </a:ext>
            </a:extLst>
          </p:cNvPr>
          <p:cNvSpPr/>
          <p:nvPr/>
        </p:nvSpPr>
        <p:spPr>
          <a:xfrm>
            <a:off x="8128000" y="4064000"/>
            <a:ext cx="3492500" cy="2413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CDEE1D-FB7A-3E41-9A34-CFE550AE4343}"/>
              </a:ext>
            </a:extLst>
          </p:cNvPr>
          <p:cNvSpPr/>
          <p:nvPr/>
        </p:nvSpPr>
        <p:spPr>
          <a:xfrm>
            <a:off x="8128000" y="4064000"/>
            <a:ext cx="63500" cy="24130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812D3A-82F0-BC4B-B2C7-95F43EA5FFAF}"/>
              </a:ext>
            </a:extLst>
          </p:cNvPr>
          <p:cNvSpPr txBox="1"/>
          <p:nvPr/>
        </p:nvSpPr>
        <p:spPr>
          <a:xfrm>
            <a:off x="8382000" y="4254500"/>
            <a:ext cx="3048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Amazon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EC04316-62A9-6747-8178-14A685E61104}"/>
              </a:ext>
            </a:extLst>
          </p:cNvPr>
          <p:cNvSpPr/>
          <p:nvPr/>
        </p:nvSpPr>
        <p:spPr>
          <a:xfrm>
            <a:off x="8382000" y="4699000"/>
            <a:ext cx="1524000" cy="355600"/>
          </a:xfrm>
          <a:prstGeom prst="round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Bedrock, Nova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78E56D-8172-CC4F-9AD7-54A23A77530C}"/>
              </a:ext>
            </a:extLst>
          </p:cNvPr>
          <p:cNvSpPr txBox="1"/>
          <p:nvPr/>
        </p:nvSpPr>
        <p:spPr>
          <a:xfrm>
            <a:off x="8382000" y="52070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Managed AI platform offering Nova models and access to leading foundation models</a:t>
            </a:r>
          </a:p>
        </p:txBody>
      </p:sp>
    </p:spTree>
    <p:extLst>
      <p:ext uri="{BB962C8B-B14F-4D97-AF65-F5344CB8AC3E}">
        <p14:creationId xmlns:p14="http://schemas.microsoft.com/office/powerpoint/2010/main" val="95355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97EE94-E26F-6A45-BE9E-9957DCC64FD9}"/>
              </a:ext>
            </a:extLst>
          </p:cNvPr>
          <p:cNvSpPr/>
          <p:nvPr/>
        </p:nvSpPr>
        <p:spPr>
          <a:xfrm>
            <a:off x="635000" y="381000"/>
            <a:ext cx="1778000" cy="355600"/>
          </a:xfrm>
          <a:prstGeom prst="round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Deep Dive #1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8EEAE-65D7-754D-BCBF-59F78751F41B}"/>
              </a:ext>
            </a:extLst>
          </p:cNvPr>
          <p:cNvSpPr txBox="1"/>
          <p:nvPr/>
        </p:nvSpPr>
        <p:spPr>
          <a:xfrm>
            <a:off x="635000" y="787400"/>
            <a:ext cx="7620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0F4F8"/>
                </a:solidFill>
              </a:rPr>
              <a:t>Text Generation &amp; Writing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27A7566-E37E-F345-A88A-86799A24F7B7}"/>
              </a:ext>
            </a:extLst>
          </p:cNvPr>
          <p:cNvSpPr/>
          <p:nvPr/>
        </p:nvSpPr>
        <p:spPr>
          <a:xfrm>
            <a:off x="635000" y="1524000"/>
            <a:ext cx="5334000" cy="4508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E1FDC-0B81-EF43-A510-B485066B8CE1}"/>
              </a:ext>
            </a:extLst>
          </p:cNvPr>
          <p:cNvSpPr txBox="1"/>
          <p:nvPr/>
        </p:nvSpPr>
        <p:spPr>
          <a:xfrm>
            <a:off x="889000" y="1651000"/>
            <a:ext cx="2286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6366F1"/>
                </a:solidFill>
              </a:rPr>
              <a:t>Use Cases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F86B33E-EE87-F048-B001-9B0063610934}"/>
              </a:ext>
            </a:extLst>
          </p:cNvPr>
          <p:cNvSpPr/>
          <p:nvPr/>
        </p:nvSpPr>
        <p:spPr>
          <a:xfrm>
            <a:off x="889000" y="2197100"/>
            <a:ext cx="127000" cy="127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BC714-AE11-404A-AC7B-F418220D9409}"/>
              </a:ext>
            </a:extLst>
          </p:cNvPr>
          <p:cNvSpPr txBox="1"/>
          <p:nvPr/>
        </p:nvSpPr>
        <p:spPr>
          <a:xfrm>
            <a:off x="1168400" y="2095500"/>
            <a:ext cx="444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0F4F8"/>
                </a:solidFill>
              </a:rPr>
              <a:t>Email Drafting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9FA2A-F89B-114E-8A66-8CDB3249E6DA}"/>
              </a:ext>
            </a:extLst>
          </p:cNvPr>
          <p:cNvSpPr txBox="1"/>
          <p:nvPr/>
        </p:nvSpPr>
        <p:spPr>
          <a:xfrm>
            <a:off x="1168400" y="2362200"/>
            <a:ext cx="457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Compose professional emails from brief prompts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739EAA-5AB8-B445-A527-D48D7A99FD28}"/>
              </a:ext>
            </a:extLst>
          </p:cNvPr>
          <p:cNvSpPr/>
          <p:nvPr/>
        </p:nvSpPr>
        <p:spPr>
          <a:xfrm>
            <a:off x="889000" y="2933700"/>
            <a:ext cx="127000" cy="127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F50A7-864E-5B43-8467-357164EFF9A5}"/>
              </a:ext>
            </a:extLst>
          </p:cNvPr>
          <p:cNvSpPr txBox="1"/>
          <p:nvPr/>
        </p:nvSpPr>
        <p:spPr>
          <a:xfrm>
            <a:off x="1168400" y="2832100"/>
            <a:ext cx="444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0F4F8"/>
                </a:solidFill>
              </a:rPr>
              <a:t>Report Writing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88C581-1025-884D-B25B-A85944AD12C3}"/>
              </a:ext>
            </a:extLst>
          </p:cNvPr>
          <p:cNvSpPr txBox="1"/>
          <p:nvPr/>
        </p:nvSpPr>
        <p:spPr>
          <a:xfrm>
            <a:off x="1168400" y="3098800"/>
            <a:ext cx="457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Generate detailed reports from raw data and notes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18DFE9-7388-6245-922E-50D52C5AF78B}"/>
              </a:ext>
            </a:extLst>
          </p:cNvPr>
          <p:cNvSpPr/>
          <p:nvPr/>
        </p:nvSpPr>
        <p:spPr>
          <a:xfrm>
            <a:off x="889000" y="3670300"/>
            <a:ext cx="127000" cy="127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E6A6F9-2854-9748-83A0-887DBA210251}"/>
              </a:ext>
            </a:extLst>
          </p:cNvPr>
          <p:cNvSpPr txBox="1"/>
          <p:nvPr/>
        </p:nvSpPr>
        <p:spPr>
          <a:xfrm>
            <a:off x="1168400" y="3568700"/>
            <a:ext cx="444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0F4F8"/>
                </a:solidFill>
              </a:rPr>
              <a:t>Marketing Copy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99E545-C705-2641-94B8-262C7DCC6EF2}"/>
              </a:ext>
            </a:extLst>
          </p:cNvPr>
          <p:cNvSpPr txBox="1"/>
          <p:nvPr/>
        </p:nvSpPr>
        <p:spPr>
          <a:xfrm>
            <a:off x="1168400" y="3835400"/>
            <a:ext cx="457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Create ad copy, landing pages, and social posts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078026-049A-7B43-B893-75F09D012AFA}"/>
              </a:ext>
            </a:extLst>
          </p:cNvPr>
          <p:cNvSpPr/>
          <p:nvPr/>
        </p:nvSpPr>
        <p:spPr>
          <a:xfrm>
            <a:off x="889000" y="4406900"/>
            <a:ext cx="127000" cy="127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BDF214-7FE4-4B48-BFC7-417ED6319730}"/>
              </a:ext>
            </a:extLst>
          </p:cNvPr>
          <p:cNvSpPr txBox="1"/>
          <p:nvPr/>
        </p:nvSpPr>
        <p:spPr>
          <a:xfrm>
            <a:off x="1168400" y="4305300"/>
            <a:ext cx="444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0F4F8"/>
                </a:solidFill>
              </a:rPr>
              <a:t>Technical Docs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79762C-7823-684C-8A83-D78D129C6763}"/>
              </a:ext>
            </a:extLst>
          </p:cNvPr>
          <p:cNvSpPr txBox="1"/>
          <p:nvPr/>
        </p:nvSpPr>
        <p:spPr>
          <a:xfrm>
            <a:off x="1168400" y="4572000"/>
            <a:ext cx="457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Produce user guides, API docs, and FAQs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9A912B-5EB0-2D4C-B519-A5232EEE868C}"/>
              </a:ext>
            </a:extLst>
          </p:cNvPr>
          <p:cNvSpPr/>
          <p:nvPr/>
        </p:nvSpPr>
        <p:spPr>
          <a:xfrm>
            <a:off x="889000" y="5143500"/>
            <a:ext cx="127000" cy="127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DC74F6-30B5-6B4E-A984-67149BF545A8}"/>
              </a:ext>
            </a:extLst>
          </p:cNvPr>
          <p:cNvSpPr txBox="1"/>
          <p:nvPr/>
        </p:nvSpPr>
        <p:spPr>
          <a:xfrm>
            <a:off x="1168400" y="5041900"/>
            <a:ext cx="4445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0F4F8"/>
                </a:solidFill>
              </a:rPr>
              <a:t>Translation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84C593-4387-1B46-A41F-26E0717E1A06}"/>
              </a:ext>
            </a:extLst>
          </p:cNvPr>
          <p:cNvSpPr txBox="1"/>
          <p:nvPr/>
        </p:nvSpPr>
        <p:spPr>
          <a:xfrm>
            <a:off x="1168400" y="5308600"/>
            <a:ext cx="457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Accurate multilingual content translation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F161A35-A646-2C41-88C2-755BC3341A62}"/>
              </a:ext>
            </a:extLst>
          </p:cNvPr>
          <p:cNvSpPr/>
          <p:nvPr/>
        </p:nvSpPr>
        <p:spPr>
          <a:xfrm>
            <a:off x="6223000" y="1524000"/>
            <a:ext cx="5334000" cy="2159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BEA7BA-594A-3A40-822E-E0FC78BFB653}"/>
              </a:ext>
            </a:extLst>
          </p:cNvPr>
          <p:cNvSpPr txBox="1"/>
          <p:nvPr/>
        </p:nvSpPr>
        <p:spPr>
          <a:xfrm>
            <a:off x="6477000" y="1651000"/>
            <a:ext cx="2286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8B5CF6"/>
                </a:solidFill>
              </a:rPr>
              <a:t>Impact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3411FD-F2C9-B147-8DED-A6A65BE109A7}"/>
              </a:ext>
            </a:extLst>
          </p:cNvPr>
          <p:cNvSpPr txBox="1"/>
          <p:nvPr/>
        </p:nvSpPr>
        <p:spPr>
          <a:xfrm>
            <a:off x="6477000" y="2133600"/>
            <a:ext cx="152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6366F1"/>
                </a:solidFill>
              </a:rPr>
              <a:t>70%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346D5C-2FF5-EA48-B569-2FABEB5A2368}"/>
              </a:ext>
            </a:extLst>
          </p:cNvPr>
          <p:cNvSpPr txBox="1"/>
          <p:nvPr/>
        </p:nvSpPr>
        <p:spPr>
          <a:xfrm>
            <a:off x="6477000" y="2667000"/>
            <a:ext cx="152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Faster first drafts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3E2265-FDF3-8F4B-ACDE-8E06F28B6862}"/>
              </a:ext>
            </a:extLst>
          </p:cNvPr>
          <p:cNvSpPr txBox="1"/>
          <p:nvPr/>
        </p:nvSpPr>
        <p:spPr>
          <a:xfrm>
            <a:off x="8128000" y="2133600"/>
            <a:ext cx="152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6366F1"/>
                </a:solidFill>
              </a:rPr>
              <a:t>3x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C22A42-A324-8E46-9F8C-1BA71EB2A838}"/>
              </a:ext>
            </a:extLst>
          </p:cNvPr>
          <p:cNvSpPr txBox="1"/>
          <p:nvPr/>
        </p:nvSpPr>
        <p:spPr>
          <a:xfrm>
            <a:off x="8128000" y="2667000"/>
            <a:ext cx="152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More content output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A1BB92-2DA3-664C-8DE3-E4714E3FD73B}"/>
              </a:ext>
            </a:extLst>
          </p:cNvPr>
          <p:cNvSpPr txBox="1"/>
          <p:nvPr/>
        </p:nvSpPr>
        <p:spPr>
          <a:xfrm>
            <a:off x="9779000" y="2133600"/>
            <a:ext cx="152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6366F1"/>
                </a:solidFill>
              </a:rPr>
              <a:t>40%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64AEB1-78E9-104A-962C-8D26FAF344D2}"/>
              </a:ext>
            </a:extLst>
          </p:cNvPr>
          <p:cNvSpPr txBox="1"/>
          <p:nvPr/>
        </p:nvSpPr>
        <p:spPr>
          <a:xfrm>
            <a:off x="9779000" y="2667000"/>
            <a:ext cx="152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Reduced editing time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3C2016E-1CFF-FC4A-8DD8-4F4C8381E529}"/>
              </a:ext>
            </a:extLst>
          </p:cNvPr>
          <p:cNvSpPr/>
          <p:nvPr/>
        </p:nvSpPr>
        <p:spPr>
          <a:xfrm>
            <a:off x="6223000" y="3873500"/>
            <a:ext cx="5334000" cy="2159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06B6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32150A-4EA7-C847-B4A6-FDD517094D8C}"/>
              </a:ext>
            </a:extLst>
          </p:cNvPr>
          <p:cNvSpPr txBox="1"/>
          <p:nvPr/>
        </p:nvSpPr>
        <p:spPr>
          <a:xfrm>
            <a:off x="6477000" y="4000500"/>
            <a:ext cx="2286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6B6D4"/>
                </a:solidFill>
              </a:rPr>
              <a:t>Best Practices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C581983-ECD0-1C4A-A941-2992F0C6B107}"/>
              </a:ext>
            </a:extLst>
          </p:cNvPr>
          <p:cNvSpPr/>
          <p:nvPr/>
        </p:nvSpPr>
        <p:spPr>
          <a:xfrm>
            <a:off x="6477000" y="4508500"/>
            <a:ext cx="101600" cy="1016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F21AB3-043C-7247-915D-FE954F5353DC}"/>
              </a:ext>
            </a:extLst>
          </p:cNvPr>
          <p:cNvSpPr txBox="1"/>
          <p:nvPr/>
        </p:nvSpPr>
        <p:spPr>
          <a:xfrm>
            <a:off x="6705600" y="4445000"/>
            <a:ext cx="4699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Provide clear, specific prompts with context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04FA68B-AA7D-C749-8E09-E494603D6C4E}"/>
              </a:ext>
            </a:extLst>
          </p:cNvPr>
          <p:cNvSpPr/>
          <p:nvPr/>
        </p:nvSpPr>
        <p:spPr>
          <a:xfrm>
            <a:off x="6477000" y="4864100"/>
            <a:ext cx="101600" cy="1016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7B26D0-2D46-B84B-9D37-C4354F2FFA0C}"/>
              </a:ext>
            </a:extLst>
          </p:cNvPr>
          <p:cNvSpPr txBox="1"/>
          <p:nvPr/>
        </p:nvSpPr>
        <p:spPr>
          <a:xfrm>
            <a:off x="6705600" y="4800600"/>
            <a:ext cx="4699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Always review and fact-check AI output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4C7FEF1-808D-EA42-A6C3-A87203AF4F5B}"/>
              </a:ext>
            </a:extLst>
          </p:cNvPr>
          <p:cNvSpPr/>
          <p:nvPr/>
        </p:nvSpPr>
        <p:spPr>
          <a:xfrm>
            <a:off x="6477000" y="5219700"/>
            <a:ext cx="101600" cy="1016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CC3023-5162-314A-95B9-A724E18C6354}"/>
              </a:ext>
            </a:extLst>
          </p:cNvPr>
          <p:cNvSpPr txBox="1"/>
          <p:nvPr/>
        </p:nvSpPr>
        <p:spPr>
          <a:xfrm>
            <a:off x="6705600" y="5156200"/>
            <a:ext cx="4699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Use AI as a co-writer, not a replacement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7D2E337-D461-8441-8155-69FE9A2ADAEC}"/>
              </a:ext>
            </a:extLst>
          </p:cNvPr>
          <p:cNvSpPr/>
          <p:nvPr/>
        </p:nvSpPr>
        <p:spPr>
          <a:xfrm>
            <a:off x="6477000" y="5575300"/>
            <a:ext cx="101600" cy="1016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5110AF-8225-0A43-8C98-B5AE18224B49}"/>
              </a:ext>
            </a:extLst>
          </p:cNvPr>
          <p:cNvSpPr txBox="1"/>
          <p:nvPr/>
        </p:nvSpPr>
        <p:spPr>
          <a:xfrm>
            <a:off x="6705600" y="5511800"/>
            <a:ext cx="4699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Iterate prompts to refine results</a:t>
            </a:r>
          </a:p>
        </p:txBody>
      </p:sp>
    </p:spTree>
    <p:extLst>
      <p:ext uri="{BB962C8B-B14F-4D97-AF65-F5344CB8AC3E}">
        <p14:creationId xmlns:p14="http://schemas.microsoft.com/office/powerpoint/2010/main" val="25996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A859EC-4008-394D-9DD9-D3BC7EF4E869}"/>
              </a:ext>
            </a:extLst>
          </p:cNvPr>
          <p:cNvSpPr/>
          <p:nvPr/>
        </p:nvSpPr>
        <p:spPr>
          <a:xfrm>
            <a:off x="635000" y="381000"/>
            <a:ext cx="1778000" cy="355600"/>
          </a:xfrm>
          <a:prstGeom prst="round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Deep Dive #2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40E4F-C211-E548-BB9A-A6FE298CE358}"/>
              </a:ext>
            </a:extLst>
          </p:cNvPr>
          <p:cNvSpPr txBox="1"/>
          <p:nvPr/>
        </p:nvSpPr>
        <p:spPr>
          <a:xfrm>
            <a:off x="635000" y="787400"/>
            <a:ext cx="7620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0F4F8"/>
                </a:solidFill>
              </a:rPr>
              <a:t>Summarization &amp; Analysis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8754F9-B676-924B-8BB4-1A1D01C14DFF}"/>
              </a:ext>
            </a:extLst>
          </p:cNvPr>
          <p:cNvSpPr/>
          <p:nvPr/>
        </p:nvSpPr>
        <p:spPr>
          <a:xfrm>
            <a:off x="635000" y="1524000"/>
            <a:ext cx="3810000" cy="2667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589415-AE2B-A74C-82EC-32DF55F3B023}"/>
              </a:ext>
            </a:extLst>
          </p:cNvPr>
          <p:cNvSpPr/>
          <p:nvPr/>
        </p:nvSpPr>
        <p:spPr>
          <a:xfrm>
            <a:off x="762000" y="1651000"/>
            <a:ext cx="1016000" cy="304800"/>
          </a:xfrm>
          <a:prstGeom prst="round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E0A463-BCE8-6145-9F75-2B04A67E9E67}"/>
              </a:ext>
            </a:extLst>
          </p:cNvPr>
          <p:cNvSpPr txBox="1"/>
          <p:nvPr/>
        </p:nvSpPr>
        <p:spPr>
          <a:xfrm>
            <a:off x="762000" y="2082800"/>
            <a:ext cx="34925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50-page quarterly report
15 meeting transcripts
200+ support tickets
8 competitor analyses
Manual review: 2-3 days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FC1EAD54-97ED-AF47-908C-8C25F1836C3E}"/>
              </a:ext>
            </a:extLst>
          </p:cNvPr>
          <p:cNvSpPr/>
          <p:nvPr/>
        </p:nvSpPr>
        <p:spPr>
          <a:xfrm>
            <a:off x="4622800" y="2667000"/>
            <a:ext cx="355600" cy="304800"/>
          </a:xfrm>
          <a:prstGeom prst="rightArrow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C7A18E-9E34-6148-A8A2-17C8B1038B38}"/>
              </a:ext>
            </a:extLst>
          </p:cNvPr>
          <p:cNvSpPr/>
          <p:nvPr/>
        </p:nvSpPr>
        <p:spPr>
          <a:xfrm>
            <a:off x="5143500" y="1524000"/>
            <a:ext cx="3810000" cy="2667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48F16A-6524-E44D-B1C2-3B5192220176}"/>
              </a:ext>
            </a:extLst>
          </p:cNvPr>
          <p:cNvSpPr/>
          <p:nvPr/>
        </p:nvSpPr>
        <p:spPr>
          <a:xfrm>
            <a:off x="5270500" y="1651000"/>
            <a:ext cx="1016000" cy="304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D00A3-E478-2E42-9D21-015DD286B5B4}"/>
              </a:ext>
            </a:extLst>
          </p:cNvPr>
          <p:cNvSpPr txBox="1"/>
          <p:nvPr/>
        </p:nvSpPr>
        <p:spPr>
          <a:xfrm>
            <a:off x="5270500" y="2082800"/>
            <a:ext cx="34925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Executive summary in 30 seconds
Key action items extracted
Trend analysis across all tickets
Competitive insights highlighted
AI-powered: under 5 minutes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446C6EE-7607-D344-8F25-44502FB0BAAB}"/>
              </a:ext>
            </a:extLst>
          </p:cNvPr>
          <p:cNvSpPr/>
          <p:nvPr/>
        </p:nvSpPr>
        <p:spPr>
          <a:xfrm>
            <a:off x="9144000" y="1524000"/>
            <a:ext cx="2921000" cy="2667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8B5C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A29914-ED39-EF4F-9FFC-8FA2843312E4}"/>
              </a:ext>
            </a:extLst>
          </p:cNvPr>
          <p:cNvSpPr txBox="1"/>
          <p:nvPr/>
        </p:nvSpPr>
        <p:spPr>
          <a:xfrm>
            <a:off x="9334500" y="1651000"/>
            <a:ext cx="254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8B5CF6"/>
                </a:solidFill>
              </a:rPr>
              <a:t>Capabilities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89F3914-DB17-8D41-92A4-A4635E632616}"/>
              </a:ext>
            </a:extLst>
          </p:cNvPr>
          <p:cNvSpPr/>
          <p:nvPr/>
        </p:nvSpPr>
        <p:spPr>
          <a:xfrm>
            <a:off x="9334500" y="2120900"/>
            <a:ext cx="88900" cy="889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232D4D-9724-E04B-902A-5F4F827C539A}"/>
              </a:ext>
            </a:extLst>
          </p:cNvPr>
          <p:cNvSpPr txBox="1"/>
          <p:nvPr/>
        </p:nvSpPr>
        <p:spPr>
          <a:xfrm>
            <a:off x="9525000" y="2057400"/>
            <a:ext cx="241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Extractive summaries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9151FE-433D-224B-BAE4-39C6F4EDADB3}"/>
              </a:ext>
            </a:extLst>
          </p:cNvPr>
          <p:cNvSpPr/>
          <p:nvPr/>
        </p:nvSpPr>
        <p:spPr>
          <a:xfrm>
            <a:off x="9334500" y="2438400"/>
            <a:ext cx="88900" cy="889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0F6293-318F-D047-8811-4C049130FE66}"/>
              </a:ext>
            </a:extLst>
          </p:cNvPr>
          <p:cNvSpPr txBox="1"/>
          <p:nvPr/>
        </p:nvSpPr>
        <p:spPr>
          <a:xfrm>
            <a:off x="9525000" y="2374900"/>
            <a:ext cx="241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Abstractive summaries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5725A2D-9A5B-9342-BCE7-EC9EC2E055EE}"/>
              </a:ext>
            </a:extLst>
          </p:cNvPr>
          <p:cNvSpPr/>
          <p:nvPr/>
        </p:nvSpPr>
        <p:spPr>
          <a:xfrm>
            <a:off x="9334500" y="2755900"/>
            <a:ext cx="88900" cy="889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5B24C9-929B-A946-8069-2308F7F59C1D}"/>
              </a:ext>
            </a:extLst>
          </p:cNvPr>
          <p:cNvSpPr txBox="1"/>
          <p:nvPr/>
        </p:nvSpPr>
        <p:spPr>
          <a:xfrm>
            <a:off x="9525000" y="2692400"/>
            <a:ext cx="241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Sentiment analysis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EDA695-3141-8A45-870B-186684FFA35B}"/>
              </a:ext>
            </a:extLst>
          </p:cNvPr>
          <p:cNvSpPr/>
          <p:nvPr/>
        </p:nvSpPr>
        <p:spPr>
          <a:xfrm>
            <a:off x="9334500" y="3073400"/>
            <a:ext cx="88900" cy="889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B687C7-7A48-2D46-BD1F-3D34C83CE904}"/>
              </a:ext>
            </a:extLst>
          </p:cNvPr>
          <p:cNvSpPr txBox="1"/>
          <p:nvPr/>
        </p:nvSpPr>
        <p:spPr>
          <a:xfrm>
            <a:off x="9525000" y="3009900"/>
            <a:ext cx="241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Key theme extraction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B40997-1186-B941-B699-8A05FB6D9151}"/>
              </a:ext>
            </a:extLst>
          </p:cNvPr>
          <p:cNvSpPr/>
          <p:nvPr/>
        </p:nvSpPr>
        <p:spPr>
          <a:xfrm>
            <a:off x="9334500" y="3390900"/>
            <a:ext cx="88900" cy="889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8EB694-C5D2-014B-A2A6-BB1AA8673638}"/>
              </a:ext>
            </a:extLst>
          </p:cNvPr>
          <p:cNvSpPr txBox="1"/>
          <p:nvPr/>
        </p:nvSpPr>
        <p:spPr>
          <a:xfrm>
            <a:off x="9525000" y="3327400"/>
            <a:ext cx="241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Action item detection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8F2B2E9-D9C5-3F40-861F-23886B741BC8}"/>
              </a:ext>
            </a:extLst>
          </p:cNvPr>
          <p:cNvSpPr/>
          <p:nvPr/>
        </p:nvSpPr>
        <p:spPr>
          <a:xfrm>
            <a:off x="9334500" y="3708400"/>
            <a:ext cx="88900" cy="889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543BE-DE26-DA48-BC67-B02FE99CE2E6}"/>
              </a:ext>
            </a:extLst>
          </p:cNvPr>
          <p:cNvSpPr txBox="1"/>
          <p:nvPr/>
        </p:nvSpPr>
        <p:spPr>
          <a:xfrm>
            <a:off x="9525000" y="3644900"/>
            <a:ext cx="2413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Multi-doc synthesis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46B6F19-D817-0B4F-96D2-FF4C6303361A}"/>
              </a:ext>
            </a:extLst>
          </p:cNvPr>
          <p:cNvSpPr/>
          <p:nvPr/>
        </p:nvSpPr>
        <p:spPr>
          <a:xfrm>
            <a:off x="635000" y="4445000"/>
            <a:ext cx="10922000" cy="1524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00DD21-8243-8741-853D-B4873A8BD217}"/>
              </a:ext>
            </a:extLst>
          </p:cNvPr>
          <p:cNvSpPr txBox="1"/>
          <p:nvPr/>
        </p:nvSpPr>
        <p:spPr>
          <a:xfrm>
            <a:off x="952500" y="4572000"/>
            <a:ext cx="2413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6366F1"/>
                </a:solidFill>
              </a:rPr>
              <a:t>85%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0904C5-87E5-784E-85D8-AA22E660ED86}"/>
              </a:ext>
            </a:extLst>
          </p:cNvPr>
          <p:cNvSpPr txBox="1"/>
          <p:nvPr/>
        </p:nvSpPr>
        <p:spPr>
          <a:xfrm>
            <a:off x="952500" y="5080000"/>
            <a:ext cx="2413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Time saved on document review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D91319-5D59-E645-A2C5-D1AB138E4593}"/>
              </a:ext>
            </a:extLst>
          </p:cNvPr>
          <p:cNvSpPr txBox="1"/>
          <p:nvPr/>
        </p:nvSpPr>
        <p:spPr>
          <a:xfrm>
            <a:off x="3683000" y="4572000"/>
            <a:ext cx="2413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8B5CF6"/>
                </a:solidFill>
              </a:rPr>
              <a:t>95%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D5AD65-B1BA-354B-A4EF-1ADD260F855E}"/>
              </a:ext>
            </a:extLst>
          </p:cNvPr>
          <p:cNvSpPr txBox="1"/>
          <p:nvPr/>
        </p:nvSpPr>
        <p:spPr>
          <a:xfrm>
            <a:off x="3683000" y="5080000"/>
            <a:ext cx="2413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Key point accuracy rate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1DC7F3-B725-E54D-824A-B7E40444EF01}"/>
              </a:ext>
            </a:extLst>
          </p:cNvPr>
          <p:cNvSpPr txBox="1"/>
          <p:nvPr/>
        </p:nvSpPr>
        <p:spPr>
          <a:xfrm>
            <a:off x="6413500" y="4572000"/>
            <a:ext cx="2413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6B6D4"/>
                </a:solidFill>
              </a:rPr>
              <a:t>10x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6FEF12-B06F-E84D-91B7-9AFB87F3B296}"/>
              </a:ext>
            </a:extLst>
          </p:cNvPr>
          <p:cNvSpPr txBox="1"/>
          <p:nvPr/>
        </p:nvSpPr>
        <p:spPr>
          <a:xfrm>
            <a:off x="6413500" y="5080000"/>
            <a:ext cx="2413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More documents processed daily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B9D86C-85B2-B443-BEF5-2C004AB0EBE3}"/>
              </a:ext>
            </a:extLst>
          </p:cNvPr>
          <p:cNvSpPr txBox="1"/>
          <p:nvPr/>
        </p:nvSpPr>
        <p:spPr>
          <a:xfrm>
            <a:off x="9144000" y="4572000"/>
            <a:ext cx="2413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0B981"/>
                </a:solidFill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729431-8CA2-9241-A7E9-65FF5F47DC37}"/>
              </a:ext>
            </a:extLst>
          </p:cNvPr>
          <p:cNvSpPr txBox="1"/>
          <p:nvPr/>
        </p:nvSpPr>
        <p:spPr>
          <a:xfrm>
            <a:off x="9144000" y="5080000"/>
            <a:ext cx="2413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Reduction in missed insights</a:t>
            </a:r>
          </a:p>
        </p:txBody>
      </p:sp>
    </p:spTree>
    <p:extLst>
      <p:ext uri="{BB962C8B-B14F-4D97-AF65-F5344CB8AC3E}">
        <p14:creationId xmlns:p14="http://schemas.microsoft.com/office/powerpoint/2010/main" val="910618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2756EFB-7F75-8E45-BCFE-AED0F66E8DE5}"/>
              </a:ext>
            </a:extLst>
          </p:cNvPr>
          <p:cNvSpPr/>
          <p:nvPr/>
        </p:nvSpPr>
        <p:spPr>
          <a:xfrm>
            <a:off x="635000" y="381000"/>
            <a:ext cx="1778000" cy="355600"/>
          </a:xfrm>
          <a:prstGeom prst="round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Deep Dive #3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15B1D-65A8-AC4C-99FB-B7351DD62575}"/>
              </a:ext>
            </a:extLst>
          </p:cNvPr>
          <p:cNvSpPr txBox="1"/>
          <p:nvPr/>
        </p:nvSpPr>
        <p:spPr>
          <a:xfrm>
            <a:off x="635000" y="787400"/>
            <a:ext cx="7620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0F4F8"/>
                </a:solidFill>
              </a:rPr>
              <a:t>Chatbots &amp; Virtual Assistants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022A86-E1A2-0F44-BB7C-BD4CE11C66FC}"/>
              </a:ext>
            </a:extLst>
          </p:cNvPr>
          <p:cNvSpPr/>
          <p:nvPr/>
        </p:nvSpPr>
        <p:spPr>
          <a:xfrm>
            <a:off x="635000" y="1524000"/>
            <a:ext cx="3429000" cy="1968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83000-DE54-AF44-BE64-29237A1F8D1B}"/>
              </a:ext>
            </a:extLst>
          </p:cNvPr>
          <p:cNvSpPr/>
          <p:nvPr/>
        </p:nvSpPr>
        <p:spPr>
          <a:xfrm>
            <a:off x="635000" y="1524000"/>
            <a:ext cx="3429000" cy="63500"/>
          </a:xfrm>
          <a:prstGeom prst="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D7D0261-DE3A-C143-BF00-C209352496FF}"/>
              </a:ext>
            </a:extLst>
          </p:cNvPr>
          <p:cNvSpPr/>
          <p:nvPr/>
        </p:nvSpPr>
        <p:spPr>
          <a:xfrm>
            <a:off x="825500" y="1714500"/>
            <a:ext cx="825500" cy="279400"/>
          </a:xfrm>
          <a:prstGeom prst="round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2010s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83A59-2D83-7B4A-BFE1-439737E02D74}"/>
              </a:ext>
            </a:extLst>
          </p:cNvPr>
          <p:cNvSpPr txBox="1"/>
          <p:nvPr/>
        </p:nvSpPr>
        <p:spPr>
          <a:xfrm>
            <a:off x="825500" y="20955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Rule-Based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61158-A273-7C48-B1E2-D2744B7296AC}"/>
              </a:ext>
            </a:extLst>
          </p:cNvPr>
          <p:cNvSpPr txBox="1"/>
          <p:nvPr/>
        </p:nvSpPr>
        <p:spPr>
          <a:xfrm>
            <a:off x="825500" y="24765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Keyword matching, decision trees, scripted flows. Limited to predefined scenarios.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DAFEDFE-D42E-9E48-A58C-9CAD3708E663}"/>
              </a:ext>
            </a:extLst>
          </p:cNvPr>
          <p:cNvSpPr/>
          <p:nvPr/>
        </p:nvSpPr>
        <p:spPr>
          <a:xfrm>
            <a:off x="4089400" y="2349500"/>
            <a:ext cx="203200" cy="2286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E8AF4C-CEA2-4149-ACB5-C8A84254E87B}"/>
              </a:ext>
            </a:extLst>
          </p:cNvPr>
          <p:cNvSpPr/>
          <p:nvPr/>
        </p:nvSpPr>
        <p:spPr>
          <a:xfrm>
            <a:off x="4318000" y="1524000"/>
            <a:ext cx="3429000" cy="1968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42515F-0649-D845-BBB9-611F0E421067}"/>
              </a:ext>
            </a:extLst>
          </p:cNvPr>
          <p:cNvSpPr/>
          <p:nvPr/>
        </p:nvSpPr>
        <p:spPr>
          <a:xfrm>
            <a:off x="4318000" y="1524000"/>
            <a:ext cx="3429000" cy="635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A3335C3-FA47-3A46-B2F8-111D6D877959}"/>
              </a:ext>
            </a:extLst>
          </p:cNvPr>
          <p:cNvSpPr/>
          <p:nvPr/>
        </p:nvSpPr>
        <p:spPr>
          <a:xfrm>
            <a:off x="4508500" y="1714500"/>
            <a:ext cx="825500" cy="279400"/>
          </a:xfrm>
          <a:prstGeom prst="round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2018+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A768F-A7CF-1841-A445-EBB2965F7938}"/>
              </a:ext>
            </a:extLst>
          </p:cNvPr>
          <p:cNvSpPr txBox="1"/>
          <p:nvPr/>
        </p:nvSpPr>
        <p:spPr>
          <a:xfrm>
            <a:off x="4508500" y="20955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NLU-Powered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027C65-799F-794D-B71D-F4B2BAD11713}"/>
              </a:ext>
            </a:extLst>
          </p:cNvPr>
          <p:cNvSpPr txBox="1"/>
          <p:nvPr/>
        </p:nvSpPr>
        <p:spPr>
          <a:xfrm>
            <a:off x="4508500" y="24765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Intent recognition, entity extraction, context slots. Better understanding, still rigid.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F08EAF1-119A-7042-A7A1-AEB16AAF3B2B}"/>
              </a:ext>
            </a:extLst>
          </p:cNvPr>
          <p:cNvSpPr/>
          <p:nvPr/>
        </p:nvSpPr>
        <p:spPr>
          <a:xfrm>
            <a:off x="7772400" y="2349500"/>
            <a:ext cx="203200" cy="2286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7C6EF5B-D21C-6C4D-9719-BC2B3D9F15F3}"/>
              </a:ext>
            </a:extLst>
          </p:cNvPr>
          <p:cNvSpPr/>
          <p:nvPr/>
        </p:nvSpPr>
        <p:spPr>
          <a:xfrm>
            <a:off x="8001000" y="1524000"/>
            <a:ext cx="3429000" cy="1968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6F0F1-D214-1A48-AAA7-2AB5D8C4B475}"/>
              </a:ext>
            </a:extLst>
          </p:cNvPr>
          <p:cNvSpPr/>
          <p:nvPr/>
        </p:nvSpPr>
        <p:spPr>
          <a:xfrm>
            <a:off x="8001000" y="1524000"/>
            <a:ext cx="3429000" cy="635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C06FD37-4477-054B-9023-D281B01E8B2A}"/>
              </a:ext>
            </a:extLst>
          </p:cNvPr>
          <p:cNvSpPr/>
          <p:nvPr/>
        </p:nvSpPr>
        <p:spPr>
          <a:xfrm>
            <a:off x="8191500" y="1714500"/>
            <a:ext cx="825500" cy="279400"/>
          </a:xfrm>
          <a:prstGeom prst="round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2023+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B3FE8-0775-FA4A-9703-9C5A19D780D3}"/>
              </a:ext>
            </a:extLst>
          </p:cNvPr>
          <p:cNvSpPr txBox="1"/>
          <p:nvPr/>
        </p:nvSpPr>
        <p:spPr>
          <a:xfrm>
            <a:off x="8191500" y="20955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GenAI-Powered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BF938F-7960-FA47-8F32-23F7A1828F36}"/>
              </a:ext>
            </a:extLst>
          </p:cNvPr>
          <p:cNvSpPr txBox="1"/>
          <p:nvPr/>
        </p:nvSpPr>
        <p:spPr>
          <a:xfrm>
            <a:off x="8191500" y="24765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Natural conversation, reasoning, creative problem-solving. Handles ambiguity gracefully.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4432F3-2B63-0D40-AA87-BA575C341B1C}"/>
              </a:ext>
            </a:extLst>
          </p:cNvPr>
          <p:cNvSpPr txBox="1"/>
          <p:nvPr/>
        </p:nvSpPr>
        <p:spPr>
          <a:xfrm>
            <a:off x="635000" y="3746500"/>
            <a:ext cx="508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6B6D4"/>
                </a:solidFill>
              </a:rPr>
              <a:t>What GenAI Chatbots Can Do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3B1332-1EB4-E040-A920-9D354DD8BEE4}"/>
              </a:ext>
            </a:extLst>
          </p:cNvPr>
          <p:cNvSpPr/>
          <p:nvPr/>
        </p:nvSpPr>
        <p:spPr>
          <a:xfrm>
            <a:off x="635000" y="4229100"/>
            <a:ext cx="127000" cy="1270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47F674-8D80-C346-9A6A-8E23E194E08B}"/>
              </a:ext>
            </a:extLst>
          </p:cNvPr>
          <p:cNvSpPr txBox="1"/>
          <p:nvPr/>
        </p:nvSpPr>
        <p:spPr>
          <a:xfrm>
            <a:off x="863600" y="4152900"/>
            <a:ext cx="330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Natural Conversation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1CAA8E-1E96-C642-9C18-852BBFDF4C78}"/>
              </a:ext>
            </a:extLst>
          </p:cNvPr>
          <p:cNvSpPr txBox="1"/>
          <p:nvPr/>
        </p:nvSpPr>
        <p:spPr>
          <a:xfrm>
            <a:off x="863600" y="44196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Understand complex multi-turn conversations without rigid scripts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4A54961-D969-D24E-9492-425B4203651F}"/>
              </a:ext>
            </a:extLst>
          </p:cNvPr>
          <p:cNvSpPr/>
          <p:nvPr/>
        </p:nvSpPr>
        <p:spPr>
          <a:xfrm>
            <a:off x="4445000" y="4229100"/>
            <a:ext cx="127000" cy="1270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110D1B-0E0F-E84C-86C9-D913B70FC6B7}"/>
              </a:ext>
            </a:extLst>
          </p:cNvPr>
          <p:cNvSpPr txBox="1"/>
          <p:nvPr/>
        </p:nvSpPr>
        <p:spPr>
          <a:xfrm>
            <a:off x="4673600" y="4152900"/>
            <a:ext cx="330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Contextual Memory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B7B4C7-ED91-AC44-89FA-90DA480BE1C9}"/>
              </a:ext>
            </a:extLst>
          </p:cNvPr>
          <p:cNvSpPr txBox="1"/>
          <p:nvPr/>
        </p:nvSpPr>
        <p:spPr>
          <a:xfrm>
            <a:off x="4673600" y="44196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Remember previous interactions and customer preferences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EE37473-628F-F443-84D9-B701143FD99A}"/>
              </a:ext>
            </a:extLst>
          </p:cNvPr>
          <p:cNvSpPr/>
          <p:nvPr/>
        </p:nvSpPr>
        <p:spPr>
          <a:xfrm>
            <a:off x="8255000" y="4229100"/>
            <a:ext cx="127000" cy="1270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9517FA-8AFD-094B-A655-EC1E10AC026C}"/>
              </a:ext>
            </a:extLst>
          </p:cNvPr>
          <p:cNvSpPr txBox="1"/>
          <p:nvPr/>
        </p:nvSpPr>
        <p:spPr>
          <a:xfrm>
            <a:off x="8483600" y="4152900"/>
            <a:ext cx="330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Multi-Language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083FF-3E45-CC45-AF6B-A163322B013D}"/>
              </a:ext>
            </a:extLst>
          </p:cNvPr>
          <p:cNvSpPr txBox="1"/>
          <p:nvPr/>
        </p:nvSpPr>
        <p:spPr>
          <a:xfrm>
            <a:off x="8483600" y="44196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Respond fluently in 50+ languages without separate models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2DC802-5E12-6F41-AFCB-0D5E24AA9477}"/>
              </a:ext>
            </a:extLst>
          </p:cNvPr>
          <p:cNvSpPr/>
          <p:nvPr/>
        </p:nvSpPr>
        <p:spPr>
          <a:xfrm>
            <a:off x="635000" y="5181600"/>
            <a:ext cx="127000" cy="1270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724D5A-0677-C14D-B176-21ECFA3BDC95}"/>
              </a:ext>
            </a:extLst>
          </p:cNvPr>
          <p:cNvSpPr txBox="1"/>
          <p:nvPr/>
        </p:nvSpPr>
        <p:spPr>
          <a:xfrm>
            <a:off x="863600" y="5105400"/>
            <a:ext cx="330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Tone Adaptation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9B57C9-A994-F44C-8FFC-0C7E4422CE0C}"/>
              </a:ext>
            </a:extLst>
          </p:cNvPr>
          <p:cNvSpPr txBox="1"/>
          <p:nvPr/>
        </p:nvSpPr>
        <p:spPr>
          <a:xfrm>
            <a:off x="863600" y="53721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Adjust formality, empathy, and style to match the situation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542091C-5CF9-5B40-9A33-647B799714FB}"/>
              </a:ext>
            </a:extLst>
          </p:cNvPr>
          <p:cNvSpPr/>
          <p:nvPr/>
        </p:nvSpPr>
        <p:spPr>
          <a:xfrm>
            <a:off x="4445000" y="5181600"/>
            <a:ext cx="127000" cy="1270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D34E8A-1FDC-BF47-A3FF-DEC086A8AF6A}"/>
              </a:ext>
            </a:extLst>
          </p:cNvPr>
          <p:cNvSpPr txBox="1"/>
          <p:nvPr/>
        </p:nvSpPr>
        <p:spPr>
          <a:xfrm>
            <a:off x="4673600" y="5105400"/>
            <a:ext cx="330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Knowledge Retrieval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E8141C-E2CE-6A44-BC20-690AD34920F8}"/>
              </a:ext>
            </a:extLst>
          </p:cNvPr>
          <p:cNvSpPr txBox="1"/>
          <p:nvPr/>
        </p:nvSpPr>
        <p:spPr>
          <a:xfrm>
            <a:off x="4673600" y="53721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Search internal docs and provide sourced answers in real time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7432A45-4883-3945-8AA9-BF698461F9B8}"/>
              </a:ext>
            </a:extLst>
          </p:cNvPr>
          <p:cNvSpPr/>
          <p:nvPr/>
        </p:nvSpPr>
        <p:spPr>
          <a:xfrm>
            <a:off x="8255000" y="5181600"/>
            <a:ext cx="127000" cy="1270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5F5888-F1CC-CB48-9BBB-A93C5BA86C2A}"/>
              </a:ext>
            </a:extLst>
          </p:cNvPr>
          <p:cNvSpPr txBox="1"/>
          <p:nvPr/>
        </p:nvSpPr>
        <p:spPr>
          <a:xfrm>
            <a:off x="8483600" y="5105400"/>
            <a:ext cx="3302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Escalation Intelligence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C683EE-93F5-D442-AAD2-DE7AB4E24713}"/>
              </a:ext>
            </a:extLst>
          </p:cNvPr>
          <p:cNvSpPr txBox="1"/>
          <p:nvPr/>
        </p:nvSpPr>
        <p:spPr>
          <a:xfrm>
            <a:off x="8483600" y="5372100"/>
            <a:ext cx="342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Recognize when to hand off to a human agent seamlessly</a:t>
            </a:r>
          </a:p>
        </p:txBody>
      </p:sp>
    </p:spTree>
    <p:extLst>
      <p:ext uri="{BB962C8B-B14F-4D97-AF65-F5344CB8AC3E}">
        <p14:creationId xmlns:p14="http://schemas.microsoft.com/office/powerpoint/2010/main" val="192241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C346E3B-10BB-9641-8A98-8705856AC920}"/>
              </a:ext>
            </a:extLst>
          </p:cNvPr>
          <p:cNvSpPr/>
          <p:nvPr/>
        </p:nvSpPr>
        <p:spPr>
          <a:xfrm>
            <a:off x="635000" y="381000"/>
            <a:ext cx="1778000" cy="3556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Deep Dive #4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240FC-0350-8E46-983D-FA07DA632DCF}"/>
              </a:ext>
            </a:extLst>
          </p:cNvPr>
          <p:cNvSpPr txBox="1"/>
          <p:nvPr/>
        </p:nvSpPr>
        <p:spPr>
          <a:xfrm>
            <a:off x="635000" y="787400"/>
            <a:ext cx="7620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0F4F8"/>
                </a:solidFill>
              </a:rPr>
              <a:t>Document Intelligence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F46DA0E-EE53-1B4E-9161-26CB52589CBE}"/>
              </a:ext>
            </a:extLst>
          </p:cNvPr>
          <p:cNvSpPr/>
          <p:nvPr/>
        </p:nvSpPr>
        <p:spPr>
          <a:xfrm>
            <a:off x="635000" y="1524000"/>
            <a:ext cx="2438400" cy="1524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D74DE-7BBB-8045-B189-42ABBBDA7630}"/>
              </a:ext>
            </a:extLst>
          </p:cNvPr>
          <p:cNvSpPr/>
          <p:nvPr/>
        </p:nvSpPr>
        <p:spPr>
          <a:xfrm>
            <a:off x="635000" y="1524000"/>
            <a:ext cx="2438400" cy="635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49FE0-CF45-EC43-A31E-9FCA61FEBCFE}"/>
              </a:ext>
            </a:extLst>
          </p:cNvPr>
          <p:cNvSpPr txBox="1"/>
          <p:nvPr/>
        </p:nvSpPr>
        <p:spPr>
          <a:xfrm>
            <a:off x="787400" y="1714500"/>
            <a:ext cx="21336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Ingest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64C38-C9EA-8A48-9C81-02226B34A5EB}"/>
              </a:ext>
            </a:extLst>
          </p:cNvPr>
          <p:cNvSpPr txBox="1"/>
          <p:nvPr/>
        </p:nvSpPr>
        <p:spPr>
          <a:xfrm>
            <a:off x="787400" y="2133600"/>
            <a:ext cx="21336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PDFs, emails, contracts, images, spreadsheets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336CD12-3DC9-BC42-9C09-5064C7B8C7AF}"/>
              </a:ext>
            </a:extLst>
          </p:cNvPr>
          <p:cNvSpPr/>
          <p:nvPr/>
        </p:nvSpPr>
        <p:spPr>
          <a:xfrm>
            <a:off x="3098800" y="2159000"/>
            <a:ext cx="203200" cy="2286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95791A-35BB-C540-A94F-16788BD3C57B}"/>
              </a:ext>
            </a:extLst>
          </p:cNvPr>
          <p:cNvSpPr/>
          <p:nvPr/>
        </p:nvSpPr>
        <p:spPr>
          <a:xfrm>
            <a:off x="3327400" y="1524000"/>
            <a:ext cx="2438400" cy="1524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F4603-2816-AC4B-8F8B-C849645DEFC6}"/>
              </a:ext>
            </a:extLst>
          </p:cNvPr>
          <p:cNvSpPr/>
          <p:nvPr/>
        </p:nvSpPr>
        <p:spPr>
          <a:xfrm>
            <a:off x="3327400" y="1524000"/>
            <a:ext cx="2438400" cy="635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80E0F4-A331-A941-9A2F-D3DC9EFFF695}"/>
              </a:ext>
            </a:extLst>
          </p:cNvPr>
          <p:cNvSpPr txBox="1"/>
          <p:nvPr/>
        </p:nvSpPr>
        <p:spPr>
          <a:xfrm>
            <a:off x="3479800" y="1714500"/>
            <a:ext cx="21336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Parse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83C30B-0FCB-D948-822C-F46D3D6E1261}"/>
              </a:ext>
            </a:extLst>
          </p:cNvPr>
          <p:cNvSpPr txBox="1"/>
          <p:nvPr/>
        </p:nvSpPr>
        <p:spPr>
          <a:xfrm>
            <a:off x="3479800" y="2133600"/>
            <a:ext cx="21336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Extract text, tables, figures with structure intact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19429AF1-DD2D-1943-B0AF-9DE249AC0D41}"/>
              </a:ext>
            </a:extLst>
          </p:cNvPr>
          <p:cNvSpPr/>
          <p:nvPr/>
        </p:nvSpPr>
        <p:spPr>
          <a:xfrm>
            <a:off x="5791200" y="2159000"/>
            <a:ext cx="203200" cy="2286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D6CCB9B-7B68-F542-92E0-270C89C52FD5}"/>
              </a:ext>
            </a:extLst>
          </p:cNvPr>
          <p:cNvSpPr/>
          <p:nvPr/>
        </p:nvSpPr>
        <p:spPr>
          <a:xfrm>
            <a:off x="6019800" y="1524000"/>
            <a:ext cx="2438400" cy="1524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0647C6-2F48-F748-921B-370CF558F5EC}"/>
              </a:ext>
            </a:extLst>
          </p:cNvPr>
          <p:cNvSpPr/>
          <p:nvPr/>
        </p:nvSpPr>
        <p:spPr>
          <a:xfrm>
            <a:off x="6019800" y="1524000"/>
            <a:ext cx="2438400" cy="635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02DB64-96B2-F749-9467-D94FFA9CB28F}"/>
              </a:ext>
            </a:extLst>
          </p:cNvPr>
          <p:cNvSpPr txBox="1"/>
          <p:nvPr/>
        </p:nvSpPr>
        <p:spPr>
          <a:xfrm>
            <a:off x="6172200" y="1714500"/>
            <a:ext cx="21336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Understand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9ADFA-C9A3-4046-B770-D996888BA5CC}"/>
              </a:ext>
            </a:extLst>
          </p:cNvPr>
          <p:cNvSpPr txBox="1"/>
          <p:nvPr/>
        </p:nvSpPr>
        <p:spPr>
          <a:xfrm>
            <a:off x="6172200" y="2133600"/>
            <a:ext cx="21336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Classify, tag, identify entities and relationships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D94A5229-9B2A-024C-9CD2-C4F9EE8CA87E}"/>
              </a:ext>
            </a:extLst>
          </p:cNvPr>
          <p:cNvSpPr/>
          <p:nvPr/>
        </p:nvSpPr>
        <p:spPr>
          <a:xfrm>
            <a:off x="8483600" y="2159000"/>
            <a:ext cx="203200" cy="2286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60ECA90-91DA-DB44-A222-19AF71B59839}"/>
              </a:ext>
            </a:extLst>
          </p:cNvPr>
          <p:cNvSpPr/>
          <p:nvPr/>
        </p:nvSpPr>
        <p:spPr>
          <a:xfrm>
            <a:off x="8712200" y="1524000"/>
            <a:ext cx="2438400" cy="1524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AF0BE6-34DE-694B-AC65-B1FEF4D03C5F}"/>
              </a:ext>
            </a:extLst>
          </p:cNvPr>
          <p:cNvSpPr/>
          <p:nvPr/>
        </p:nvSpPr>
        <p:spPr>
          <a:xfrm>
            <a:off x="8712200" y="1524000"/>
            <a:ext cx="2438400" cy="635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2EB48B-CF60-4D4A-9146-15EE1B40DFE6}"/>
              </a:ext>
            </a:extLst>
          </p:cNvPr>
          <p:cNvSpPr txBox="1"/>
          <p:nvPr/>
        </p:nvSpPr>
        <p:spPr>
          <a:xfrm>
            <a:off x="8864600" y="1714500"/>
            <a:ext cx="21336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</a:rPr>
              <a:t>Act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E3488E-06EF-FF45-B038-7AF1C56378ED}"/>
              </a:ext>
            </a:extLst>
          </p:cNvPr>
          <p:cNvSpPr txBox="1"/>
          <p:nvPr/>
        </p:nvSpPr>
        <p:spPr>
          <a:xfrm>
            <a:off x="8864600" y="2133600"/>
            <a:ext cx="21336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Route, summarize, answer questions, trigger workflows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034B9F8-8464-D146-9D3D-723C310C66B4}"/>
              </a:ext>
            </a:extLst>
          </p:cNvPr>
          <p:cNvSpPr/>
          <p:nvPr/>
        </p:nvSpPr>
        <p:spPr>
          <a:xfrm>
            <a:off x="635000" y="3365500"/>
            <a:ext cx="3492500" cy="1206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434A73-95D0-1A46-B669-F23C63231FFC}"/>
              </a:ext>
            </a:extLst>
          </p:cNvPr>
          <p:cNvSpPr/>
          <p:nvPr/>
        </p:nvSpPr>
        <p:spPr>
          <a:xfrm>
            <a:off x="635000" y="3365500"/>
            <a:ext cx="63500" cy="12065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2F5C8B-1329-8846-A31C-A892C51BC268}"/>
              </a:ext>
            </a:extLst>
          </p:cNvPr>
          <p:cNvSpPr txBox="1"/>
          <p:nvPr/>
        </p:nvSpPr>
        <p:spPr>
          <a:xfrm>
            <a:off x="863600" y="3492500"/>
            <a:ext cx="31115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Contracts &amp; Legal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AFC084-B1AF-A140-B417-048AC9E660A6}"/>
              </a:ext>
            </a:extLst>
          </p:cNvPr>
          <p:cNvSpPr txBox="1"/>
          <p:nvPr/>
        </p:nvSpPr>
        <p:spPr>
          <a:xfrm>
            <a:off x="863600" y="3848100"/>
            <a:ext cx="31115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Extract clauses, identify risks, compare versions, flag non-compliance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DAED135-C383-0A42-945D-A56391119C94}"/>
              </a:ext>
            </a:extLst>
          </p:cNvPr>
          <p:cNvSpPr/>
          <p:nvPr/>
        </p:nvSpPr>
        <p:spPr>
          <a:xfrm>
            <a:off x="4381500" y="3365500"/>
            <a:ext cx="3492500" cy="1206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5B02A8-905C-534A-B37E-32561AF0A6C5}"/>
              </a:ext>
            </a:extLst>
          </p:cNvPr>
          <p:cNvSpPr/>
          <p:nvPr/>
        </p:nvSpPr>
        <p:spPr>
          <a:xfrm>
            <a:off x="4381500" y="3365500"/>
            <a:ext cx="63500" cy="12065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EE538E-3E3B-5A41-B32B-44FFF3F5A29B}"/>
              </a:ext>
            </a:extLst>
          </p:cNvPr>
          <p:cNvSpPr txBox="1"/>
          <p:nvPr/>
        </p:nvSpPr>
        <p:spPr>
          <a:xfrm>
            <a:off x="4610100" y="3492500"/>
            <a:ext cx="31115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Financial Reports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155AB9-7853-184F-AAEB-90918B0EA83D}"/>
              </a:ext>
            </a:extLst>
          </p:cNvPr>
          <p:cNvSpPr txBox="1"/>
          <p:nvPr/>
        </p:nvSpPr>
        <p:spPr>
          <a:xfrm>
            <a:off x="4610100" y="3848100"/>
            <a:ext cx="31115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Parse balance sheets, income statements, extract KPIs automatically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22F6149-44CF-1849-A448-6B37448B5A30}"/>
              </a:ext>
            </a:extLst>
          </p:cNvPr>
          <p:cNvSpPr/>
          <p:nvPr/>
        </p:nvSpPr>
        <p:spPr>
          <a:xfrm>
            <a:off x="8128000" y="3365500"/>
            <a:ext cx="3492500" cy="1206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E0C28A-7579-5540-BA81-D43F6664424B}"/>
              </a:ext>
            </a:extLst>
          </p:cNvPr>
          <p:cNvSpPr/>
          <p:nvPr/>
        </p:nvSpPr>
        <p:spPr>
          <a:xfrm>
            <a:off x="8128000" y="3365500"/>
            <a:ext cx="63500" cy="12065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7C9EF3-C206-0748-BB69-2958C26184BC}"/>
              </a:ext>
            </a:extLst>
          </p:cNvPr>
          <p:cNvSpPr txBox="1"/>
          <p:nvPr/>
        </p:nvSpPr>
        <p:spPr>
          <a:xfrm>
            <a:off x="8356600" y="3492500"/>
            <a:ext cx="31115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Customer Emails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AB052D-6731-A545-993D-7069EDD904E1}"/>
              </a:ext>
            </a:extLst>
          </p:cNvPr>
          <p:cNvSpPr txBox="1"/>
          <p:nvPr/>
        </p:nvSpPr>
        <p:spPr>
          <a:xfrm>
            <a:off x="8356600" y="3848100"/>
            <a:ext cx="31115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Auto-classify intent, extract order numbers, route to correct queue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BC50BF2-7206-CF49-9AE7-C4EEB61496EF}"/>
              </a:ext>
            </a:extLst>
          </p:cNvPr>
          <p:cNvSpPr/>
          <p:nvPr/>
        </p:nvSpPr>
        <p:spPr>
          <a:xfrm>
            <a:off x="635000" y="4762500"/>
            <a:ext cx="3492500" cy="1206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1930245-BFE2-4F45-8ACC-A51BD40387CF}"/>
              </a:ext>
            </a:extLst>
          </p:cNvPr>
          <p:cNvSpPr/>
          <p:nvPr/>
        </p:nvSpPr>
        <p:spPr>
          <a:xfrm>
            <a:off x="635000" y="4762500"/>
            <a:ext cx="63500" cy="12065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ACC6D8-9545-4744-A9FC-B7112E41FAEE}"/>
              </a:ext>
            </a:extLst>
          </p:cNvPr>
          <p:cNvSpPr txBox="1"/>
          <p:nvPr/>
        </p:nvSpPr>
        <p:spPr>
          <a:xfrm>
            <a:off x="863600" y="4889500"/>
            <a:ext cx="31115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Technical Manuals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E0248E-6792-2C4E-9AFC-09B7DCBC68DF}"/>
              </a:ext>
            </a:extLst>
          </p:cNvPr>
          <p:cNvSpPr txBox="1"/>
          <p:nvPr/>
        </p:nvSpPr>
        <p:spPr>
          <a:xfrm>
            <a:off x="863600" y="5245100"/>
            <a:ext cx="31115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Build searchable knowledge bases, generate Q&amp;A pairs for support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72A8367-5C38-6F40-BD6F-3D63B9875AAE}"/>
              </a:ext>
            </a:extLst>
          </p:cNvPr>
          <p:cNvSpPr/>
          <p:nvPr/>
        </p:nvSpPr>
        <p:spPr>
          <a:xfrm>
            <a:off x="4381500" y="4762500"/>
            <a:ext cx="3492500" cy="1206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15B106-1F14-E34C-A1A9-85227BCBEAFC}"/>
              </a:ext>
            </a:extLst>
          </p:cNvPr>
          <p:cNvSpPr/>
          <p:nvPr/>
        </p:nvSpPr>
        <p:spPr>
          <a:xfrm>
            <a:off x="4381500" y="4762500"/>
            <a:ext cx="63500" cy="12065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8299F7-759B-204D-9FCE-4F012CA14060}"/>
              </a:ext>
            </a:extLst>
          </p:cNvPr>
          <p:cNvSpPr txBox="1"/>
          <p:nvPr/>
        </p:nvSpPr>
        <p:spPr>
          <a:xfrm>
            <a:off x="4610100" y="4889500"/>
            <a:ext cx="31115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Invoices &amp; Receipts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CC3197-3E6C-C647-91DD-27B32B330D43}"/>
              </a:ext>
            </a:extLst>
          </p:cNvPr>
          <p:cNvSpPr txBox="1"/>
          <p:nvPr/>
        </p:nvSpPr>
        <p:spPr>
          <a:xfrm>
            <a:off x="4610100" y="5245100"/>
            <a:ext cx="31115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Extract line items, match POs, flag discrepancies for AP teams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A472BDC-CD91-0549-B43A-3D4BC053584D}"/>
              </a:ext>
            </a:extLst>
          </p:cNvPr>
          <p:cNvSpPr/>
          <p:nvPr/>
        </p:nvSpPr>
        <p:spPr>
          <a:xfrm>
            <a:off x="8128000" y="4762500"/>
            <a:ext cx="3492500" cy="12065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60010F-B0F3-2840-837E-914B715C2161}"/>
              </a:ext>
            </a:extLst>
          </p:cNvPr>
          <p:cNvSpPr/>
          <p:nvPr/>
        </p:nvSpPr>
        <p:spPr>
          <a:xfrm>
            <a:off x="8128000" y="4762500"/>
            <a:ext cx="63500" cy="12065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8DBB2F-FD64-D04A-96B0-92D67253D0AE}"/>
              </a:ext>
            </a:extLst>
          </p:cNvPr>
          <p:cNvSpPr txBox="1"/>
          <p:nvPr/>
        </p:nvSpPr>
        <p:spPr>
          <a:xfrm>
            <a:off x="8356600" y="4889500"/>
            <a:ext cx="31115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F0F4F8"/>
                </a:solidFill>
              </a:rPr>
              <a:t>Research Papers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8EF4D2-1FB7-D244-B795-9FB3FA113967}"/>
              </a:ext>
            </a:extLst>
          </p:cNvPr>
          <p:cNvSpPr txBox="1"/>
          <p:nvPr/>
        </p:nvSpPr>
        <p:spPr>
          <a:xfrm>
            <a:off x="8356600" y="5245100"/>
            <a:ext cx="31115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</a:rPr>
              <a:t>Summarize findings, extract methodology, build literature reviews</a:t>
            </a:r>
          </a:p>
        </p:txBody>
      </p:sp>
    </p:spTree>
    <p:extLst>
      <p:ext uri="{BB962C8B-B14F-4D97-AF65-F5344CB8AC3E}">
        <p14:creationId xmlns:p14="http://schemas.microsoft.com/office/powerpoint/2010/main" val="3552294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62E015-DE9E-CC40-8011-E4D36D961D43}"/>
              </a:ext>
            </a:extLst>
          </p:cNvPr>
          <p:cNvSpPr txBox="1"/>
          <p:nvPr/>
        </p:nvSpPr>
        <p:spPr>
          <a:xfrm>
            <a:off x="635000" y="381000"/>
            <a:ext cx="10160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0F4F8"/>
                </a:solidFill>
              </a:rPr>
              <a:t>Enterprise Use Cases for Support Teams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8D998A9-5A4A-044C-9D9A-1C376B8AA2BE}"/>
              </a:ext>
            </a:extLst>
          </p:cNvPr>
          <p:cNvSpPr/>
          <p:nvPr/>
        </p:nvSpPr>
        <p:spPr>
          <a:xfrm>
            <a:off x="635000" y="1270000"/>
            <a:ext cx="5397500" cy="2286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B9209-F587-764E-855F-F3E420B90047}"/>
              </a:ext>
            </a:extLst>
          </p:cNvPr>
          <p:cNvSpPr/>
          <p:nvPr/>
        </p:nvSpPr>
        <p:spPr>
          <a:xfrm>
            <a:off x="635000" y="1270000"/>
            <a:ext cx="63500" cy="2286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6B361D-1813-F146-B3D7-AEC7D424FBB9}"/>
              </a:ext>
            </a:extLst>
          </p:cNvPr>
          <p:cNvSpPr/>
          <p:nvPr/>
        </p:nvSpPr>
        <p:spPr>
          <a:xfrm>
            <a:off x="889000" y="1460500"/>
            <a:ext cx="533400" cy="5334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7CBC3-604C-534A-99BC-8AC6889DEF66}"/>
              </a:ext>
            </a:extLst>
          </p:cNvPr>
          <p:cNvSpPr txBox="1"/>
          <p:nvPr/>
        </p:nvSpPr>
        <p:spPr>
          <a:xfrm>
            <a:off x="1587500" y="1460500"/>
            <a:ext cx="4191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Agent Assist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007E5-5B60-2341-A7FE-3500D9EBF939}"/>
              </a:ext>
            </a:extLst>
          </p:cNvPr>
          <p:cNvSpPr txBox="1"/>
          <p:nvPr/>
        </p:nvSpPr>
        <p:spPr>
          <a:xfrm>
            <a:off x="889000" y="2095500"/>
            <a:ext cx="48895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Real-time AI copilot suggests responses, surfaces relevant knowledge articles, and auto-fills ticket fields while agents handle live conversations.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A93A59-F524-4E44-BE6A-953D9B6415FA}"/>
              </a:ext>
            </a:extLst>
          </p:cNvPr>
          <p:cNvSpPr/>
          <p:nvPr/>
        </p:nvSpPr>
        <p:spPr>
          <a:xfrm>
            <a:off x="825500" y="3048000"/>
            <a:ext cx="5016500" cy="3556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6366F1"/>
                </a:solidFill>
              </a:rPr>
              <a:t>45% faster response time  |  30% higher CSAT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852BEDE-B407-F74D-8E30-F54476839CBB}"/>
              </a:ext>
            </a:extLst>
          </p:cNvPr>
          <p:cNvSpPr/>
          <p:nvPr/>
        </p:nvSpPr>
        <p:spPr>
          <a:xfrm>
            <a:off x="6286500" y="1270000"/>
            <a:ext cx="5397500" cy="2286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5B7FA7-0EA0-5145-AB6D-35336E967D75}"/>
              </a:ext>
            </a:extLst>
          </p:cNvPr>
          <p:cNvSpPr/>
          <p:nvPr/>
        </p:nvSpPr>
        <p:spPr>
          <a:xfrm>
            <a:off x="6286500" y="1270000"/>
            <a:ext cx="63500" cy="22860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A07AAD-0943-1D41-B55F-89C066743A1C}"/>
              </a:ext>
            </a:extLst>
          </p:cNvPr>
          <p:cNvSpPr/>
          <p:nvPr/>
        </p:nvSpPr>
        <p:spPr>
          <a:xfrm>
            <a:off x="6540500" y="1460500"/>
            <a:ext cx="533400" cy="5334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D8740-2D23-AC4F-B7D9-FCE368D73001}"/>
              </a:ext>
            </a:extLst>
          </p:cNvPr>
          <p:cNvSpPr txBox="1"/>
          <p:nvPr/>
        </p:nvSpPr>
        <p:spPr>
          <a:xfrm>
            <a:off x="7239000" y="1460500"/>
            <a:ext cx="4191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Auto-Triage &amp; Routing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D28D43-8CA9-AE48-A03D-2E73A0452D98}"/>
              </a:ext>
            </a:extLst>
          </p:cNvPr>
          <p:cNvSpPr txBox="1"/>
          <p:nvPr/>
        </p:nvSpPr>
        <p:spPr>
          <a:xfrm>
            <a:off x="6540500" y="2095500"/>
            <a:ext cx="48895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AI classifies incoming tickets by intent, urgency, and product area — routing them to the right team with pre-populated context before an agent sees them.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81E076D-9B76-AC40-8FB4-9EBAF35D2A26}"/>
              </a:ext>
            </a:extLst>
          </p:cNvPr>
          <p:cNvSpPr/>
          <p:nvPr/>
        </p:nvSpPr>
        <p:spPr>
          <a:xfrm>
            <a:off x="6477000" y="3048000"/>
            <a:ext cx="5016500" cy="3556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8B5CF6"/>
                </a:solidFill>
              </a:rPr>
              <a:t>80% auto-classified  |  60% less misrouting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8DC1A06-AA76-EA46-857B-3BE088D689E8}"/>
              </a:ext>
            </a:extLst>
          </p:cNvPr>
          <p:cNvSpPr/>
          <p:nvPr/>
        </p:nvSpPr>
        <p:spPr>
          <a:xfrm>
            <a:off x="635000" y="3746500"/>
            <a:ext cx="5397500" cy="2286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A2F506-0F88-E647-9874-C7DE11061774}"/>
              </a:ext>
            </a:extLst>
          </p:cNvPr>
          <p:cNvSpPr/>
          <p:nvPr/>
        </p:nvSpPr>
        <p:spPr>
          <a:xfrm>
            <a:off x="635000" y="3746500"/>
            <a:ext cx="63500" cy="22860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16F4AE9-1A6E-6240-8C9D-FD9A6993B503}"/>
              </a:ext>
            </a:extLst>
          </p:cNvPr>
          <p:cNvSpPr/>
          <p:nvPr/>
        </p:nvSpPr>
        <p:spPr>
          <a:xfrm>
            <a:off x="889000" y="3937000"/>
            <a:ext cx="533400" cy="5334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02BE6-E434-6A47-9740-F10B1D259E3B}"/>
              </a:ext>
            </a:extLst>
          </p:cNvPr>
          <p:cNvSpPr txBox="1"/>
          <p:nvPr/>
        </p:nvSpPr>
        <p:spPr>
          <a:xfrm>
            <a:off x="1587500" y="3937000"/>
            <a:ext cx="4191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Quality Assurance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990E52-2A08-A94F-B65C-A53A7183F0A8}"/>
              </a:ext>
            </a:extLst>
          </p:cNvPr>
          <p:cNvSpPr txBox="1"/>
          <p:nvPr/>
        </p:nvSpPr>
        <p:spPr>
          <a:xfrm>
            <a:off x="889000" y="4572000"/>
            <a:ext cx="48895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Automatically review 100% of conversations for compliance, tone, accuracy, and process adherence — replacing manual spot-checks of random samples.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A923A41-9097-8348-9E71-860AB6F01704}"/>
              </a:ext>
            </a:extLst>
          </p:cNvPr>
          <p:cNvSpPr/>
          <p:nvPr/>
        </p:nvSpPr>
        <p:spPr>
          <a:xfrm>
            <a:off x="825500" y="5524500"/>
            <a:ext cx="5016500" cy="3556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6B6D4"/>
                </a:solidFill>
              </a:rPr>
              <a:t>100% coverage vs. 5% manual  |  50% fewer escalations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D4E3CCA-2B1D-E34F-905B-3A7B9BD3E673}"/>
              </a:ext>
            </a:extLst>
          </p:cNvPr>
          <p:cNvSpPr/>
          <p:nvPr/>
        </p:nvSpPr>
        <p:spPr>
          <a:xfrm>
            <a:off x="6286500" y="3746500"/>
            <a:ext cx="5397500" cy="2286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A0EBA2-C9CB-9644-9E21-4EB8FFC81468}"/>
              </a:ext>
            </a:extLst>
          </p:cNvPr>
          <p:cNvSpPr/>
          <p:nvPr/>
        </p:nvSpPr>
        <p:spPr>
          <a:xfrm>
            <a:off x="6286500" y="3746500"/>
            <a:ext cx="63500" cy="2286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9FA769-26B0-1248-949D-4D53CA513171}"/>
              </a:ext>
            </a:extLst>
          </p:cNvPr>
          <p:cNvSpPr/>
          <p:nvPr/>
        </p:nvSpPr>
        <p:spPr>
          <a:xfrm>
            <a:off x="6540500" y="3937000"/>
            <a:ext cx="533400" cy="5334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2ECDA7-69C6-6F43-8D3F-FD03695B48F4}"/>
              </a:ext>
            </a:extLst>
          </p:cNvPr>
          <p:cNvSpPr txBox="1"/>
          <p:nvPr/>
        </p:nvSpPr>
        <p:spPr>
          <a:xfrm>
            <a:off x="7239000" y="3937000"/>
            <a:ext cx="4191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Knowledge Base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309FFE-C04A-514A-B1B7-CB25459A7CAE}"/>
              </a:ext>
            </a:extLst>
          </p:cNvPr>
          <p:cNvSpPr txBox="1"/>
          <p:nvPr/>
        </p:nvSpPr>
        <p:spPr>
          <a:xfrm>
            <a:off x="6540500" y="4572000"/>
            <a:ext cx="48895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Auto-generate and update help articles from resolved tickets, detect content gaps, and provide agents with instant answers from the entire knowledge corpus.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8C2B6C0-4853-8A4B-BB29-76E268561154}"/>
              </a:ext>
            </a:extLst>
          </p:cNvPr>
          <p:cNvSpPr/>
          <p:nvPr/>
        </p:nvSpPr>
        <p:spPr>
          <a:xfrm>
            <a:off x="6477000" y="5524500"/>
            <a:ext cx="5016500" cy="355600"/>
          </a:xfrm>
          <a:prstGeom prst="round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0B981"/>
                </a:solidFill>
              </a:rPr>
              <a:t>70% self-service deflection  |  3x faster article creation</a:t>
            </a:r>
          </a:p>
        </p:txBody>
      </p:sp>
      <p:pic>
        <p:nvPicPr>
          <p:cNvPr id="27" name="Graphic 27" descr="Agent assis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700" y="1536700"/>
            <a:ext cx="355600" cy="355600"/>
          </a:xfrm>
          <a:prstGeom prst="rect">
            <a:avLst/>
          </a:prstGeom>
        </p:spPr>
      </p:pic>
      <p:pic>
        <p:nvPicPr>
          <p:cNvPr id="28" name="Graphic 28" descr="Auto-triag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6200" y="1536700"/>
            <a:ext cx="355600" cy="355600"/>
          </a:xfrm>
          <a:prstGeom prst="rect">
            <a:avLst/>
          </a:prstGeom>
        </p:spPr>
      </p:pic>
      <p:pic>
        <p:nvPicPr>
          <p:cNvPr id="29" name="Graphic 29" descr="QA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00" y="4013200"/>
            <a:ext cx="355600" cy="355600"/>
          </a:xfrm>
          <a:prstGeom prst="rect">
            <a:avLst/>
          </a:prstGeom>
        </p:spPr>
      </p:pic>
      <p:pic>
        <p:nvPicPr>
          <p:cNvPr id="30" name="Graphic 30" descr="Knowledge bas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6200" y="4013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88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AA6CFA-55AA-2E48-9B89-28429F3CDE79}"/>
              </a:ext>
            </a:extLst>
          </p:cNvPr>
          <p:cNvSpPr txBox="1"/>
          <p:nvPr/>
        </p:nvSpPr>
        <p:spPr>
          <a:xfrm>
            <a:off x="635000" y="381000"/>
            <a:ext cx="8890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0F4F8"/>
                </a:solidFill>
              </a:rPr>
              <a:t>Getting Started — 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9FB14-8F52-A34E-B1A2-83319281093E}"/>
              </a:ext>
            </a:extLst>
          </p:cNvPr>
          <p:cNvSpPr txBox="1"/>
          <p:nvPr/>
        </p:nvSpPr>
        <p:spPr>
          <a:xfrm>
            <a:off x="635000" y="1016000"/>
            <a:ext cx="889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94A3B8"/>
                </a:solidFill>
              </a:rPr>
              <a:t>A phased approach to adopting Generative AI in your organization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0F698A9-0A17-434C-A493-1B1D65CB6258}"/>
              </a:ext>
            </a:extLst>
          </p:cNvPr>
          <p:cNvSpPr/>
          <p:nvPr/>
        </p:nvSpPr>
        <p:spPr>
          <a:xfrm>
            <a:off x="635000" y="1524000"/>
            <a:ext cx="3492500" cy="3556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5492E-4375-2744-8A14-F6CB60E8CE2C}"/>
              </a:ext>
            </a:extLst>
          </p:cNvPr>
          <p:cNvSpPr/>
          <p:nvPr/>
        </p:nvSpPr>
        <p:spPr>
          <a:xfrm>
            <a:off x="635000" y="1524000"/>
            <a:ext cx="3492500" cy="635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B2A71-7E8E-BD41-80BC-F2853B9FB909}"/>
              </a:ext>
            </a:extLst>
          </p:cNvPr>
          <p:cNvSpPr txBox="1"/>
          <p:nvPr/>
        </p:nvSpPr>
        <p:spPr>
          <a:xfrm>
            <a:off x="825500" y="1714500"/>
            <a:ext cx="31115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Phase 1: Explore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4F9133E-5360-534B-A47C-33FFCBE72C73}"/>
              </a:ext>
            </a:extLst>
          </p:cNvPr>
          <p:cNvSpPr/>
          <p:nvPr/>
        </p:nvSpPr>
        <p:spPr>
          <a:xfrm>
            <a:off x="825500" y="2133600"/>
            <a:ext cx="1270000" cy="304800"/>
          </a:xfrm>
          <a:prstGeom prst="round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Weeks 1-4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95B986-E7CF-6F45-85C7-DF1BDD3CE336}"/>
              </a:ext>
            </a:extLst>
          </p:cNvPr>
          <p:cNvSpPr/>
          <p:nvPr/>
        </p:nvSpPr>
        <p:spPr>
          <a:xfrm>
            <a:off x="825500" y="2667000"/>
            <a:ext cx="101600" cy="1016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7E75B-7E16-2549-A0C3-1E29EAF8C5E1}"/>
              </a:ext>
            </a:extLst>
          </p:cNvPr>
          <p:cNvSpPr txBox="1"/>
          <p:nvPr/>
        </p:nvSpPr>
        <p:spPr>
          <a:xfrm>
            <a:off x="1041400" y="26035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Identify 2-3 high-impact pilot use cases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D96EBE-EB56-C74E-A19C-88B61A56B65C}"/>
              </a:ext>
            </a:extLst>
          </p:cNvPr>
          <p:cNvSpPr/>
          <p:nvPr/>
        </p:nvSpPr>
        <p:spPr>
          <a:xfrm>
            <a:off x="825500" y="3238500"/>
            <a:ext cx="101600" cy="1016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EAD4F-8DD1-EF4E-A818-49FC054031A7}"/>
              </a:ext>
            </a:extLst>
          </p:cNvPr>
          <p:cNvSpPr txBox="1"/>
          <p:nvPr/>
        </p:nvSpPr>
        <p:spPr>
          <a:xfrm>
            <a:off x="1041400" y="31750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Evaluate available AI tools and platforms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BC567C-562E-B94C-BC6B-1D40E8B0B915}"/>
              </a:ext>
            </a:extLst>
          </p:cNvPr>
          <p:cNvSpPr/>
          <p:nvPr/>
        </p:nvSpPr>
        <p:spPr>
          <a:xfrm>
            <a:off x="825500" y="3810000"/>
            <a:ext cx="101600" cy="1016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ECD275-8C37-A64B-84F3-BD7735CE0B7E}"/>
              </a:ext>
            </a:extLst>
          </p:cNvPr>
          <p:cNvSpPr txBox="1"/>
          <p:nvPr/>
        </p:nvSpPr>
        <p:spPr>
          <a:xfrm>
            <a:off x="1041400" y="37465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Assemble a cross-functional tiger team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D1BC300-3531-B04F-AEF8-F2B30065CC9A}"/>
              </a:ext>
            </a:extLst>
          </p:cNvPr>
          <p:cNvSpPr/>
          <p:nvPr/>
        </p:nvSpPr>
        <p:spPr>
          <a:xfrm>
            <a:off x="825500" y="4381500"/>
            <a:ext cx="101600" cy="1016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E32BE-2166-9543-82B0-7B72AFC1B479}"/>
              </a:ext>
            </a:extLst>
          </p:cNvPr>
          <p:cNvSpPr txBox="1"/>
          <p:nvPr/>
        </p:nvSpPr>
        <p:spPr>
          <a:xfrm>
            <a:off x="1041400" y="43180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Define success metrics and KPIs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9AA51E7-5492-B346-8544-4AEEA3613054}"/>
              </a:ext>
            </a:extLst>
          </p:cNvPr>
          <p:cNvSpPr/>
          <p:nvPr/>
        </p:nvSpPr>
        <p:spPr>
          <a:xfrm>
            <a:off x="4152900" y="3175000"/>
            <a:ext cx="203200" cy="2286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8692B70-01DA-234F-B747-9C61B2261155}"/>
              </a:ext>
            </a:extLst>
          </p:cNvPr>
          <p:cNvSpPr/>
          <p:nvPr/>
        </p:nvSpPr>
        <p:spPr>
          <a:xfrm>
            <a:off x="4381500" y="1524000"/>
            <a:ext cx="3492500" cy="3556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56522B-FC27-1C4C-BA75-C588C397B06B}"/>
              </a:ext>
            </a:extLst>
          </p:cNvPr>
          <p:cNvSpPr/>
          <p:nvPr/>
        </p:nvSpPr>
        <p:spPr>
          <a:xfrm>
            <a:off x="4381500" y="1524000"/>
            <a:ext cx="3492500" cy="635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0088A2-1F0B-384E-B1F0-176E140826BC}"/>
              </a:ext>
            </a:extLst>
          </p:cNvPr>
          <p:cNvSpPr txBox="1"/>
          <p:nvPr/>
        </p:nvSpPr>
        <p:spPr>
          <a:xfrm>
            <a:off x="4572000" y="1714500"/>
            <a:ext cx="31115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Phase 2: Pilot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8F537C0-4DB2-5C4B-A528-36D1A592D143}"/>
              </a:ext>
            </a:extLst>
          </p:cNvPr>
          <p:cNvSpPr/>
          <p:nvPr/>
        </p:nvSpPr>
        <p:spPr>
          <a:xfrm>
            <a:off x="4572000" y="2133600"/>
            <a:ext cx="1270000" cy="304800"/>
          </a:xfrm>
          <a:prstGeom prst="round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Months 2-3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0C7CE6-7CBB-554D-A307-33E885575845}"/>
              </a:ext>
            </a:extLst>
          </p:cNvPr>
          <p:cNvSpPr/>
          <p:nvPr/>
        </p:nvSpPr>
        <p:spPr>
          <a:xfrm>
            <a:off x="4572000" y="2667000"/>
            <a:ext cx="101600" cy="1016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BA189A-29EA-F142-9136-FA5CBBD139C0}"/>
              </a:ext>
            </a:extLst>
          </p:cNvPr>
          <p:cNvSpPr txBox="1"/>
          <p:nvPr/>
        </p:nvSpPr>
        <p:spPr>
          <a:xfrm>
            <a:off x="4787900" y="26035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Deploy AI in a controlled environment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77FB9A1-D183-7340-8FA9-2C7471C11BCB}"/>
              </a:ext>
            </a:extLst>
          </p:cNvPr>
          <p:cNvSpPr/>
          <p:nvPr/>
        </p:nvSpPr>
        <p:spPr>
          <a:xfrm>
            <a:off x="4572000" y="3238500"/>
            <a:ext cx="101600" cy="1016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0A50E-3AA8-8048-BD75-7C2995185F5D}"/>
              </a:ext>
            </a:extLst>
          </p:cNvPr>
          <p:cNvSpPr txBox="1"/>
          <p:nvPr/>
        </p:nvSpPr>
        <p:spPr>
          <a:xfrm>
            <a:off x="4787900" y="31750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Train pilot group on prompting best practices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8D56954-ADE9-9046-93EE-3576A87ED4E5}"/>
              </a:ext>
            </a:extLst>
          </p:cNvPr>
          <p:cNvSpPr/>
          <p:nvPr/>
        </p:nvSpPr>
        <p:spPr>
          <a:xfrm>
            <a:off x="4572000" y="3810000"/>
            <a:ext cx="101600" cy="1016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DB9BFE-3EB7-9D4B-8152-403B539782BA}"/>
              </a:ext>
            </a:extLst>
          </p:cNvPr>
          <p:cNvSpPr txBox="1"/>
          <p:nvPr/>
        </p:nvSpPr>
        <p:spPr>
          <a:xfrm>
            <a:off x="4787900" y="37465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Gather quantitative and qualitative feedback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C78B014-E373-444E-AC56-A5CBBB040877}"/>
              </a:ext>
            </a:extLst>
          </p:cNvPr>
          <p:cNvSpPr/>
          <p:nvPr/>
        </p:nvSpPr>
        <p:spPr>
          <a:xfrm>
            <a:off x="4572000" y="4381500"/>
            <a:ext cx="101600" cy="101600"/>
          </a:xfrm>
          <a:prstGeom prst="ellips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FD208F-8396-0947-A9AD-35AF78658AA0}"/>
              </a:ext>
            </a:extLst>
          </p:cNvPr>
          <p:cNvSpPr txBox="1"/>
          <p:nvPr/>
        </p:nvSpPr>
        <p:spPr>
          <a:xfrm>
            <a:off x="4787900" y="43180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Iterate on prompts, workflows, and guardrails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93CF5F13-C6CF-7E42-B4A3-9B722E4C3042}"/>
              </a:ext>
            </a:extLst>
          </p:cNvPr>
          <p:cNvSpPr/>
          <p:nvPr/>
        </p:nvSpPr>
        <p:spPr>
          <a:xfrm>
            <a:off x="7899400" y="3175000"/>
            <a:ext cx="203200" cy="228600"/>
          </a:xfrm>
          <a:prstGeom prst="rightArrow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54A35CC-B538-5046-9608-FB87E619380A}"/>
              </a:ext>
            </a:extLst>
          </p:cNvPr>
          <p:cNvSpPr/>
          <p:nvPr/>
        </p:nvSpPr>
        <p:spPr>
          <a:xfrm>
            <a:off x="8128000" y="1524000"/>
            <a:ext cx="3492500" cy="3556000"/>
          </a:xfrm>
          <a:prstGeom prst="round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ED66B0-E9CC-2D4F-B3B0-D835C8C52926}"/>
              </a:ext>
            </a:extLst>
          </p:cNvPr>
          <p:cNvSpPr/>
          <p:nvPr/>
        </p:nvSpPr>
        <p:spPr>
          <a:xfrm>
            <a:off x="8128000" y="1524000"/>
            <a:ext cx="3492500" cy="63500"/>
          </a:xfrm>
          <a:prstGeom prst="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6B4045-951E-B24C-86C8-42C726DF0460}"/>
              </a:ext>
            </a:extLst>
          </p:cNvPr>
          <p:cNvSpPr txBox="1"/>
          <p:nvPr/>
        </p:nvSpPr>
        <p:spPr>
          <a:xfrm>
            <a:off x="8318500" y="1714500"/>
            <a:ext cx="31115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0F4F8"/>
                </a:solidFill>
              </a:rPr>
              <a:t>Phase 3: Scale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DEE4E36-17B6-5349-BE1C-DC0B69182311}"/>
              </a:ext>
            </a:extLst>
          </p:cNvPr>
          <p:cNvSpPr/>
          <p:nvPr/>
        </p:nvSpPr>
        <p:spPr>
          <a:xfrm>
            <a:off x="8318500" y="2133600"/>
            <a:ext cx="1270000" cy="304800"/>
          </a:xfrm>
          <a:prstGeom prst="round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Months 4-6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C71CAAA-968C-6D43-B91F-88B7D70262A8}"/>
              </a:ext>
            </a:extLst>
          </p:cNvPr>
          <p:cNvSpPr/>
          <p:nvPr/>
        </p:nvSpPr>
        <p:spPr>
          <a:xfrm>
            <a:off x="8318500" y="2667000"/>
            <a:ext cx="101600" cy="1016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451C7C0-53DF-5A4D-BB6E-3BD9AEC9D3C6}"/>
              </a:ext>
            </a:extLst>
          </p:cNvPr>
          <p:cNvSpPr txBox="1"/>
          <p:nvPr/>
        </p:nvSpPr>
        <p:spPr>
          <a:xfrm>
            <a:off x="8534400" y="26035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Roll out to broader teams and departments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AC2B1D8-5AEE-884A-AAA2-99E21623AA9F}"/>
              </a:ext>
            </a:extLst>
          </p:cNvPr>
          <p:cNvSpPr/>
          <p:nvPr/>
        </p:nvSpPr>
        <p:spPr>
          <a:xfrm>
            <a:off x="8318500" y="3238500"/>
            <a:ext cx="101600" cy="1016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A1D20D-313B-3140-B7A3-F0FFB017D0F9}"/>
              </a:ext>
            </a:extLst>
          </p:cNvPr>
          <p:cNvSpPr txBox="1"/>
          <p:nvPr/>
        </p:nvSpPr>
        <p:spPr>
          <a:xfrm>
            <a:off x="8534400" y="31750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Integrate AI into existing tools and workflows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A2D95CF-B76D-C141-905B-6D381093B201}"/>
              </a:ext>
            </a:extLst>
          </p:cNvPr>
          <p:cNvSpPr/>
          <p:nvPr/>
        </p:nvSpPr>
        <p:spPr>
          <a:xfrm>
            <a:off x="8318500" y="3810000"/>
            <a:ext cx="101600" cy="1016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6C07E7-0273-054C-83F0-275751A2FA36}"/>
              </a:ext>
            </a:extLst>
          </p:cNvPr>
          <p:cNvSpPr txBox="1"/>
          <p:nvPr/>
        </p:nvSpPr>
        <p:spPr>
          <a:xfrm>
            <a:off x="8534400" y="37465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Establish governance and compliance policies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0C31C31-85E8-B143-AF43-A9F38EF58C69}"/>
              </a:ext>
            </a:extLst>
          </p:cNvPr>
          <p:cNvSpPr/>
          <p:nvPr/>
        </p:nvSpPr>
        <p:spPr>
          <a:xfrm>
            <a:off x="8318500" y="4381500"/>
            <a:ext cx="101600" cy="1016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C8C7F8-8B1B-DA40-8056-F459F8764614}"/>
              </a:ext>
            </a:extLst>
          </p:cNvPr>
          <p:cNvSpPr txBox="1"/>
          <p:nvPr/>
        </p:nvSpPr>
        <p:spPr>
          <a:xfrm>
            <a:off x="8534400" y="4318000"/>
            <a:ext cx="2857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1400">
                <a:solidFill>
                  <a:srgbClr val="CBD5E1"/>
                </a:solidFill>
              </a:rPr>
              <a:t>Measure ROI and plan next expansion areas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6B01538-2B26-C341-8318-67DFAF07F934}"/>
              </a:ext>
            </a:extLst>
          </p:cNvPr>
          <p:cNvSpPr/>
          <p:nvPr/>
        </p:nvSpPr>
        <p:spPr>
          <a:xfrm>
            <a:off x="635000" y="5334000"/>
            <a:ext cx="10922000" cy="698500"/>
          </a:xfrm>
          <a:prstGeom prst="round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084D5B-E392-7F44-94B6-7403E3DCC56E}"/>
              </a:ext>
            </a:extLst>
          </p:cNvPr>
          <p:cNvSpPr txBox="1"/>
          <p:nvPr/>
        </p:nvSpPr>
        <p:spPr>
          <a:xfrm>
            <a:off x="1016000" y="53975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Ready to Transform Your Operations with Generative AI?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8B5E38-5389-A944-8156-10F6A6B4B7BF}"/>
              </a:ext>
            </a:extLst>
          </p:cNvPr>
          <p:cNvSpPr txBox="1"/>
          <p:nvPr/>
        </p:nvSpPr>
        <p:spPr>
          <a:xfrm>
            <a:off x="9525000" y="5397500"/>
            <a:ext cx="17780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Let's Talk →</a:t>
            </a:r>
          </a:p>
        </p:txBody>
      </p:sp>
    </p:spTree>
    <p:extLst>
      <p:ext uri="{BB962C8B-B14F-4D97-AF65-F5344CB8AC3E}">
        <p14:creationId xmlns:p14="http://schemas.microsoft.com/office/powerpoint/2010/main" val="2457095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533347741]">
  <a:themeElements>
    <a:clrScheme name="Generative AI">
      <a:dk1>
        <a:srgbClr val="F0F4F8"/>
      </a:dk1>
      <a:lt1>
        <a:srgbClr val="0F172A"/>
      </a:lt1>
      <a:dk2>
        <a:srgbClr val="CBD5E1"/>
      </a:dk2>
      <a:lt2>
        <a:srgbClr val="1E293B"/>
      </a:lt2>
      <a:accent1>
        <a:srgbClr val="6366F1"/>
      </a:accent1>
      <a:accent2>
        <a:srgbClr val="8B5CF6"/>
      </a:accent2>
      <a:accent3>
        <a:srgbClr val="06B6D4"/>
      </a:accent3>
      <a:accent4>
        <a:srgbClr val="10B981"/>
      </a:accent4>
      <a:accent5>
        <a:srgbClr val="F59E0B"/>
      </a:accent5>
      <a:accent6>
        <a:srgbClr val="EC4899"/>
      </a:accent6>
      <a:hlink>
        <a:srgbClr val="467886"/>
      </a:hlink>
      <a:folHlink>
        <a:srgbClr val="96607D"/>
      </a:folHlink>
    </a:clrScheme>
    <a:fontScheme name="GenAI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8D5437-6ADF-3F4A-949F-A165616B808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f6d1f1c-9e2a-408f-8adf-d22d044ceca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1187</Words>
  <Application>Microsoft Macintosh PowerPoint</Application>
  <PresentationFormat>Widescreen</PresentationFormat>
  <Paragraphs>212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Segoe UI</vt:lpstr>
      <vt:lpstr>Segoe UI Semibold</vt:lpstr>
      <vt:lpstr>Office Theme [1778533347741]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Ramanuj Das</dc:creator>
  <cp:lastModifiedBy>Ramanuj Das</cp:lastModifiedBy>
  <cp:revision>3</cp:revision>
  <dcterms:created xsi:type="dcterms:W3CDTF">2026-05-11T20:59:50Z</dcterms:created>
  <dcterms:modified xsi:type="dcterms:W3CDTF">2026-05-14T12:03:08Z</dcterms:modified>
</cp:coreProperties>
</file>