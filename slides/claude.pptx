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78" r:id="rId2"/>
    <p:sldId id="279" r:id="rId3"/>
    <p:sldId id="273" r:id="rId4"/>
    <p:sldId id="264" r:id="rId5"/>
    <p:sldId id="274" r:id="rId6"/>
    <p:sldId id="280" r:id="rId7"/>
    <p:sldId id="275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25"/>
  </p:normalViewPr>
  <p:slideViewPr>
    <p:cSldViewPr snapToGrid="0">
      <p:cViewPr varScale="1">
        <p:scale>
          <a:sx n="145" d="100"/>
          <a:sy n="145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D71C1-22D3-094F-B924-820AC701BBC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FAB57-C116-534F-8D53-814EDDCAE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AB57-C116-534F-8D53-814EDDCAE8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6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AB57-C116-534F-8D53-814EDDCAE8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AF89-4A08-A6A9-7557-B4D5E1FB4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CCEC2-75D1-CE28-1037-BCF44CB49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A53DA-2246-6561-17BB-78A629B1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8414-60D7-6E3A-BF20-B32917A7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A7EFC-F605-B6E0-B2A4-CAE5DCE6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563F-7A93-188F-7360-592CD1A5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1F23-0F56-C7D9-FEA4-9286D534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C7E7C-A18D-AE32-E67F-063106B3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694DB-A163-0341-2627-645C63CD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F6CEC-1A4C-544D-C838-703C0C10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1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88F2-3047-C675-8E7A-A3844E19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613EB-7F55-E0E1-15F5-3A85FA578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B1F4E-3AAA-9A0F-28EC-6193E4CE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E0997-A412-5A88-446D-793542B5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4777F-FED3-447D-86E5-C8A55387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0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B48-0AC5-7BA2-3539-7939C663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09E9-65A3-905E-F971-F75EF55F7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01C7E-3386-4827-80FF-B5E0AB44A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3AA4E-0FAE-16B4-7857-227D7D59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98DE2-8A58-50A8-4DC3-327E1B4F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6520C-8537-4B43-1B50-E36B0BF2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9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C4AA-83FE-58CA-034E-C0543E11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98811-6ADF-0F6B-E4A6-6455820C9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29259-5BBD-B865-ABE1-3319AADD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15C93-D104-A2F1-4957-20A93DC73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AFE20-01EC-6766-EFF2-A74E0EE65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4A49B-F32B-2426-B342-9D561F6E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C0D08-D28D-78DB-57C1-1708BC42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FFC80-84BB-3AF7-021F-0378ED2D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3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347B-FC6C-0ACC-1325-EB58F935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6DF3-E253-3B1C-4AEE-EA10347B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55CC0-5110-7014-2F6D-A8D5B120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34F2E-4D50-DD22-D25C-AB320595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2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391F5-02A5-38D4-8692-1462ACAA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3708C-1646-A151-1DC0-B2D5D467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4F345-24F0-5515-1DF4-6D63C80C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5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F4E6-8BF2-078D-29EF-E9F0B274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F5A6-0162-2889-4898-080FD186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B6591-A3DD-D652-6C65-FF656773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DE49B-4774-EEC5-E7AF-25495778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9C50E-39BD-7F10-E830-13C6381E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47016-8C98-908D-1522-F6B2634E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8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D48B-9C21-52AE-848E-3E2F43F7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0AFBE-3E92-E8C7-F0C0-7A48524DF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F3E7E-757C-0F69-2D1C-591B0B1D6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D75A2-078B-5496-EB44-54677110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232F9-726A-B24F-7417-E17517B8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38DE9-F094-3F07-0FCE-A689A986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9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9789-FC1C-CF51-724E-2779CC6F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D6299-21E7-1DE3-BBD7-27E4AA947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5C085-1F33-5916-40F3-E6411B74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6D218-AFFF-CF09-383F-5456223C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779B1-4266-6C42-FC78-C5EC121A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6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464C70-BDC3-0ED7-9E3E-62AEC3A18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B32DE-5FFE-CAAA-B268-E79F883C8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8860B-FC2D-4B91-6012-60AFDCA3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D7E7B-E02F-5BE0-F612-37371193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F3A2D-2786-425A-FC51-93BE5088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0F23"/>
            </a:gs>
            <a:gs pos="100000">
              <a:srgbClr val="1A1A3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E3481B-8DC1-5566-1BE1-964D9796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AC35A-B317-DAD0-DF23-AFAFF4640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981D-2E8A-6207-4877-A32FC71EE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A6D98-D4B9-A04E-8302-6DFFBF71A8E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5620-B7BE-E353-F564-E4E78AF31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191EA-9E23-2732-2AA3-018C4EBB8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588F0-CE10-A748-93FD-5084FF613F50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AccentBar"/>
          <p:cNvSpPr>
            <a:spLocks noGrp="1"/>
          </p:cNvSpPr>
          <p:nvPr/>
        </p:nvSpPr>
        <p:spPr>
          <a:xfrm>
            <a:off x="0" y="4937143"/>
            <a:ext cx="9144000" cy="114300"/>
          </a:xfrm>
          <a:prstGeom prst="rect">
            <a:avLst/>
          </a:prstGeom>
          <a:gradFill>
            <a:gsLst>
              <a:gs pos="0">
                <a:srgbClr val="CC785C"/>
              </a:gs>
              <a:gs pos="50000">
                <a:srgbClr val="7B68EE"/>
              </a:gs>
              <a:gs pos="100000">
                <a:srgbClr val="00BFA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42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AF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8EAF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8EAF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AF6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AF6"/>
          </a:solidFill>
        </a:defRPr>
      </a:defPPr>
      <a:lvl1pPr marL="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8EAF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lowCircle"/>
          <p:cNvSpPr/>
          <p:nvPr/>
        </p:nvSpPr>
        <p:spPr>
          <a:xfrm>
            <a:off x="5943600" y="-228600"/>
            <a:ext cx="4114800" cy="4114800"/>
          </a:xfrm>
          <a:prstGeom prst="ellipse">
            <a:avLst/>
          </a:prstGeom>
          <a:gradFill>
            <a:gsLst>
              <a:gs pos="0">
                <a:srgbClr val="CC785C">
                  <a:alpha val="25000"/>
                </a:srgbClr>
              </a:gs>
              <a:gs pos="100000">
                <a:srgbClr val="7B68EE">
                  <a:alpha val="5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yebrowTag"/>
          <p:cNvSpPr/>
          <p:nvPr/>
        </p:nvSpPr>
        <p:spPr>
          <a:xfrm>
            <a:off x="457200" y="457200"/>
            <a:ext cx="2400300" cy="342900"/>
          </a:xfrm>
          <a:prstGeom prst="roundRect">
            <a:avLst>
              <a:gd name="adj" fmla="val 16667"/>
            </a:avLst>
          </a:prstGeom>
          <a:solidFill>
            <a:srgbClr val="CC785C">
              <a:alpha val="85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✨  PRODUCT OVERVIEW</a:t>
            </a:r>
          </a:p>
        </p:txBody>
      </p:sp>
      <p:sp>
        <p:nvSpPr>
          <p:cNvPr id="12" name="MainTitle"/>
          <p:cNvSpPr/>
          <p:nvPr/>
        </p:nvSpPr>
        <p:spPr>
          <a:xfrm>
            <a:off x="457200" y="914400"/>
            <a:ext cx="51435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Everything</a:t>
            </a:r>
          </a:p>
          <a:p>
            <a:pPr algn="l">
              <a:buNone/>
            </a:pPr>
            <a:r>
              <a:rPr lang="en-US" sz="4400" b="1" dirty="0">
                <a:solidFill>
                  <a:srgbClr val="CC785C"/>
                </a:solidFill>
              </a:rPr>
              <a:t>Claude</a:t>
            </a:r>
            <a:r>
              <a:rPr lang="en-US" sz="4400" b="1" dirty="0">
                <a:solidFill>
                  <a:srgbClr val="FFFFFF"/>
                </a:solidFill>
              </a:rPr>
              <a:t> Can Do</a:t>
            </a:r>
          </a:p>
        </p:txBody>
      </p:sp>
      <p:sp>
        <p:nvSpPr>
          <p:cNvPr id="13" name="Subtitle"/>
          <p:cNvSpPr/>
          <p:nvPr/>
        </p:nvSpPr>
        <p:spPr>
          <a:xfrm>
            <a:off x="457200" y="2628600"/>
            <a:ext cx="5143500" cy="342900"/>
          </a:xfrm>
          <a:prstGeom prst="rect">
            <a:avLst/>
          </a:prstGeom>
          <a:noFill/>
        </p:spPr>
        <p:txBody>
          <a:bodyPr anchor="t"/>
          <a:lstStyle/>
          <a:p>
            <a:pPr algn="l">
              <a:buNone/>
            </a:pPr>
            <a:r>
              <a:rPr lang="en-US" sz="1600" dirty="0">
                <a:solidFill>
                  <a:srgbClr val="B0B8D4"/>
                </a:solidFill>
              </a:rPr>
              <a:t>6 powerful features. One AI platform.</a:t>
            </a:r>
          </a:p>
        </p:txBody>
      </p:sp>
      <p:sp>
        <p:nvSpPr>
          <p:cNvPr id="20" name="Pill0"/>
          <p:cNvSpPr/>
          <p:nvPr/>
        </p:nvSpPr>
        <p:spPr>
          <a:xfrm>
            <a:off x="457200" y="30858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7B68EE">
              <a:alpha val="20000"/>
            </a:srgbClr>
          </a:solidFill>
          <a:ln w="19050">
            <a:solidFill>
              <a:srgbClr val="7B68EE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Chat</a:t>
            </a:r>
          </a:p>
        </p:txBody>
      </p:sp>
      <p:sp>
        <p:nvSpPr>
          <p:cNvPr id="21" name="Pill1"/>
          <p:cNvSpPr/>
          <p:nvPr/>
        </p:nvSpPr>
        <p:spPr>
          <a:xfrm>
            <a:off x="2114550" y="30858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00BFA5">
              <a:alpha val="20000"/>
            </a:srgbClr>
          </a:solidFill>
          <a:ln w="19050">
            <a:solidFill>
              <a:srgbClr val="00BFA5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Projects</a:t>
            </a:r>
          </a:p>
        </p:txBody>
      </p:sp>
      <p:sp>
        <p:nvSpPr>
          <p:cNvPr id="22" name="Pill2"/>
          <p:cNvSpPr/>
          <p:nvPr/>
        </p:nvSpPr>
        <p:spPr>
          <a:xfrm>
            <a:off x="3771900" y="30858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CC785C">
              <a:alpha val="20000"/>
            </a:srgbClr>
          </a:solidFill>
          <a:ln w="19050">
            <a:solidFill>
              <a:srgbClr val="CC785C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Artifacts</a:t>
            </a:r>
          </a:p>
        </p:txBody>
      </p:sp>
      <p:sp>
        <p:nvSpPr>
          <p:cNvPr id="23" name="Pill3"/>
          <p:cNvSpPr/>
          <p:nvPr/>
        </p:nvSpPr>
        <p:spPr>
          <a:xfrm>
            <a:off x="457200" y="35430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Coworkers</a:t>
            </a:r>
          </a:p>
        </p:txBody>
      </p:sp>
      <p:sp>
        <p:nvSpPr>
          <p:cNvPr id="24" name="Pill4"/>
          <p:cNvSpPr/>
          <p:nvPr/>
        </p:nvSpPr>
        <p:spPr>
          <a:xfrm>
            <a:off x="2114550" y="35430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App</a:t>
            </a:r>
          </a:p>
        </p:txBody>
      </p:sp>
      <p:sp>
        <p:nvSpPr>
          <p:cNvPr id="25" name="Pill5"/>
          <p:cNvSpPr/>
          <p:nvPr/>
        </p:nvSpPr>
        <p:spPr>
          <a:xfrm>
            <a:off x="3771900" y="3543000"/>
            <a:ext cx="1542450" cy="342900"/>
          </a:xfrm>
          <a:prstGeom prst="roundRect">
            <a:avLst>
              <a:gd name="adj" fmla="val 16667"/>
            </a:avLst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Code</a:t>
            </a:r>
          </a:p>
        </p:txBody>
      </p:sp>
      <p:sp>
        <p:nvSpPr>
          <p:cNvPr id="30" name="StatBox"/>
          <p:cNvSpPr/>
          <p:nvPr/>
        </p:nvSpPr>
        <p:spPr>
          <a:xfrm>
            <a:off x="7143150" y="850333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0000"/>
              </a:srgbClr>
            </a:solidFill>
          </a:ln>
        </p:spPr>
        <p:txBody>
          <a:bodyPr lIns="228600" rIns="228600" anchor="ctr"/>
          <a:lstStyle/>
          <a:p>
            <a:pPr algn="ctr">
              <a:buNone/>
            </a:pPr>
            <a:r>
              <a:rPr lang="en-US" sz="7200" b="1" dirty="0">
                <a:solidFill>
                  <a:srgbClr val="CC785C"/>
                </a:solidFill>
              </a:rPr>
              <a:t>6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Features</a:t>
            </a:r>
          </a:p>
          <a:p>
            <a:pPr algn="ctr">
              <a:buNone/>
            </a:pPr>
            <a:r>
              <a:rPr lang="en-US" sz="1200" dirty="0">
                <a:solidFill>
                  <a:srgbClr val="B0B8D4"/>
                </a:solidFill>
              </a:rPr>
              <a:t>One platform.</a:t>
            </a:r>
          </a:p>
          <a:p>
            <a:pPr algn="ctr">
              <a:buNone/>
            </a:pPr>
            <a:r>
              <a:rPr lang="en-US" sz="1200" dirty="0">
                <a:solidFill>
                  <a:srgbClr val="B0B8D4"/>
                </a:solidFill>
              </a:rPr>
              <a:t>Infinite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360480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50800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💬 Chat</a:t>
            </a:r>
          </a:p>
        </p:txBody>
      </p:sp>
      <p:sp>
        <p:nvSpPr>
          <p:cNvPr id="5" name="Tagline"/>
          <p:cNvSpPr/>
          <p:nvPr/>
        </p:nvSpPr>
        <p:spPr>
          <a:xfrm>
            <a:off x="800100" y="838200"/>
            <a:ext cx="36576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7B68EE"/>
                </a:solidFill>
              </a:rPr>
              <a:t>Your always-on AI conversation partner</a:t>
            </a:r>
          </a:p>
        </p:txBody>
      </p:sp>
      <p:sp>
        <p:nvSpPr>
          <p:cNvPr id="6" name="Desc"/>
          <p:cNvSpPr/>
          <p:nvPr/>
        </p:nvSpPr>
        <p:spPr>
          <a:xfrm>
            <a:off x="228600" y="1346200"/>
            <a:ext cx="41148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1400" dirty="0">
                <a:solidFill>
                  <a:srgbClr val="B0B8D4"/>
                </a:solidFill>
              </a:rPr>
              <a:t>Ask anything. Get instant answers. Supports files, images, and web search.</a:t>
            </a:r>
          </a:p>
        </p:txBody>
      </p:sp>
      <p:sp>
        <p:nvSpPr>
          <p:cNvPr id="10" name="Card0"/>
          <p:cNvSpPr/>
          <p:nvPr/>
        </p:nvSpPr>
        <p:spPr>
          <a:xfrm>
            <a:off x="342900" y="2292350"/>
            <a:ext cx="4114800" cy="74295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Research &amp; Analysis</a:t>
            </a:r>
          </a:p>
          <a:p>
            <a:pPr algn="l">
              <a:buNone/>
            </a:pPr>
            <a:r>
              <a:rPr lang="en-US" sz="1200" i="1" dirty="0">
                <a:solidFill>
                  <a:srgbClr val="B0B8D4"/>
                </a:solidFill>
              </a:rPr>
              <a:t>"Summarize this 50-page report and highlight the 3 biggest risks"</a:t>
            </a:r>
          </a:p>
        </p:txBody>
      </p:sp>
      <p:sp>
        <p:nvSpPr>
          <p:cNvPr id="11" name="Card1"/>
          <p:cNvSpPr/>
          <p:nvPr/>
        </p:nvSpPr>
        <p:spPr>
          <a:xfrm>
            <a:off x="342900" y="3092450"/>
            <a:ext cx="4114800" cy="74295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Writing &amp; Editing</a:t>
            </a:r>
          </a:p>
          <a:p>
            <a:pPr algn="l">
              <a:buNone/>
            </a:pPr>
            <a:r>
              <a:rPr lang="en-US" sz="1200" i="1" dirty="0">
                <a:solidFill>
                  <a:srgbClr val="B0B8D4"/>
                </a:solidFill>
              </a:rPr>
              <a:t>"Rewrite this email to be more concise and professional"</a:t>
            </a:r>
          </a:p>
        </p:txBody>
      </p:sp>
      <p:sp>
        <p:nvSpPr>
          <p:cNvPr id="12" name="Card2"/>
          <p:cNvSpPr/>
          <p:nvPr/>
        </p:nvSpPr>
        <p:spPr>
          <a:xfrm>
            <a:off x="342900" y="3892550"/>
            <a:ext cx="4114800" cy="74295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Q&amp;A &amp; Brainstorm</a:t>
            </a:r>
          </a:p>
          <a:p>
            <a:pPr algn="l">
              <a:buNone/>
            </a:pPr>
            <a:r>
              <a:rPr lang="en-US" sz="1200" i="1" dirty="0">
                <a:solidFill>
                  <a:srgbClr val="B0B8D4"/>
                </a:solidFill>
              </a:rPr>
              <a:t>"Give me 10 creative names for my new fintech startup"</a:t>
            </a:r>
          </a:p>
        </p:txBody>
      </p:sp>
      <p:sp>
        <p:nvSpPr>
          <p:cNvPr id="20" name="ChatWindow"/>
          <p:cNvSpPr/>
          <p:nvPr/>
        </p:nvSpPr>
        <p:spPr>
          <a:xfrm>
            <a:off x="6409975" y="317500"/>
            <a:ext cx="4114800" cy="4457700"/>
          </a:xfrm>
          <a:prstGeom prst="roundRect">
            <a:avLst>
              <a:gd name="adj" fmla="val 3000"/>
            </a:avLst>
          </a:prstGeom>
          <a:solidFill>
            <a:srgbClr val="0D0D1A"/>
          </a:solidFill>
          <a:ln w="19050">
            <a:solidFill>
              <a:srgbClr val="7B68EE">
                <a:alpha val="60000"/>
              </a:srgbClr>
            </a:solidFill>
          </a:ln>
        </p:spPr>
        <p:txBody>
          <a:bodyPr lIns="228600" tIns="228600" rIns="228600" anchor="t"/>
          <a:lstStyle/>
          <a:p>
            <a:pPr algn="l">
              <a:buNone/>
            </a:pPr>
            <a:r>
              <a:rPr lang="en-US" sz="1000" b="1" dirty="0">
                <a:solidFill>
                  <a:srgbClr val="7B68EE"/>
                </a:solidFill>
              </a:rPr>
              <a:t>● ● ●  Claude Chat</a:t>
            </a:r>
          </a:p>
          <a:p>
            <a:pPr algn="l">
              <a:buNone/>
            </a:pPr>
            <a:r>
              <a:rPr lang="en-US" sz="1000" dirty="0">
                <a:solidFill>
                  <a:srgbClr val="7B68EE"/>
                </a:solidFill>
              </a:rPr>
              <a:t>─────────────────────</a:t>
            </a:r>
          </a:p>
          <a:p>
            <a:pPr algn="r">
              <a:buNone/>
            </a:pPr>
            <a:r>
              <a:rPr lang="en-US" sz="1100" dirty="0">
                <a:solidFill>
                  <a:srgbClr val="B0B8D4"/>
                </a:solidFill>
              </a:rPr>
              <a:t>You: Summarize this PDF for me 📎</a:t>
            </a:r>
          </a:p>
          <a:p>
            <a:pPr algn="l">
              <a:buNone/>
            </a:pPr>
            <a:r>
              <a:rPr lang="en-US" sz="1000" b="1" dirty="0">
                <a:solidFill>
                  <a:srgbClr val="7B68EE"/>
                </a:solidFill>
              </a:rPr>
              <a:t>Claude: </a:t>
            </a:r>
            <a:r>
              <a:rPr lang="en-US" sz="1100" dirty="0">
                <a:solidFill>
                  <a:srgbClr val="E8EAF6"/>
                </a:solidFill>
              </a:rPr>
              <a:t>Here are the 5 key takeaways from your document...</a:t>
            </a:r>
          </a:p>
          <a:p>
            <a:pPr algn="l">
              <a:buNone/>
            </a:pPr>
            <a:r>
              <a:rPr lang="en-US" sz="1100" dirty="0">
                <a:solidFill>
                  <a:srgbClr val="E8EAF6"/>
                </a:solidFill>
              </a:rPr>
              <a:t>1. Revenue grew 42% YoY</a:t>
            </a:r>
          </a:p>
          <a:p>
            <a:pPr algn="l">
              <a:buNone/>
            </a:pPr>
            <a:r>
              <a:rPr lang="en-US" sz="1100" dirty="0">
                <a:solidFill>
                  <a:srgbClr val="E8EAF6"/>
                </a:solidFill>
              </a:rPr>
              <a:t>2. Top market: North America (68%)</a:t>
            </a:r>
          </a:p>
          <a:p>
            <a:pPr algn="l">
              <a:buNone/>
            </a:pPr>
            <a:r>
              <a:rPr lang="en-US" sz="1100" dirty="0">
                <a:solidFill>
                  <a:srgbClr val="E8EAF6"/>
                </a:solidFill>
              </a:rPr>
              <a:t>3. Main risk: supply chain delays...</a:t>
            </a:r>
          </a:p>
          <a:p>
            <a:pPr algn="r">
              <a:buNone/>
            </a:pPr>
            <a:r>
              <a:rPr lang="en-US" sz="1100" dirty="0">
                <a:solidFill>
                  <a:srgbClr val="B0B8D4"/>
                </a:solidFill>
              </a:rPr>
              <a:t>You: Can you make it shorter?</a:t>
            </a:r>
          </a:p>
          <a:p>
            <a:pPr algn="l">
              <a:buNone/>
            </a:pPr>
            <a:r>
              <a:rPr lang="en-US" sz="1000" b="1" dirty="0">
                <a:solidFill>
                  <a:srgbClr val="7B68EE"/>
                </a:solidFill>
              </a:rPr>
              <a:t>Claude: </a:t>
            </a:r>
            <a:r>
              <a:rPr lang="en-US" sz="1100" dirty="0">
                <a:solidFill>
                  <a:srgbClr val="E8EAF6"/>
                </a:solidFill>
              </a:rPr>
              <a:t>Of course! TL;DR: Strong 42% growth driven by North American expansion, with supply chain as the key risk to watch. 🚀</a:t>
            </a:r>
          </a:p>
        </p:txBody>
      </p:sp>
    </p:spTree>
    <p:extLst>
      <p:ext uri="{BB962C8B-B14F-4D97-AF65-F5344CB8AC3E}">
        <p14:creationId xmlns:p14="http://schemas.microsoft.com/office/powerpoint/2010/main" val="243908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50800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📁 Projects</a:t>
            </a:r>
          </a:p>
        </p:txBody>
      </p:sp>
      <p:sp>
        <p:nvSpPr>
          <p:cNvPr id="5" name="Tagline"/>
          <p:cNvSpPr/>
          <p:nvPr/>
        </p:nvSpPr>
        <p:spPr>
          <a:xfrm>
            <a:off x="342900" y="958850"/>
            <a:ext cx="36576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00BFA5"/>
                </a:solidFill>
              </a:rPr>
              <a:t>Persistent context for long-running work</a:t>
            </a:r>
          </a:p>
        </p:txBody>
      </p:sp>
      <p:sp>
        <p:nvSpPr>
          <p:cNvPr id="6" name="SectionHeader"/>
          <p:cNvSpPr/>
          <p:nvPr/>
        </p:nvSpPr>
        <p:spPr>
          <a:xfrm>
            <a:off x="228600" y="1733550"/>
            <a:ext cx="4114800" cy="228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200" b="1" dirty="0">
                <a:solidFill>
                  <a:srgbClr val="00BFA5"/>
                </a:solidFill>
              </a:rPr>
              <a:t>WHAT PROJECTS DO</a:t>
            </a:r>
          </a:p>
        </p:txBody>
      </p:sp>
      <p:sp>
        <p:nvSpPr>
          <p:cNvPr id="10" name="Feat0"/>
          <p:cNvSpPr/>
          <p:nvPr/>
        </p:nvSpPr>
        <p:spPr>
          <a:xfrm>
            <a:off x="342900" y="22352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1A2040"/>
          </a:solidFill>
          <a:ln w="12700">
            <a:solidFill>
              <a:srgbClr val="00BFA5">
                <a:alpha val="3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📌  Custom instructions that persist across all chats</a:t>
            </a:r>
          </a:p>
        </p:txBody>
      </p:sp>
      <p:sp>
        <p:nvSpPr>
          <p:cNvPr id="11" name="Feat1"/>
          <p:cNvSpPr/>
          <p:nvPr/>
        </p:nvSpPr>
        <p:spPr>
          <a:xfrm>
            <a:off x="342900" y="30353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1A2040"/>
          </a:solidFill>
          <a:ln w="12700">
            <a:solidFill>
              <a:srgbClr val="00BFA5">
                <a:alpha val="3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📎  Upload files once — Claude remembers them forever</a:t>
            </a:r>
          </a:p>
        </p:txBody>
      </p:sp>
      <p:sp>
        <p:nvSpPr>
          <p:cNvPr id="12" name="Feat2"/>
          <p:cNvSpPr/>
          <p:nvPr/>
        </p:nvSpPr>
        <p:spPr>
          <a:xfrm>
            <a:off x="342900" y="38354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1A2040"/>
          </a:solidFill>
          <a:ln w="12700">
            <a:solidFill>
              <a:srgbClr val="00BFA5">
                <a:alpha val="3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🗂️  Organize related conversations in one place</a:t>
            </a:r>
          </a:p>
        </p:txBody>
      </p:sp>
      <p:sp>
        <p:nvSpPr>
          <p:cNvPr id="13" name="Feat3"/>
          <p:cNvSpPr/>
          <p:nvPr/>
        </p:nvSpPr>
        <p:spPr>
          <a:xfrm>
            <a:off x="342900" y="46355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1A2040"/>
          </a:solidFill>
          <a:ln w="12700">
            <a:solidFill>
              <a:srgbClr val="00BFA5">
                <a:alpha val="3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🧠  Full project context across every session</a:t>
            </a:r>
          </a:p>
        </p:txBody>
      </p:sp>
      <p:sp>
        <p:nvSpPr>
          <p:cNvPr id="30" name="ProjectPanel"/>
          <p:cNvSpPr/>
          <p:nvPr/>
        </p:nvSpPr>
        <p:spPr>
          <a:xfrm>
            <a:off x="5234940" y="685800"/>
            <a:ext cx="3943952" cy="3300396"/>
          </a:xfrm>
          <a:prstGeom prst="roundRect">
            <a:avLst>
              <a:gd name="adj" fmla="val 3000"/>
            </a:avLst>
          </a:prstGeom>
          <a:solidFill>
            <a:srgbClr val="0D0D1A"/>
          </a:solidFill>
          <a:ln w="19050">
            <a:solidFill>
              <a:srgbClr val="00BFA5">
                <a:alpha val="60000"/>
              </a:srgbClr>
            </a:solidFill>
          </a:ln>
        </p:spPr>
        <p:txBody>
          <a:bodyPr lIns="228600" tIns="228600" rIns="228600" anchor="t"/>
          <a:lstStyle/>
          <a:p>
            <a:pPr algn="l">
              <a:buNone/>
            </a:pPr>
            <a:r>
              <a:rPr lang="en-US" sz="1000" b="1" dirty="0">
                <a:solidFill>
                  <a:srgbClr val="00BFA5"/>
                </a:solidFill>
              </a:rPr>
              <a:t>📁 Project: Q3 Marketing Campaign</a:t>
            </a:r>
          </a:p>
          <a:p>
            <a:pPr algn="l">
              <a:buNone/>
            </a:pPr>
            <a:r>
              <a:rPr lang="en-US" sz="1000" dirty="0">
                <a:solidFill>
                  <a:srgbClr val="00BFA5"/>
                </a:solidFill>
              </a:rPr>
              <a:t>─────────────────────</a:t>
            </a:r>
          </a:p>
          <a:p>
            <a:pPr algn="l">
              <a:buNone/>
            </a:pPr>
            <a:r>
              <a:rPr lang="en-US" sz="1000" b="1" dirty="0">
                <a:solidFill>
                  <a:srgbClr val="B0B8D4"/>
                </a:solidFill>
              </a:rPr>
              <a:t>📌 Project Instructions:</a:t>
            </a:r>
          </a:p>
          <a:p>
            <a:pPr algn="l">
              <a:buNone/>
            </a:pPr>
            <a:r>
              <a:rPr lang="en-US" sz="1000" i="1" dirty="0">
                <a:solidFill>
                  <a:srgbClr val="B0B8D4"/>
                </a:solidFill>
              </a:rPr>
              <a:t>"Always write in our brand voice. Target audience: B2B SaaS. Use data-driven insights."</a:t>
            </a:r>
          </a:p>
          <a:p>
            <a:pPr algn="l">
              <a:buNone/>
            </a:pPr>
            <a:r>
              <a:rPr lang="en-US" sz="1000" b="1" dirty="0">
                <a:solidFill>
                  <a:srgbClr val="B0B8D4"/>
                </a:solidFill>
              </a:rPr>
              <a:t>📎 Files in Project: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brand-guidelines.pdf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competitor-analysis.xlsx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campaign-brief.docx</a:t>
            </a:r>
          </a:p>
          <a:p>
            <a:pPr algn="l">
              <a:buNone/>
            </a:pPr>
            <a:r>
              <a:rPr lang="en-US" sz="1000" b="1" dirty="0">
                <a:solidFill>
                  <a:srgbClr val="B0B8D4"/>
                </a:solidFill>
              </a:rPr>
              <a:t>💬 Conversations (12):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Blog post drafts (5)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Ad copy variations (4)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• Social media calendar (3)</a:t>
            </a:r>
          </a:p>
        </p:txBody>
      </p:sp>
    </p:spTree>
    <p:extLst>
      <p:ext uri="{BB962C8B-B14F-4D97-AF65-F5344CB8AC3E}">
        <p14:creationId xmlns:p14="http://schemas.microsoft.com/office/powerpoint/2010/main" val="26930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CC785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50800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🎨 Artifacts</a:t>
            </a:r>
          </a:p>
        </p:txBody>
      </p:sp>
      <p:sp>
        <p:nvSpPr>
          <p:cNvPr id="5" name="Tagline"/>
          <p:cNvSpPr/>
          <p:nvPr/>
        </p:nvSpPr>
        <p:spPr>
          <a:xfrm>
            <a:off x="800100" y="838200"/>
            <a:ext cx="36576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CC785C"/>
                </a:solidFill>
              </a:rPr>
              <a:t>Rich, interactive outputs you can use immediately</a:t>
            </a:r>
          </a:p>
        </p:txBody>
      </p:sp>
      <p:sp>
        <p:nvSpPr>
          <p:cNvPr id="10" name="ArtCard0"/>
          <p:cNvSpPr/>
          <p:nvPr/>
        </p:nvSpPr>
        <p:spPr>
          <a:xfrm>
            <a:off x="594359" y="155889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C785C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CC785C"/>
                </a:solidFill>
              </a:rPr>
              <a:t>📊  </a:t>
            </a:r>
            <a:r>
              <a:rPr lang="en-US" sz="1400" b="1" dirty="0">
                <a:solidFill>
                  <a:srgbClr val="FFFFFF"/>
                </a:solidFill>
              </a:rPr>
              <a:t>Data &amp; Charts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Interactive dashboards, live charts from your data</a:t>
            </a:r>
          </a:p>
        </p:txBody>
      </p:sp>
      <p:sp>
        <p:nvSpPr>
          <p:cNvPr id="11" name="ArtCard1"/>
          <p:cNvSpPr/>
          <p:nvPr/>
        </p:nvSpPr>
        <p:spPr>
          <a:xfrm>
            <a:off x="3074067" y="155889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7B68EE"/>
                </a:solidFill>
              </a:rPr>
              <a:t>🖥️  </a:t>
            </a:r>
            <a:r>
              <a:rPr lang="en-US" sz="1400" b="1" dirty="0">
                <a:solidFill>
                  <a:srgbClr val="FFFFFF"/>
                </a:solidFill>
              </a:rPr>
              <a:t>Web Apps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Working HTML/CSS/JS apps built and run in-browser</a:t>
            </a:r>
          </a:p>
        </p:txBody>
      </p:sp>
      <p:sp>
        <p:nvSpPr>
          <p:cNvPr id="12" name="ArtCard2"/>
          <p:cNvSpPr/>
          <p:nvPr/>
        </p:nvSpPr>
        <p:spPr>
          <a:xfrm>
            <a:off x="594359" y="267014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00BFA5"/>
                </a:solidFill>
              </a:rPr>
              <a:t>📝  </a:t>
            </a:r>
            <a:r>
              <a:rPr lang="en-US" sz="1400" b="1" dirty="0">
                <a:solidFill>
                  <a:srgbClr val="FFFFFF"/>
                </a:solidFill>
              </a:rPr>
              <a:t>Documents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Formatted reports, essays, long-form content</a:t>
            </a:r>
          </a:p>
        </p:txBody>
      </p:sp>
      <p:sp>
        <p:nvSpPr>
          <p:cNvPr id="13" name="ArtCard3"/>
          <p:cNvSpPr/>
          <p:nvPr/>
        </p:nvSpPr>
        <p:spPr>
          <a:xfrm>
            <a:off x="3074067" y="267014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06D6A0"/>
                </a:solidFill>
              </a:rPr>
              <a:t>💻  </a:t>
            </a:r>
            <a:r>
              <a:rPr lang="en-US" sz="1400" b="1" dirty="0">
                <a:solidFill>
                  <a:srgbClr val="FFFFFF"/>
                </a:solidFill>
              </a:rPr>
              <a:t>Code Files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Production-ready scripts, components, functions</a:t>
            </a:r>
          </a:p>
        </p:txBody>
      </p:sp>
      <p:sp>
        <p:nvSpPr>
          <p:cNvPr id="14" name="ArtCard4"/>
          <p:cNvSpPr/>
          <p:nvPr/>
        </p:nvSpPr>
        <p:spPr>
          <a:xfrm>
            <a:off x="594359" y="378139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FF6B6B"/>
                </a:solidFill>
              </a:rPr>
              <a:t>🖼️  </a:t>
            </a:r>
            <a:r>
              <a:rPr lang="en-US" sz="1400" b="1" dirty="0">
                <a:solidFill>
                  <a:srgbClr val="FFFFFF"/>
                </a:solidFill>
              </a:rPr>
              <a:t>SVG Graphics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Custom vector illustrations and diagrams</a:t>
            </a:r>
          </a:p>
        </p:txBody>
      </p:sp>
      <p:sp>
        <p:nvSpPr>
          <p:cNvPr id="15" name="ArtCard5"/>
          <p:cNvSpPr/>
          <p:nvPr/>
        </p:nvSpPr>
        <p:spPr>
          <a:xfrm>
            <a:off x="3074067" y="3781392"/>
            <a:ext cx="2152449" cy="8001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D166">
                <a:alpha val="4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FFD166"/>
                </a:solidFill>
              </a:rPr>
              <a:t>🔢  </a:t>
            </a:r>
            <a:r>
              <a:rPr lang="en-US" sz="1400" b="1" dirty="0">
                <a:solidFill>
                  <a:srgbClr val="FFFFFF"/>
                </a:solidFill>
              </a:rPr>
              <a:t>Spreadsheets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Excel-ready tables with formulas and data</a:t>
            </a:r>
          </a:p>
        </p:txBody>
      </p:sp>
      <p:sp>
        <p:nvSpPr>
          <p:cNvPr id="30" name="ExamplePanel"/>
          <p:cNvSpPr/>
          <p:nvPr/>
        </p:nvSpPr>
        <p:spPr>
          <a:xfrm>
            <a:off x="6296126" y="946150"/>
            <a:ext cx="4228650" cy="4457700"/>
          </a:xfrm>
          <a:prstGeom prst="roundRect">
            <a:avLst>
              <a:gd name="adj" fmla="val 3000"/>
            </a:avLst>
          </a:prstGeom>
          <a:solidFill>
            <a:srgbClr val="0D0D1A"/>
          </a:solidFill>
          <a:ln w="19050">
            <a:solidFill>
              <a:srgbClr val="CC785C">
                <a:alpha val="60000"/>
              </a:srgbClr>
            </a:solidFill>
          </a:ln>
        </p:spPr>
        <p:txBody>
          <a:bodyPr lIns="228600" tIns="228600" rIns="228600" anchor="t"/>
          <a:lstStyle/>
          <a:p>
            <a:pPr algn="l">
              <a:buNone/>
            </a:pPr>
            <a:r>
              <a:rPr lang="en-US" sz="1000" b="1" dirty="0">
                <a:solidFill>
                  <a:srgbClr val="CC785C"/>
                </a:solidFill>
              </a:rPr>
              <a:t>LIVE EXAMPLE: Web App Artifact</a:t>
            </a:r>
          </a:p>
          <a:p>
            <a:pPr algn="l">
              <a:buNone/>
            </a:pPr>
            <a:r>
              <a:rPr lang="en-US" sz="1000" dirty="0">
                <a:solidFill>
                  <a:srgbClr val="CC785C"/>
                </a:solidFill>
              </a:rPr>
              <a:t>─────────────────────</a:t>
            </a:r>
          </a:p>
          <a:p>
            <a:pPr algn="l">
              <a:buNone/>
            </a:pPr>
            <a:r>
              <a:rPr lang="en-US" sz="1000" b="1" dirty="0">
                <a:solidFill>
                  <a:srgbClr val="B0B8D4"/>
                </a:solidFill>
              </a:rPr>
              <a:t>Prompt: </a:t>
            </a:r>
            <a:r>
              <a:rPr lang="en-US" sz="1000" i="1" dirty="0">
                <a:solidFill>
                  <a:srgbClr val="B0B8D4"/>
                </a:solidFill>
              </a:rPr>
              <a:t>"Build me a BMI calculator app"</a:t>
            </a:r>
          </a:p>
          <a:p>
            <a:pPr algn="l">
              <a:buNone/>
            </a:pPr>
            <a:r>
              <a:rPr lang="en-US" sz="1000" b="1" dirty="0">
                <a:solidFill>
                  <a:srgbClr val="CC785C"/>
                </a:solidFill>
              </a:rPr>
              <a:t>Result: </a:t>
            </a:r>
            <a:r>
              <a:rPr lang="en-US" sz="1000" dirty="0">
                <a:solidFill>
                  <a:srgbClr val="E8EAF6"/>
                </a:solidFill>
              </a:rPr>
              <a:t>Fully functional app, rendered live!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┌─────────────────────┐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│  BMI Calculator        │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│  Height: [_____] cm   │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│  Weight: [_____] kg   │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│  [  Calculate BMI  ]  │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│  Result: 22.5 (Normal)│</a:t>
            </a:r>
          </a:p>
          <a:p>
            <a:pPr algn="l">
              <a:buNone/>
            </a:pPr>
            <a:r>
              <a:rPr lang="en-US" sz="1000" dirty="0">
                <a:solidFill>
                  <a:srgbClr val="06D6A0"/>
                </a:solidFill>
              </a:rPr>
              <a:t>└─────────────────────┘</a:t>
            </a:r>
          </a:p>
          <a:p>
            <a:pPr algn="l">
              <a:buNone/>
            </a:pPr>
            <a:r>
              <a:rPr lang="en-US" sz="1000" dirty="0">
                <a:solidFill>
                  <a:srgbClr val="B0B8D4"/>
                </a:solidFill>
              </a:rPr>
              <a:t>No deployment needed. Runs right in Claude!</a:t>
            </a:r>
          </a:p>
        </p:txBody>
      </p:sp>
    </p:spTree>
    <p:extLst>
      <p:ext uri="{BB962C8B-B14F-4D97-AF65-F5344CB8AC3E}">
        <p14:creationId xmlns:p14="http://schemas.microsoft.com/office/powerpoint/2010/main" val="15406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76200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👥 Coworkers &amp; Teams</a:t>
            </a:r>
          </a:p>
        </p:txBody>
      </p:sp>
      <p:sp>
        <p:nvSpPr>
          <p:cNvPr id="5" name="Tagline"/>
          <p:cNvSpPr/>
          <p:nvPr/>
        </p:nvSpPr>
        <p:spPr>
          <a:xfrm>
            <a:off x="800100" y="838200"/>
            <a:ext cx="49149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FF6B6B"/>
                </a:solidFill>
              </a:rPr>
              <a:t>Claude as a shared AI teammate for your whole organization</a:t>
            </a:r>
          </a:p>
        </p:txBody>
      </p:sp>
      <p:sp>
        <p:nvSpPr>
          <p:cNvPr id="6" name="HowHeader"/>
          <p:cNvSpPr/>
          <p:nvPr/>
        </p:nvSpPr>
        <p:spPr>
          <a:xfrm>
            <a:off x="1753050" y="1657350"/>
            <a:ext cx="4114800" cy="228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HOW IT WORKS</a:t>
            </a:r>
          </a:p>
        </p:txBody>
      </p:sp>
      <p:sp>
        <p:nvSpPr>
          <p:cNvPr id="10" name="StepNum0"/>
          <p:cNvSpPr/>
          <p:nvPr/>
        </p:nvSpPr>
        <p:spPr>
          <a:xfrm>
            <a:off x="1753050" y="1943100"/>
            <a:ext cx="342900" cy="57150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tepText0"/>
          <p:cNvSpPr/>
          <p:nvPr/>
        </p:nvSpPr>
        <p:spPr>
          <a:xfrm>
            <a:off x="2210250" y="1943100"/>
            <a:ext cx="365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Create a shared Claude workspace for your team</a:t>
            </a:r>
          </a:p>
        </p:txBody>
      </p:sp>
      <p:sp>
        <p:nvSpPr>
          <p:cNvPr id="12" name="StepNum1"/>
          <p:cNvSpPr/>
          <p:nvPr/>
        </p:nvSpPr>
        <p:spPr>
          <a:xfrm>
            <a:off x="1753050" y="2628900"/>
            <a:ext cx="342900" cy="57150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Text1"/>
          <p:cNvSpPr/>
          <p:nvPr/>
        </p:nvSpPr>
        <p:spPr>
          <a:xfrm>
            <a:off x="2210250" y="2628900"/>
            <a:ext cx="365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Invite colleagues - everyone gets access to the same AI</a:t>
            </a:r>
          </a:p>
        </p:txBody>
      </p:sp>
      <p:sp>
        <p:nvSpPr>
          <p:cNvPr id="14" name="StepNum2"/>
          <p:cNvSpPr/>
          <p:nvPr/>
        </p:nvSpPr>
        <p:spPr>
          <a:xfrm>
            <a:off x="1753050" y="3314700"/>
            <a:ext cx="342900" cy="57150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Text2"/>
          <p:cNvSpPr/>
          <p:nvPr/>
        </p:nvSpPr>
        <p:spPr>
          <a:xfrm>
            <a:off x="2210250" y="3314700"/>
            <a:ext cx="365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Share projects, conversations, and custom instructions</a:t>
            </a:r>
          </a:p>
        </p:txBody>
      </p:sp>
      <p:sp>
        <p:nvSpPr>
          <p:cNvPr id="16" name="StepNum3"/>
          <p:cNvSpPr/>
          <p:nvPr/>
        </p:nvSpPr>
        <p:spPr>
          <a:xfrm>
            <a:off x="1753050" y="4000500"/>
            <a:ext cx="342900" cy="57150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StepText3"/>
          <p:cNvSpPr/>
          <p:nvPr/>
        </p:nvSpPr>
        <p:spPr>
          <a:xfrm>
            <a:off x="2210250" y="4000500"/>
            <a:ext cx="3657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400" dirty="0">
                <a:solidFill>
                  <a:srgbClr val="E8EAF6"/>
                </a:solidFill>
              </a:rPr>
              <a:t>Build org-wide knowledge that Claude learns from</a:t>
            </a:r>
          </a:p>
        </p:txBody>
      </p:sp>
      <p:sp>
        <p:nvSpPr>
          <p:cNvPr id="40" name="UCHeader"/>
          <p:cNvSpPr/>
          <p:nvPr/>
        </p:nvSpPr>
        <p:spPr>
          <a:xfrm>
            <a:off x="6096000" y="1657350"/>
            <a:ext cx="4114800" cy="228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200" b="1" dirty="0">
                <a:solidFill>
                  <a:srgbClr val="FF6B6B"/>
                </a:solidFill>
              </a:rPr>
              <a:t>TEAM USE CASES</a:t>
            </a:r>
          </a:p>
        </p:txBody>
      </p:sp>
      <p:sp>
        <p:nvSpPr>
          <p:cNvPr id="50" name="UCCard0"/>
          <p:cNvSpPr/>
          <p:nvPr/>
        </p:nvSpPr>
        <p:spPr>
          <a:xfrm>
            <a:off x="6096000" y="19431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Sales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Team shares deal coaching scripts and objection handling</a:t>
            </a:r>
          </a:p>
        </p:txBody>
      </p:sp>
      <p:sp>
        <p:nvSpPr>
          <p:cNvPr id="51" name="UCCard1"/>
          <p:cNvSpPr/>
          <p:nvPr/>
        </p:nvSpPr>
        <p:spPr>
          <a:xfrm>
            <a:off x="6096000" y="27432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Engineering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Shared coding standards and review templates</a:t>
            </a:r>
          </a:p>
        </p:txBody>
      </p:sp>
      <p:sp>
        <p:nvSpPr>
          <p:cNvPr id="52" name="UCCard2"/>
          <p:cNvSpPr/>
          <p:nvPr/>
        </p:nvSpPr>
        <p:spPr>
          <a:xfrm>
            <a:off x="6096000" y="35433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📣 Marketing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Brand voice + campaigns accessible to all writers</a:t>
            </a:r>
          </a:p>
        </p:txBody>
      </p:sp>
      <p:sp>
        <p:nvSpPr>
          <p:cNvPr id="53" name="UCCard3"/>
          <p:cNvSpPr/>
          <p:nvPr/>
        </p:nvSpPr>
        <p:spPr>
          <a:xfrm>
            <a:off x="6096000" y="434340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🧑‍💼 HR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Policy Q&amp;A bot trained on your employee handbook</a:t>
            </a:r>
          </a:p>
        </p:txBody>
      </p:sp>
    </p:spTree>
    <p:extLst>
      <p:ext uri="{BB962C8B-B14F-4D97-AF65-F5344CB8AC3E}">
        <p14:creationId xmlns:p14="http://schemas.microsoft.com/office/powerpoint/2010/main" val="276128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0F0F23"/>
                </a:solidFill>
              </a:rPr>
              <a:t>06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36195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Claude App</a:t>
            </a:r>
          </a:p>
        </p:txBody>
      </p:sp>
      <p:sp>
        <p:nvSpPr>
          <p:cNvPr id="5" name="Tagline"/>
          <p:cNvSpPr/>
          <p:nvPr/>
        </p:nvSpPr>
        <p:spPr>
          <a:xfrm>
            <a:off x="800100" y="838200"/>
            <a:ext cx="36195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FFD166"/>
                </a:solidFill>
              </a:rPr>
              <a:t>Claude everywhere - web, iOS, Android, and desktop</a:t>
            </a:r>
          </a:p>
        </p:txBody>
      </p:sp>
      <p:sp>
        <p:nvSpPr>
          <p:cNvPr id="10" name="PlatCard0"/>
          <p:cNvSpPr/>
          <p:nvPr/>
        </p:nvSpPr>
        <p:spPr>
          <a:xfrm>
            <a:off x="1139565" y="1597043"/>
            <a:ext cx="2057400" cy="85725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7B68EE">
                <a:alpha val="6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7B68EE"/>
                </a:solidFill>
              </a:rPr>
              <a:t>🌐  </a:t>
            </a:r>
            <a:r>
              <a:rPr lang="en-US" sz="1600" b="1" dirty="0">
                <a:solidFill>
                  <a:srgbClr val="FFFFFF"/>
                </a:solidFill>
              </a:rPr>
              <a:t>Web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claude.ai — full-featured browser experience</a:t>
            </a:r>
          </a:p>
        </p:txBody>
      </p:sp>
      <p:sp>
        <p:nvSpPr>
          <p:cNvPr id="11" name="PlatCard1"/>
          <p:cNvSpPr/>
          <p:nvPr/>
        </p:nvSpPr>
        <p:spPr>
          <a:xfrm>
            <a:off x="3339615" y="1597043"/>
            <a:ext cx="2057400" cy="85725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6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00BFA5"/>
                </a:solidFill>
              </a:rPr>
              <a:t>📱  </a:t>
            </a:r>
            <a:r>
              <a:rPr lang="en-US" sz="1600" b="1" dirty="0">
                <a:solidFill>
                  <a:srgbClr val="FFFFFF"/>
                </a:solidFill>
              </a:rPr>
              <a:t>Mobile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iOS + Android apps for on-the-go AI</a:t>
            </a:r>
          </a:p>
        </p:txBody>
      </p:sp>
      <p:sp>
        <p:nvSpPr>
          <p:cNvPr id="12" name="PlatCard2"/>
          <p:cNvSpPr/>
          <p:nvPr/>
        </p:nvSpPr>
        <p:spPr>
          <a:xfrm>
            <a:off x="1139565" y="2597842"/>
            <a:ext cx="2057400" cy="85725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C785C">
                <a:alpha val="6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CC785C"/>
                </a:solidFill>
              </a:rPr>
              <a:t>🖥️  </a:t>
            </a:r>
            <a:r>
              <a:rPr lang="en-US" sz="1600" b="1" dirty="0">
                <a:solidFill>
                  <a:srgbClr val="FFFFFF"/>
                </a:solidFill>
              </a:rPr>
              <a:t>Desktop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Mac + Windows native app with system integration</a:t>
            </a:r>
          </a:p>
        </p:txBody>
      </p:sp>
      <p:sp>
        <p:nvSpPr>
          <p:cNvPr id="13" name="PlatCard3"/>
          <p:cNvSpPr/>
          <p:nvPr/>
        </p:nvSpPr>
        <p:spPr>
          <a:xfrm>
            <a:off x="3339615" y="2597842"/>
            <a:ext cx="2057400" cy="85725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6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2000" dirty="0">
                <a:solidFill>
                  <a:srgbClr val="06D6A0"/>
                </a:solidFill>
              </a:rPr>
              <a:t>⌨️  </a:t>
            </a:r>
            <a:r>
              <a:rPr lang="en-US" sz="1600" b="1" dirty="0">
                <a:solidFill>
                  <a:srgbClr val="FFFFFF"/>
                </a:solidFill>
              </a:rPr>
              <a:t>API</a:t>
            </a:r>
          </a:p>
          <a:p>
            <a:pPr algn="l">
              <a:buNone/>
            </a:pPr>
            <a:r>
              <a:rPr lang="en-US" sz="1100" dirty="0">
                <a:solidFill>
                  <a:srgbClr val="B0B8D4"/>
                </a:solidFill>
              </a:rPr>
              <a:t>Embed Claude in your own apps + workflows</a:t>
            </a:r>
          </a:p>
        </p:txBody>
      </p:sp>
      <p:sp>
        <p:nvSpPr>
          <p:cNvPr id="30" name="KeyFeaturesPanel"/>
          <p:cNvSpPr/>
          <p:nvPr/>
        </p:nvSpPr>
        <p:spPr>
          <a:xfrm>
            <a:off x="6794986" y="457200"/>
            <a:ext cx="4114800" cy="4457700"/>
          </a:xfrm>
          <a:prstGeom prst="roundRect">
            <a:avLst>
              <a:gd name="adj" fmla="val 3000"/>
            </a:avLst>
          </a:prstGeom>
          <a:solidFill>
            <a:srgbClr val="0D0D1A"/>
          </a:solidFill>
          <a:ln w="19050">
            <a:solidFill>
              <a:srgbClr val="FFD166">
                <a:alpha val="60000"/>
              </a:srgbClr>
            </a:solidFill>
          </a:ln>
        </p:spPr>
        <p:txBody>
          <a:bodyPr lIns="228600" tIns="228600" rIns="228600" anchor="t"/>
          <a:lstStyle/>
          <a:p>
            <a:pPr algn="l">
              <a:buNone/>
            </a:pPr>
            <a:r>
              <a:rPr lang="en-US" sz="1200" b="1" dirty="0">
                <a:solidFill>
                  <a:srgbClr val="FFD166"/>
                </a:solidFill>
              </a:rPr>
              <a:t>STANDOUT FEATURES</a:t>
            </a:r>
          </a:p>
          <a:p>
            <a:pPr algn="l">
              <a:buNone/>
            </a:pPr>
            <a:r>
              <a:rPr lang="en-US" sz="1000" dirty="0">
                <a:solidFill>
                  <a:srgbClr val="FFD166"/>
                </a:solidFill>
              </a:rPr>
              <a:t>──────────────────────</a:t>
            </a:r>
          </a:p>
          <a:p>
            <a:pPr algn="l">
              <a:buNone/>
            </a:pPr>
            <a:r>
              <a:rPr lang="en-US" sz="1100" dirty="0">
                <a:solidFill>
                  <a:srgbClr val="06D6A0"/>
                </a:solidFill>
              </a:rPr>
              <a:t>🔍  </a:t>
            </a:r>
            <a:r>
              <a:rPr lang="en-US" sz="1100" b="1" dirty="0">
                <a:solidFill>
                  <a:srgbClr val="FFFFFF"/>
                </a:solidFill>
              </a:rPr>
              <a:t>Web Search</a:t>
            </a:r>
            <a:r>
              <a:rPr lang="en-US" sz="1100" dirty="0">
                <a:solidFill>
                  <a:srgbClr val="B0B8D4"/>
                </a:solidFill>
              </a:rPr>
              <a:t> — Real-time info</a:t>
            </a:r>
          </a:p>
          <a:p>
            <a:pPr algn="l">
              <a:buNone/>
            </a:pPr>
            <a:r>
              <a:rPr lang="en-US" sz="1100" dirty="0">
                <a:solidFill>
                  <a:srgbClr val="FF6B6B"/>
                </a:solidFill>
              </a:rPr>
              <a:t>📎  </a:t>
            </a:r>
            <a:r>
              <a:rPr lang="en-US" sz="1100" b="1" dirty="0">
                <a:solidFill>
                  <a:srgbClr val="FFFFFF"/>
                </a:solidFill>
              </a:rPr>
              <a:t>File Upload</a:t>
            </a:r>
            <a:r>
              <a:rPr lang="en-US" sz="1100" dirty="0">
                <a:solidFill>
                  <a:srgbClr val="B0B8D4"/>
                </a:solidFill>
              </a:rPr>
              <a:t> — PDFs, images, docs</a:t>
            </a:r>
          </a:p>
          <a:p>
            <a:pPr algn="l">
              <a:buNone/>
            </a:pPr>
            <a:r>
              <a:rPr lang="en-US" sz="1100" dirty="0">
                <a:solidFill>
                  <a:srgbClr val="7B68EE"/>
                </a:solidFill>
              </a:rPr>
              <a:t>🎤  </a:t>
            </a:r>
            <a:r>
              <a:rPr lang="en-US" sz="1100" b="1" dirty="0">
                <a:solidFill>
                  <a:srgbClr val="FFFFFF"/>
                </a:solidFill>
              </a:rPr>
              <a:t>Voice Input</a:t>
            </a:r>
            <a:r>
              <a:rPr lang="en-US" sz="1100" dirty="0">
                <a:solidFill>
                  <a:srgbClr val="B0B8D4"/>
                </a:solidFill>
              </a:rPr>
              <a:t> — Talk to Claude</a:t>
            </a:r>
          </a:p>
          <a:p>
            <a:pPr algn="l">
              <a:buNone/>
            </a:pPr>
            <a:r>
              <a:rPr lang="en-US" sz="1100" dirty="0">
                <a:solidFill>
                  <a:srgbClr val="00BFA5"/>
                </a:solidFill>
              </a:rPr>
              <a:t>👁️  </a:t>
            </a:r>
            <a:r>
              <a:rPr lang="en-US" sz="1100" b="1" dirty="0">
                <a:solidFill>
                  <a:srgbClr val="FFFFFF"/>
                </a:solidFill>
              </a:rPr>
              <a:t>Vision</a:t>
            </a:r>
            <a:r>
              <a:rPr lang="en-US" sz="1100" dirty="0">
                <a:solidFill>
                  <a:srgbClr val="B0B8D4"/>
                </a:solidFill>
              </a:rPr>
              <a:t> — Analyze images, charts, screenshots</a:t>
            </a:r>
          </a:p>
          <a:p>
            <a:pPr algn="l">
              <a:buNone/>
            </a:pPr>
            <a:r>
              <a:rPr lang="en-US" sz="1100" dirty="0">
                <a:solidFill>
                  <a:srgbClr val="FFD166"/>
                </a:solidFill>
              </a:rPr>
              <a:t>🔐  </a:t>
            </a:r>
            <a:r>
              <a:rPr lang="en-US" sz="1100" b="1" dirty="0">
                <a:solidFill>
                  <a:srgbClr val="FFFFFF"/>
                </a:solidFill>
              </a:rPr>
              <a:t>Privacy Controls</a:t>
            </a:r>
            <a:r>
              <a:rPr lang="en-US" sz="1100" dirty="0">
                <a:solidFill>
                  <a:srgbClr val="B0B8D4"/>
                </a:solidFill>
              </a:rPr>
              <a:t> — Manage your data</a:t>
            </a:r>
          </a:p>
          <a:p>
            <a:pPr algn="l">
              <a:buNone/>
            </a:pPr>
            <a:r>
              <a:rPr lang="en-US" sz="1100" dirty="0">
                <a:solidFill>
                  <a:srgbClr val="CC785C"/>
                </a:solidFill>
              </a:rPr>
              <a:t>⚙️  </a:t>
            </a:r>
            <a:r>
              <a:rPr lang="en-US" sz="1100" b="1" dirty="0">
                <a:solidFill>
                  <a:srgbClr val="FFFFFF"/>
                </a:solidFill>
              </a:rPr>
              <a:t>Custom Instructions</a:t>
            </a:r>
            <a:r>
              <a:rPr lang="en-US" sz="1100" dirty="0">
                <a:solidFill>
                  <a:srgbClr val="B0B8D4"/>
                </a:solidFill>
              </a:rPr>
              <a:t> — Personalize Claude's behavior</a:t>
            </a:r>
          </a:p>
          <a:p>
            <a:pPr algn="l">
              <a:buNone/>
            </a:pPr>
            <a:r>
              <a:rPr lang="en-US" sz="1000" dirty="0">
                <a:solidFill>
                  <a:srgbClr val="FFD166"/>
                </a:solidFill>
              </a:rPr>
              <a:t>──────────────────────</a:t>
            </a:r>
          </a:p>
          <a:p>
            <a:pPr algn="l">
              <a:buNone/>
            </a:pPr>
            <a:r>
              <a:rPr lang="en-US" sz="1000" i="1" dirty="0">
                <a:solidFill>
                  <a:srgbClr val="B0B8D4"/>
                </a:solidFill>
              </a:rPr>
              <a:t>Available on claude.ai — Free, Pro, and Team plans</a:t>
            </a:r>
          </a:p>
        </p:txBody>
      </p:sp>
      <p:sp>
        <p:nvSpPr>
          <p:cNvPr id="40" name="PlansBox"/>
          <p:cNvSpPr/>
          <p:nvPr/>
        </p:nvSpPr>
        <p:spPr>
          <a:xfrm>
            <a:off x="1139565" y="3660757"/>
            <a:ext cx="4228650" cy="1600200"/>
          </a:xfrm>
          <a:prstGeom prst="roundRect">
            <a:avLst>
              <a:gd name="adj" fmla="val 3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D166">
                <a:alpha val="30000"/>
              </a:srgbClr>
            </a:solidFill>
          </a:ln>
        </p:spPr>
        <p:txBody>
          <a:bodyPr lIns="228600" rIns="228600" anchor="ctr"/>
          <a:lstStyle/>
          <a:p>
            <a:pPr algn="l">
              <a:buNone/>
            </a:pPr>
            <a:r>
              <a:rPr lang="en-US" sz="1100" b="1" dirty="0">
                <a:solidFill>
                  <a:srgbClr val="FFD166"/>
                </a:solidFill>
              </a:rPr>
              <a:t>💡 PRO TIP</a:t>
            </a:r>
          </a:p>
          <a:p>
            <a:pPr algn="l">
              <a:buNone/>
            </a:pPr>
            <a:r>
              <a:rPr lang="en-US" sz="1200" dirty="0">
                <a:solidFill>
                  <a:srgbClr val="E8EAF6"/>
                </a:solidFill>
              </a:rPr>
              <a:t>Use the desktop app for quick keyboard shortcut access. Press </a:t>
            </a:r>
            <a:r>
              <a:rPr lang="en-US" sz="1200" b="1" dirty="0">
                <a:solidFill>
                  <a:srgbClr val="FFD166"/>
                </a:solidFill>
              </a:rPr>
              <a:t>Alt+Space</a:t>
            </a:r>
            <a:r>
              <a:rPr lang="en-US" sz="1200" dirty="0">
                <a:solidFill>
                  <a:srgbClr val="E8EAF6"/>
                </a:solidFill>
              </a:rPr>
              <a:t> to open Claude instantly from anywhere on your Mac.</a:t>
            </a:r>
          </a:p>
        </p:txBody>
      </p:sp>
    </p:spTree>
    <p:extLst>
      <p:ext uri="{BB962C8B-B14F-4D97-AF65-F5344CB8AC3E}">
        <p14:creationId xmlns:p14="http://schemas.microsoft.com/office/powerpoint/2010/main" val="369228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"/>
          <p:cNvSpPr/>
          <p:nvPr/>
        </p:nvSpPr>
        <p:spPr>
          <a:xfrm>
            <a:off x="0" y="0"/>
            <a:ext cx="22860" cy="4937143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adge"/>
          <p:cNvSpPr/>
          <p:nvPr/>
        </p:nvSpPr>
        <p:spPr>
          <a:xfrm>
            <a:off x="228600" y="22860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0F0F23"/>
                </a:solidFill>
              </a:rPr>
              <a:t>05</a:t>
            </a:r>
          </a:p>
        </p:txBody>
      </p:sp>
      <p:sp>
        <p:nvSpPr>
          <p:cNvPr id="4" name="FeatureTitle"/>
          <p:cNvSpPr/>
          <p:nvPr/>
        </p:nvSpPr>
        <p:spPr>
          <a:xfrm>
            <a:off x="800100" y="177800"/>
            <a:ext cx="5080000" cy="6096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💻 Code</a:t>
            </a:r>
          </a:p>
        </p:txBody>
      </p:sp>
      <p:sp>
        <p:nvSpPr>
          <p:cNvPr id="5" name="Tagline"/>
          <p:cNvSpPr/>
          <p:nvPr/>
        </p:nvSpPr>
        <p:spPr>
          <a:xfrm>
            <a:off x="800100" y="838200"/>
            <a:ext cx="34287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600" i="1" dirty="0">
                <a:solidFill>
                  <a:srgbClr val="06D6A0"/>
                </a:solidFill>
              </a:rPr>
              <a:t>Write, debug, explain, and optimize code in any language</a:t>
            </a:r>
          </a:p>
        </p:txBody>
      </p:sp>
      <p:sp>
        <p:nvSpPr>
          <p:cNvPr id="10" name="Cap0"/>
          <p:cNvSpPr/>
          <p:nvPr/>
        </p:nvSpPr>
        <p:spPr>
          <a:xfrm>
            <a:off x="685800" y="1622443"/>
            <a:ext cx="4228650" cy="571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3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1600" dirty="0">
                <a:solidFill>
                  <a:srgbClr val="06D6A0"/>
                </a:solidFill>
              </a:rPr>
              <a:t>✍️  </a:t>
            </a:r>
            <a:r>
              <a:rPr lang="en-US" sz="1400" b="1" dirty="0">
                <a:solidFill>
                  <a:srgbClr val="FFFFFF"/>
                </a:solidFill>
              </a:rPr>
              <a:t>Generate  </a:t>
            </a:r>
            <a:r>
              <a:rPr lang="en-US" sz="1200" dirty="0">
                <a:solidFill>
                  <a:srgbClr val="B0B8D4"/>
                </a:solidFill>
              </a:rPr>
              <a:t>Full functions, classes, APIs from a description</a:t>
            </a:r>
          </a:p>
        </p:txBody>
      </p:sp>
      <p:sp>
        <p:nvSpPr>
          <p:cNvPr id="11" name="Cap1"/>
          <p:cNvSpPr/>
          <p:nvPr/>
        </p:nvSpPr>
        <p:spPr>
          <a:xfrm>
            <a:off x="685800" y="2308243"/>
            <a:ext cx="4228650" cy="571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3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1600" dirty="0">
                <a:solidFill>
                  <a:srgbClr val="06D6A0"/>
                </a:solidFill>
              </a:rPr>
              <a:t>🐛  </a:t>
            </a:r>
            <a:r>
              <a:rPr lang="en-US" sz="1400" b="1" dirty="0">
                <a:solidFill>
                  <a:srgbClr val="FFFFFF"/>
                </a:solidFill>
              </a:rPr>
              <a:t>Debug  </a:t>
            </a:r>
            <a:r>
              <a:rPr lang="en-US" sz="1200" dirty="0">
                <a:solidFill>
                  <a:srgbClr val="B0B8D4"/>
                </a:solidFill>
              </a:rPr>
              <a:t>Paste broken code — get the fix and explanation</a:t>
            </a:r>
          </a:p>
        </p:txBody>
      </p:sp>
      <p:sp>
        <p:nvSpPr>
          <p:cNvPr id="12" name="Cap2"/>
          <p:cNvSpPr/>
          <p:nvPr/>
        </p:nvSpPr>
        <p:spPr>
          <a:xfrm>
            <a:off x="685800" y="2994043"/>
            <a:ext cx="4228650" cy="571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3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1600" dirty="0">
                <a:solidFill>
                  <a:srgbClr val="06D6A0"/>
                </a:solidFill>
              </a:rPr>
              <a:t>📖  </a:t>
            </a:r>
            <a:r>
              <a:rPr lang="en-US" sz="1400" b="1" dirty="0">
                <a:solidFill>
                  <a:srgbClr val="FFFFFF"/>
                </a:solidFill>
              </a:rPr>
              <a:t>Explain  </a:t>
            </a:r>
            <a:r>
              <a:rPr lang="en-US" sz="1200" dirty="0">
                <a:solidFill>
                  <a:srgbClr val="B0B8D4"/>
                </a:solidFill>
              </a:rPr>
              <a:t>Understand any codebase, legacy or new</a:t>
            </a:r>
          </a:p>
        </p:txBody>
      </p:sp>
      <p:sp>
        <p:nvSpPr>
          <p:cNvPr id="13" name="Cap3"/>
          <p:cNvSpPr/>
          <p:nvPr/>
        </p:nvSpPr>
        <p:spPr>
          <a:xfrm>
            <a:off x="685800" y="3679843"/>
            <a:ext cx="4228650" cy="571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3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1600" dirty="0">
                <a:solidFill>
                  <a:srgbClr val="06D6A0"/>
                </a:solidFill>
              </a:rPr>
              <a:t>⚡  </a:t>
            </a:r>
            <a:r>
              <a:rPr lang="en-US" sz="1400" b="1" dirty="0">
                <a:solidFill>
                  <a:srgbClr val="FFFFFF"/>
                </a:solidFill>
              </a:rPr>
              <a:t>Optimize  </a:t>
            </a:r>
            <a:r>
              <a:rPr lang="en-US" sz="1200" dirty="0">
                <a:solidFill>
                  <a:srgbClr val="B0B8D4"/>
                </a:solidFill>
              </a:rPr>
              <a:t>Improve performance, reduce complexity</a:t>
            </a:r>
          </a:p>
        </p:txBody>
      </p:sp>
      <p:sp>
        <p:nvSpPr>
          <p:cNvPr id="14" name="Cap4"/>
          <p:cNvSpPr/>
          <p:nvPr/>
        </p:nvSpPr>
        <p:spPr>
          <a:xfrm>
            <a:off x="685800" y="4365643"/>
            <a:ext cx="4228650" cy="571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6D6A0">
                <a:alpha val="30000"/>
              </a:srgbClr>
            </a:solidFill>
          </a:ln>
        </p:spPr>
        <p:txBody>
          <a:bodyPr lIns="171450" rIns="171450" anchor="ctr"/>
          <a:lstStyle/>
          <a:p>
            <a:pPr algn="l">
              <a:buNone/>
            </a:pPr>
            <a:r>
              <a:rPr lang="en-US" sz="1600" dirty="0">
                <a:solidFill>
                  <a:srgbClr val="06D6A0"/>
                </a:solidFill>
              </a:rPr>
              <a:t>🔄  </a:t>
            </a:r>
            <a:r>
              <a:rPr lang="en-US" sz="1400" b="1" dirty="0">
                <a:solidFill>
                  <a:srgbClr val="FFFFFF"/>
                </a:solidFill>
              </a:rPr>
              <a:t>Refactor  </a:t>
            </a:r>
            <a:r>
              <a:rPr lang="en-US" sz="1200" dirty="0">
                <a:solidFill>
                  <a:srgbClr val="B0B8D4"/>
                </a:solidFill>
              </a:rPr>
              <a:t>Modernize code to best practices</a:t>
            </a:r>
          </a:p>
        </p:txBody>
      </p:sp>
      <p:sp>
        <p:nvSpPr>
          <p:cNvPr id="30" name="CodeWindow"/>
          <p:cNvSpPr/>
          <p:nvPr/>
        </p:nvSpPr>
        <p:spPr>
          <a:xfrm>
            <a:off x="6862362" y="1340051"/>
            <a:ext cx="4043061" cy="3011905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06D6A0">
                <a:alpha val="60000"/>
              </a:srgbClr>
            </a:solidFill>
          </a:ln>
        </p:spPr>
        <p:txBody>
          <a:bodyPr lIns="228600" tIns="228600" rIns="228600" anchor="t"/>
          <a:lstStyle/>
          <a:p>
            <a:pPr algn="l">
              <a:buNone/>
            </a:pPr>
            <a:r>
              <a:rPr lang="en-US" sz="900" b="1" dirty="0">
                <a:solidFill>
                  <a:srgbClr val="06D6A0"/>
                </a:solidFill>
              </a:rPr>
              <a:t>● ● ●  Python  |  claude.py</a:t>
            </a:r>
          </a:p>
          <a:p>
            <a:pPr algn="l">
              <a:buNone/>
            </a:pPr>
            <a:r>
              <a:rPr lang="en-US" sz="900" dirty="0">
                <a:solidFill>
                  <a:srgbClr val="06D6A0"/>
                </a:solidFill>
              </a:rPr>
              <a:t>──────────────────────────</a:t>
            </a:r>
          </a:p>
          <a:p>
            <a:pPr algn="l">
              <a:buNone/>
            </a:pPr>
            <a:r>
              <a:rPr lang="en-US" sz="900" dirty="0">
                <a:solidFill>
                  <a:srgbClr val="6272A4"/>
                </a:solidFill>
              </a:rPr>
              <a:t># Prompt: "Write a function to deduplicate a list"</a:t>
            </a:r>
          </a:p>
          <a:p>
            <a:pPr algn="l">
              <a:buNone/>
            </a:pPr>
            <a:r>
              <a:rPr lang="en-US" sz="1000" dirty="0">
                <a:solidFill>
                  <a:srgbClr val="FF79C6"/>
                </a:solidFill>
              </a:rPr>
              <a:t>def </a:t>
            </a:r>
            <a:r>
              <a:rPr lang="en-US" sz="1000" dirty="0">
                <a:solidFill>
                  <a:srgbClr val="50FA7B"/>
                </a:solidFill>
              </a:rPr>
              <a:t>deduplicate_preserve_order</a:t>
            </a:r>
            <a:r>
              <a:rPr lang="en-US" sz="1000" dirty="0">
                <a:solidFill>
                  <a:srgbClr val="E8EAF6"/>
                </a:solidFill>
              </a:rPr>
              <a:t>(lst: list) </a:t>
            </a:r>
            <a:r>
              <a:rPr lang="en-US" sz="1000" dirty="0">
                <a:solidFill>
                  <a:srgbClr val="FF79C6"/>
                </a:solidFill>
              </a:rPr>
              <a:t>-&gt; </a:t>
            </a:r>
            <a:r>
              <a:rPr lang="en-US" sz="1000" dirty="0">
                <a:solidFill>
                  <a:srgbClr val="8BE9FD"/>
                </a:solidFill>
              </a:rPr>
              <a:t>list</a:t>
            </a:r>
            <a:r>
              <a:rPr lang="en-US" sz="1000" dirty="0">
                <a:solidFill>
                  <a:srgbClr val="E8EAF6"/>
                </a:solidFill>
              </a:rPr>
              <a:t>:</a:t>
            </a:r>
          </a:p>
          <a:p>
            <a:pPr algn="l">
              <a:buNone/>
            </a:pPr>
            <a:r>
              <a:rPr lang="en-US" sz="1000" dirty="0">
                <a:solidFill>
                  <a:srgbClr val="6272A4"/>
                </a:solidFill>
              </a:rPr>
              <a:t>    """Removes dupes, keeps order."""</a:t>
            </a:r>
          </a:p>
          <a:p>
            <a:pPr algn="l">
              <a:buNone/>
            </a:pPr>
            <a:r>
              <a:rPr lang="en-US" sz="1000" dirty="0">
                <a:solidFill>
                  <a:srgbClr val="E8EAF6"/>
                </a:solidFill>
              </a:rPr>
              <a:t>    seen = </a:t>
            </a:r>
            <a:r>
              <a:rPr lang="en-US" sz="1000" dirty="0">
                <a:solidFill>
                  <a:srgbClr val="8BE9FD"/>
                </a:solidFill>
              </a:rPr>
              <a:t>set</a:t>
            </a:r>
            <a:r>
              <a:rPr lang="en-US" sz="1000" dirty="0">
                <a:solidFill>
                  <a:srgbClr val="E8EAF6"/>
                </a:solidFill>
              </a:rPr>
              <a:t>()</a:t>
            </a:r>
          </a:p>
          <a:p>
            <a:pPr algn="l">
              <a:buNone/>
            </a:pPr>
            <a:r>
              <a:rPr lang="en-US" sz="1000" dirty="0">
                <a:solidFill>
                  <a:srgbClr val="FF79C6"/>
                </a:solidFill>
              </a:rPr>
              <a:t>    return </a:t>
            </a:r>
            <a:r>
              <a:rPr lang="en-US" sz="1000" dirty="0">
                <a:solidFill>
                  <a:srgbClr val="E8EAF6"/>
                </a:solidFill>
              </a:rPr>
              <a:t>[x </a:t>
            </a:r>
            <a:r>
              <a:rPr lang="en-US" sz="1000" dirty="0">
                <a:solidFill>
                  <a:srgbClr val="FF79C6"/>
                </a:solidFill>
              </a:rPr>
              <a:t>for </a:t>
            </a:r>
            <a:r>
              <a:rPr lang="en-US" sz="1000" dirty="0">
                <a:solidFill>
                  <a:srgbClr val="E8EAF6"/>
                </a:solidFill>
              </a:rPr>
              <a:t>x </a:t>
            </a:r>
            <a:r>
              <a:rPr lang="en-US" sz="1000" dirty="0">
                <a:solidFill>
                  <a:srgbClr val="FF79C6"/>
                </a:solidFill>
              </a:rPr>
              <a:t>in </a:t>
            </a:r>
            <a:r>
              <a:rPr lang="en-US" sz="1000" dirty="0">
                <a:solidFill>
                  <a:srgbClr val="E8EAF6"/>
                </a:solidFill>
              </a:rPr>
              <a:t>lst</a:t>
            </a:r>
            <a:r>
              <a:rPr lang="en-US" sz="1000" dirty="0">
                <a:solidFill>
                  <a:srgbClr val="FF79C6"/>
                </a:solidFill>
              </a:rPr>
              <a:t> if </a:t>
            </a:r>
            <a:r>
              <a:rPr lang="en-US" sz="1000" dirty="0">
                <a:solidFill>
                  <a:srgbClr val="E8EAF6"/>
                </a:solidFill>
              </a:rPr>
              <a:t>not (x </a:t>
            </a:r>
            <a:r>
              <a:rPr lang="en-US" sz="1000" dirty="0">
                <a:solidFill>
                  <a:srgbClr val="FF79C6"/>
                </a:solidFill>
              </a:rPr>
              <a:t>in </a:t>
            </a:r>
            <a:r>
              <a:rPr lang="en-US" sz="1000" dirty="0">
                <a:solidFill>
                  <a:srgbClr val="E8EAF6"/>
                </a:solidFill>
              </a:rPr>
              <a:t>seen</a:t>
            </a:r>
            <a:r>
              <a:rPr lang="en-US" sz="1000" dirty="0">
                <a:solidFill>
                  <a:srgbClr val="FF79C6"/>
                </a:solidFill>
              </a:rPr>
              <a:t> or </a:t>
            </a:r>
            <a:r>
              <a:rPr lang="en-US" sz="1000" dirty="0">
                <a:solidFill>
                  <a:srgbClr val="E8EAF6"/>
                </a:solidFill>
              </a:rPr>
              <a:t>seen.add(x))]</a:t>
            </a:r>
          </a:p>
          <a:p>
            <a:pPr algn="l">
              <a:buNone/>
            </a:pPr>
            <a:r>
              <a:rPr lang="en-US" sz="900" b="1" dirty="0">
                <a:solidFill>
                  <a:srgbClr val="06D6A0"/>
                </a:solidFill>
              </a:rPr>
              <a:t>Supports 20+ languages:</a:t>
            </a:r>
          </a:p>
          <a:p>
            <a:pPr algn="l">
              <a:buNone/>
            </a:pPr>
            <a:r>
              <a:rPr lang="en-US" sz="900" dirty="0">
                <a:solidFill>
                  <a:srgbClr val="B0B8D4"/>
                </a:solidFill>
              </a:rPr>
              <a:t>Python  JavaScript  TypeScript  Go</a:t>
            </a:r>
          </a:p>
          <a:p>
            <a:pPr algn="l">
              <a:buNone/>
            </a:pPr>
            <a:r>
              <a:rPr lang="en-US" sz="900" dirty="0">
                <a:solidFill>
                  <a:srgbClr val="B0B8D4"/>
                </a:solidFill>
              </a:rPr>
              <a:t>Rust  Java  C++  SQL  Swift  Kotlin...</a:t>
            </a:r>
          </a:p>
        </p:txBody>
      </p:sp>
    </p:spTree>
    <p:extLst>
      <p:ext uri="{BB962C8B-B14F-4D97-AF65-F5344CB8AC3E}">
        <p14:creationId xmlns:p14="http://schemas.microsoft.com/office/powerpoint/2010/main" val="27233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>
            <a:gsLst>
              <a:gs pos="0">
                <a:srgbClr val="7B68EE">
                  <a:alpha val="40000"/>
                </a:srgbClr>
              </a:gs>
              <a:gs pos="50000">
                <a:srgbClr val="CC785C">
                  <a:alpha val="30000"/>
                </a:srgbClr>
              </a:gs>
              <a:gs pos="100000">
                <a:srgbClr val="06D6A0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ainHeader"/>
          <p:cNvSpPr/>
          <p:nvPr/>
        </p:nvSpPr>
        <p:spPr>
          <a:xfrm>
            <a:off x="228600" y="114300"/>
            <a:ext cx="8686800" cy="1143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Your AI Superpower. All in One Place.</a:t>
            </a:r>
          </a:p>
        </p:txBody>
      </p:sp>
      <p:sp>
        <p:nvSpPr>
          <p:cNvPr id="10" name="FeatHex0"/>
          <p:cNvSpPr/>
          <p:nvPr/>
        </p:nvSpPr>
        <p:spPr>
          <a:xfrm>
            <a:off x="9715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7B68EE">
              <a:alpha val="20000"/>
            </a:srgbClr>
          </a:solidFill>
          <a:ln w="19050">
            <a:solidFill>
              <a:srgbClr val="7B68EE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💬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Chat</a:t>
            </a:r>
          </a:p>
          <a:p>
            <a:pPr algn="ctr">
              <a:buNone/>
            </a:pPr>
            <a:r>
              <a:rPr lang="en-US" sz="1000" dirty="0">
                <a:solidFill>
                  <a:srgbClr val="7B68EE"/>
                </a:solidFill>
              </a:rPr>
              <a:t>01</a:t>
            </a:r>
          </a:p>
        </p:txBody>
      </p:sp>
      <p:sp>
        <p:nvSpPr>
          <p:cNvPr id="11" name="FeatHex1"/>
          <p:cNvSpPr/>
          <p:nvPr/>
        </p:nvSpPr>
        <p:spPr>
          <a:xfrm>
            <a:off x="23431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00BFA5">
              <a:alpha val="20000"/>
            </a:srgbClr>
          </a:solidFill>
          <a:ln w="19050">
            <a:solidFill>
              <a:srgbClr val="00BFA5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📁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Projects</a:t>
            </a:r>
          </a:p>
          <a:p>
            <a:pPr algn="ctr">
              <a:buNone/>
            </a:pPr>
            <a:r>
              <a:rPr lang="en-US" sz="1000" dirty="0">
                <a:solidFill>
                  <a:srgbClr val="00BFA5"/>
                </a:solidFill>
              </a:rPr>
              <a:t>02</a:t>
            </a:r>
          </a:p>
        </p:txBody>
      </p:sp>
      <p:sp>
        <p:nvSpPr>
          <p:cNvPr id="12" name="FeatHex2"/>
          <p:cNvSpPr/>
          <p:nvPr/>
        </p:nvSpPr>
        <p:spPr>
          <a:xfrm>
            <a:off x="37147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CC785C">
              <a:alpha val="20000"/>
            </a:srgbClr>
          </a:solidFill>
          <a:ln w="19050">
            <a:solidFill>
              <a:srgbClr val="CC785C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Artifacts</a:t>
            </a:r>
          </a:p>
          <a:p>
            <a:pPr algn="ctr">
              <a:buNone/>
            </a:pPr>
            <a:r>
              <a:rPr lang="en-US" sz="1000" dirty="0">
                <a:solidFill>
                  <a:srgbClr val="CC785C"/>
                </a:solidFill>
              </a:rPr>
              <a:t>03</a:t>
            </a:r>
          </a:p>
        </p:txBody>
      </p:sp>
      <p:sp>
        <p:nvSpPr>
          <p:cNvPr id="13" name="FeatHex3"/>
          <p:cNvSpPr/>
          <p:nvPr/>
        </p:nvSpPr>
        <p:spPr>
          <a:xfrm>
            <a:off x="50863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👥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Coworkers</a:t>
            </a:r>
          </a:p>
          <a:p>
            <a:pPr algn="ctr">
              <a:buNone/>
            </a:pPr>
            <a:r>
              <a:rPr lang="en-US" sz="1000" dirty="0">
                <a:solidFill>
                  <a:srgbClr val="FF6B6B"/>
                </a:solidFill>
              </a:rPr>
              <a:t>04</a:t>
            </a:r>
          </a:p>
        </p:txBody>
      </p:sp>
      <p:sp>
        <p:nvSpPr>
          <p:cNvPr id="14" name="FeatHex4"/>
          <p:cNvSpPr/>
          <p:nvPr/>
        </p:nvSpPr>
        <p:spPr>
          <a:xfrm>
            <a:off x="64579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📱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App</a:t>
            </a:r>
          </a:p>
          <a:p>
            <a:pPr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05</a:t>
            </a:r>
          </a:p>
        </p:txBody>
      </p:sp>
      <p:sp>
        <p:nvSpPr>
          <p:cNvPr id="15" name="FeatHex5"/>
          <p:cNvSpPr/>
          <p:nvPr/>
        </p:nvSpPr>
        <p:spPr>
          <a:xfrm>
            <a:off x="7829550" y="228600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💻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</a:t>
            </a:r>
          </a:p>
          <a:p>
            <a:pPr algn="ctr">
              <a:buNone/>
            </a:pPr>
            <a:r>
              <a:rPr lang="en-US" sz="1000" dirty="0">
                <a:solidFill>
                  <a:srgbClr val="06D6A0"/>
                </a:solidFill>
              </a:rPr>
              <a:t>06</a:t>
            </a:r>
          </a:p>
        </p:txBody>
      </p:sp>
      <p:sp>
        <p:nvSpPr>
          <p:cNvPr id="30" name="CTABox"/>
          <p:cNvSpPr/>
          <p:nvPr/>
        </p:nvSpPr>
        <p:spPr>
          <a:xfrm>
            <a:off x="3429150" y="4493495"/>
            <a:ext cx="5714850" cy="14859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CC785C"/>
              </a:gs>
              <a:gs pos="100000">
                <a:srgbClr val="7B68EE"/>
              </a:gs>
            </a:gsLst>
            <a:lin ang="0" scaled="0"/>
          </a:gradFill>
          <a:ln>
            <a:noFill/>
          </a:ln>
        </p:spPr>
        <p:txBody>
          <a:bodyPr lIns="228600" rIns="228600" anchor="ctr"/>
          <a:lstStyle/>
          <a:p>
            <a:pPr algn="ctr">
              <a:buNone/>
            </a:pPr>
            <a:r>
              <a:rPr lang="en-US" sz="1400" dirty="0" err="1">
                <a:solidFill>
                  <a:srgbClr val="FFFFFF"/>
                </a:solidFill>
              </a:rPr>
              <a:t>claude.ai</a:t>
            </a:r>
            <a:r>
              <a:rPr lang="en-US" sz="1400" dirty="0">
                <a:solidFill>
                  <a:srgbClr val="FFFFFF"/>
                </a:solidFill>
              </a:rPr>
              <a:t>  ·  Free plan available  ·  No credit card needed</a:t>
            </a:r>
          </a:p>
        </p:txBody>
      </p:sp>
    </p:spTree>
    <p:extLst>
      <p:ext uri="{BB962C8B-B14F-4D97-AF65-F5344CB8AC3E}">
        <p14:creationId xmlns:p14="http://schemas.microsoft.com/office/powerpoint/2010/main" val="198766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761480810]">
  <a:themeElements>
    <a:clrScheme name="Office">
      <a:dk1>
        <a:srgbClr val="1A1A2E"/>
      </a:dk1>
      <a:lt1>
        <a:srgbClr val="F8F9FF"/>
      </a:lt1>
      <a:dk2>
        <a:srgbClr val="16213E"/>
      </a:dk2>
      <a:lt2>
        <a:srgbClr val="E8EAF6"/>
      </a:lt2>
      <a:accent1>
        <a:srgbClr val="CC785C"/>
      </a:accent1>
      <a:accent2>
        <a:srgbClr val="7B68EE"/>
      </a:accent2>
      <a:accent3>
        <a:srgbClr val="00BFA5"/>
      </a:accent3>
      <a:accent4>
        <a:srgbClr val="FF6B6B"/>
      </a:accent4>
      <a:accent5>
        <a:srgbClr val="FFD166"/>
      </a:accent5>
      <a:accent6>
        <a:srgbClr val="06D6A0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129221-A73B-2441-8FB8-1B35B1F597E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bce67db-34c2-41c1-a16d-1a6fccff3c9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874</Words>
  <Application>Microsoft Macintosh PowerPoint</Application>
  <PresentationFormat>Widescreen</PresentationFormat>
  <Paragraphs>164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Montserrat</vt:lpstr>
      <vt:lpstr>Open Sans</vt:lpstr>
      <vt:lpstr>Office Theme [1778761480810]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Ramanuj Das</dc:creator>
  <cp:lastModifiedBy>Ramanuj Das</cp:lastModifiedBy>
  <cp:revision>3</cp:revision>
  <dcterms:created xsi:type="dcterms:W3CDTF">2026-05-14T12:22:15Z</dcterms:created>
  <dcterms:modified xsi:type="dcterms:W3CDTF">2026-05-14T12:51:41Z</dcterms:modified>
</cp:coreProperties>
</file>