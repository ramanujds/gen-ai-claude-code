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2" r:id="rId13"/>
    <p:sldId id="270" r:id="rId14"/>
    <p:sldId id="271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94"/>
    <p:restoredTop sz="94856"/>
  </p:normalViewPr>
  <p:slideViewPr>
    <p:cSldViewPr snapToGrid="0">
      <p:cViewPr varScale="1">
        <p:scale>
          <a:sx n="187" d="100"/>
          <a:sy n="187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3226-465D-10F4-F3A0-238C8EE87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4794C-B262-2167-6BFA-078A401EA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1071-9E43-C3BE-0162-001AC717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8465A-159F-AD69-C53F-0CA73721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2848D-0DE5-EFC3-0DC6-6B032142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2346-7FB8-048E-FA91-D1AE58EE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7128B-9CAF-0C86-94A4-6A7C58668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CE3C3-C932-E4EF-ABD7-853EB846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F0D29-0FDC-B04B-90AC-41269A28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32315-0F5D-172C-884F-9752DD37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5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55D5-A214-1E03-64FE-56BB06CD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7B53F-1DEE-E949-9E5B-13F7D5F5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42157-0217-6D6C-0DE7-33941362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4301-A34A-FDA6-D265-69C6C4D3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CCB4-29CD-95AD-B1FF-39364FBC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5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CBD4-E20E-799B-8791-BA40C1C6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F65D7-A1AB-A9F1-2F44-CD111FB28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7F4E8-01CC-36BE-4682-CE8CFB545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7A3FD-51E3-BA46-DE38-68263F24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74A94-FEAF-7962-9B16-9FC23DAE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DB711-75AC-CEEF-9902-B446D73B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ED45-D062-A690-BC4A-45DD1B65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F0592-088F-6171-6810-DF5FCC844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7847F-C2EB-98BA-7D32-643182F99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82E22-AD53-4153-E323-3D218B72D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D2B61-0480-7D22-08E4-6FF2CDFC9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5926D-753F-4353-8487-B68FF2BE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1052F5-493B-17EF-1C65-9FDFC71E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64E9D-847A-C4BA-8F8F-F649D91D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166D-45F8-6F74-2A96-FEC4F4A3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6BD91-AE76-A99C-374F-A85C0700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8C42E-0567-F74D-B2D7-DFC65F03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2C21E-DF62-8CF8-D82D-7B6C23CC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2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7EE0A-80BA-7502-4BCD-2B2D027B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7D563-E457-FE97-B6A8-4386AEEA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EF93D-96F7-5C23-0172-160ADE47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FAD8-1C82-661E-D5EC-9F09905B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F2D4-44E2-9D96-FFE9-FA43F839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ACA56-3EA4-21C6-61DA-246F825E0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8B153-B2FD-C310-6A2B-6AE3ECA8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9F735-6B12-6BCD-1E7E-0B3600FB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3BA8C-4261-DDE7-2869-D89594BB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C472-A6A3-7D9F-2E67-692C3127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1D7A3-9EC1-46B0-BE22-63767E49F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C02E7-45A9-2C99-89CE-9E2B99641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2FA7F-C9E3-9C67-69DD-BF716E8A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4FEA-81B5-433F-D0C8-AEECE897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E5F0F-0059-3DF0-1E2F-0674B23C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0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52B3-C6D4-7D9C-EB21-DA73D6C8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B3261-970E-3200-26FC-01253130A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F9B79-E199-049A-1889-BB8935B0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5FCD9-7EF8-0C87-7098-763DEC84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99DD6-0469-1F83-4CEB-671D94B8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8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F054C-84E4-271E-335E-258AF2B43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A3B42-A499-6049-CEEC-48113A918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7322-8A5D-CECF-B5DD-45D67A74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D216-7F74-BA1D-61D7-B6E7DEFE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0C4B6-46BD-FF9E-0735-C0A1FF05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2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B618C-8D94-464B-9A11-634021D0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6C49A-F769-858A-20D3-119C245BA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58D24-833E-C835-505F-61E692839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BE681-1F43-C64E-AFC0-F226DE4FEEB3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9C1C1-A24E-BEC0-21EA-48C43EDCE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84833-BED3-C0D5-2330-97BB3D077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82769-293D-ED46-8865-E7247CCBB959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Accent"/>
          <p:cNvSpPr/>
          <p:nvPr/>
        </p:nvSpPr>
        <p:spPr>
          <a:xfrm>
            <a:off x="0" y="6583050"/>
            <a:ext cx="12192000" cy="45720"/>
          </a:xfrm>
          <a:prstGeom prst="rect">
            <a:avLst/>
          </a:prstGeom>
          <a:gradFill>
            <a:gsLst>
              <a:gs pos="0">
                <a:srgbClr val="E94560"/>
              </a:gs>
              <a:gs pos="50000">
                <a:srgbClr val="533483"/>
              </a:gs>
              <a:gs pos="100000">
                <a:srgbClr val="0F346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RightAccent"/>
          <p:cNvSpPr/>
          <p:nvPr/>
        </p:nvSpPr>
        <p:spPr>
          <a:xfrm>
            <a:off x="11200000" y="0"/>
            <a:ext cx="992000" cy="992000"/>
          </a:xfrm>
          <a:prstGeom prst="rtTriangle">
            <a:avLst/>
          </a:prstGeom>
          <a:solidFill>
            <a:srgbClr val="E94560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9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2D3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EECB18F-9CED-5C40-93D4-78AF233B8072}"/>
              </a:ext>
            </a:extLst>
          </p:cNvPr>
          <p:cNvSpPr/>
          <p:nvPr/>
        </p:nvSpPr>
        <p:spPr>
          <a:xfrm>
            <a:off x="9906000" y="2286000"/>
            <a:ext cx="2286000" cy="2286000"/>
          </a:xfrm>
          <a:prstGeom prst="ellipse">
            <a:avLst/>
          </a:prstGeom>
          <a:solidFill>
            <a:srgbClr val="533483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8F7872-A030-9347-9265-BFE058D68129}"/>
              </a:ext>
            </a:extLst>
          </p:cNvPr>
          <p:cNvSpPr/>
          <p:nvPr/>
        </p:nvSpPr>
        <p:spPr>
          <a:xfrm>
            <a:off x="8636000" y="635000"/>
            <a:ext cx="3556000" cy="3556000"/>
          </a:xfrm>
          <a:prstGeom prst="ellipse">
            <a:avLst/>
          </a:prstGeom>
          <a:solidFill>
            <a:srgbClr val="E94560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99A47-38B8-46F9-48A8-6C701D4AE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Prompt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3893B-03E1-3C5A-547F-58F2BDF4F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533483"/>
                </a:solidFill>
              </a:rPr>
              <a:t>The Art &amp; Science of Talking to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2806B-83D1-9941-8683-3EA1838C044D}"/>
              </a:ext>
            </a:extLst>
          </p:cNvPr>
          <p:cNvSpPr txBox="1"/>
          <p:nvPr/>
        </p:nvSpPr>
        <p:spPr>
          <a:xfrm>
            <a:off x="1524000" y="5461000"/>
            <a:ext cx="635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 dirty="0">
                <a:solidFill>
                  <a:srgbClr val="8A8A9A"/>
                </a:solidFill>
              </a:rPr>
              <a:t>From basics to best practices - a complete guide</a:t>
            </a:r>
          </a:p>
        </p:txBody>
      </p:sp>
    </p:spTree>
    <p:extLst>
      <p:ext uri="{BB962C8B-B14F-4D97-AF65-F5344CB8AC3E}">
        <p14:creationId xmlns:p14="http://schemas.microsoft.com/office/powerpoint/2010/main" val="344386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7253-55A3-05BD-E0D2-3B19C944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What is a Prompt?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68302C-06C5-4F48-833A-6E80CF0EDDBE}"/>
              </a:ext>
            </a:extLst>
          </p:cNvPr>
          <p:cNvSpPr/>
          <p:nvPr/>
        </p:nvSpPr>
        <p:spPr>
          <a:xfrm>
            <a:off x="457200" y="1778000"/>
            <a:ext cx="5588000" cy="1524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59B9D-03AA-9945-B423-73FA5A0A2721}"/>
              </a:ext>
            </a:extLst>
          </p:cNvPr>
          <p:cNvSpPr txBox="1"/>
          <p:nvPr/>
        </p:nvSpPr>
        <p:spPr>
          <a:xfrm>
            <a:off x="711200" y="19685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A prompt is the text instruction you give to an AI model to get a desired response.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AD1AF9-0AE5-DC49-AAD6-0E2C013FE84D}"/>
              </a:ext>
            </a:extLst>
          </p:cNvPr>
          <p:cNvSpPr/>
          <p:nvPr/>
        </p:nvSpPr>
        <p:spPr>
          <a:xfrm>
            <a:off x="6350000" y="1778000"/>
            <a:ext cx="5461000" cy="1524000"/>
          </a:xfrm>
          <a:prstGeom prst="roundRect">
            <a:avLst/>
          </a:prstGeom>
          <a:solidFill>
            <a:srgbClr val="E94560">
              <a:alpha val="9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AC792-C65C-C44F-ABF2-27F3058C5D3D}"/>
              </a:ext>
            </a:extLst>
          </p:cNvPr>
          <p:cNvSpPr txBox="1"/>
          <p:nvPr/>
        </p:nvSpPr>
        <p:spPr>
          <a:xfrm>
            <a:off x="6604000" y="2247612"/>
            <a:ext cx="4953000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i="1" dirty="0">
                <a:solidFill>
                  <a:srgbClr val="1A1A2E"/>
                </a:solidFill>
              </a:rPr>
              <a:t>Think of it as a conversation starter - the clearer your question, the better the answer.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10C3A-AD70-3441-84B2-E5F5E13D4A90}"/>
              </a:ext>
            </a:extLst>
          </p:cNvPr>
          <p:cNvSpPr txBox="1"/>
          <p:nvPr/>
        </p:nvSpPr>
        <p:spPr>
          <a:xfrm>
            <a:off x="457200" y="3556000"/>
            <a:ext cx="190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Example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36A39B-9183-2249-ACEC-578849225904}"/>
              </a:ext>
            </a:extLst>
          </p:cNvPr>
          <p:cNvSpPr/>
          <p:nvPr/>
        </p:nvSpPr>
        <p:spPr>
          <a:xfrm>
            <a:off x="457200" y="4000500"/>
            <a:ext cx="5588000" cy="1143000"/>
          </a:xfrm>
          <a:prstGeom prst="roundRect">
            <a:avLst/>
          </a:prstGeom>
          <a:solidFill>
            <a:srgbClr val="EDE8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A52CA-0073-0C4B-92AE-8E5B3D10D626}"/>
              </a:ext>
            </a:extLst>
          </p:cNvPr>
          <p:cNvSpPr txBox="1"/>
          <p:nvPr/>
        </p:nvSpPr>
        <p:spPr>
          <a:xfrm>
            <a:off x="635000" y="4064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392B"/>
                </a:solidFill>
              </a:rPr>
              <a:t>❌  Vague Prompt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50B4E-FD23-3844-B29A-1A7C837F2803}"/>
              </a:ext>
            </a:extLst>
          </p:cNvPr>
          <p:cNvSpPr txBox="1"/>
          <p:nvPr/>
        </p:nvSpPr>
        <p:spPr>
          <a:xfrm>
            <a:off x="635000" y="4445000"/>
            <a:ext cx="520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2D2D3F"/>
                </a:solidFill>
              </a:rPr>
              <a:t>"Tell me about dogs"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78F901B-7AAE-BE45-88C8-E4DE7852F2E5}"/>
              </a:ext>
            </a:extLst>
          </p:cNvPr>
          <p:cNvSpPr/>
          <p:nvPr/>
        </p:nvSpPr>
        <p:spPr>
          <a:xfrm>
            <a:off x="6350000" y="4000500"/>
            <a:ext cx="5461000" cy="1143000"/>
          </a:xfrm>
          <a:prstGeom prst="roundRect">
            <a:avLst/>
          </a:prstGeom>
          <a:solidFill>
            <a:srgbClr val="EDE8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FD6DB-4160-CA47-9487-137D2FD8F617}"/>
              </a:ext>
            </a:extLst>
          </p:cNvPr>
          <p:cNvSpPr txBox="1"/>
          <p:nvPr/>
        </p:nvSpPr>
        <p:spPr>
          <a:xfrm>
            <a:off x="6527800" y="4064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9348"/>
                </a:solidFill>
              </a:rPr>
              <a:t>✅  Clear Prompt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2F25CD-D963-DE4E-B341-D557CF14CAB6}"/>
              </a:ext>
            </a:extLst>
          </p:cNvPr>
          <p:cNvSpPr txBox="1"/>
          <p:nvPr/>
        </p:nvSpPr>
        <p:spPr>
          <a:xfrm>
            <a:off x="6527800" y="44196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2D2D3F"/>
                </a:solidFill>
              </a:rPr>
              <a:t>"List 5 hypoallergenic dog breeds suitable for apartments, with pros and cons"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CA3AFC-9ACF-804D-920A-958CEDB006F3}"/>
              </a:ext>
            </a:extLst>
          </p:cNvPr>
          <p:cNvSpPr/>
          <p:nvPr/>
        </p:nvSpPr>
        <p:spPr>
          <a:xfrm>
            <a:off x="457200" y="5461000"/>
            <a:ext cx="11353800" cy="762000"/>
          </a:xfrm>
          <a:prstGeom prst="roundRect">
            <a:avLst/>
          </a:prstGeom>
          <a:solidFill>
            <a:srgbClr val="533483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B586D-0AE5-724A-97D2-B6C984C16A5B}"/>
              </a:ext>
            </a:extLst>
          </p:cNvPr>
          <p:cNvSpPr txBox="1"/>
          <p:nvPr/>
        </p:nvSpPr>
        <p:spPr>
          <a:xfrm>
            <a:off x="711200" y="5588000"/>
            <a:ext cx="10845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>
                <a:solidFill>
                  <a:srgbClr val="1A1A2E"/>
                </a:solidFill>
              </a:rPr>
              <a:t>💡 Key Insight: The same AI model can produce dramatically different results depending on how you phrase your prompt.</a:t>
            </a:r>
          </a:p>
        </p:txBody>
      </p:sp>
    </p:spTree>
    <p:extLst>
      <p:ext uri="{BB962C8B-B14F-4D97-AF65-F5344CB8AC3E}">
        <p14:creationId xmlns:p14="http://schemas.microsoft.com/office/powerpoint/2010/main" val="362878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BA12-00FF-1882-C87C-AC266C3D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Why Prompt Quality Matters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C6B170-9E86-9C43-937D-DCBC484DEC48}"/>
              </a:ext>
            </a:extLst>
          </p:cNvPr>
          <p:cNvSpPr/>
          <p:nvPr/>
        </p:nvSpPr>
        <p:spPr>
          <a:xfrm>
            <a:off x="635000" y="1879600"/>
            <a:ext cx="3302000" cy="889000"/>
          </a:xfrm>
          <a:prstGeom prst="roundRect">
            <a:avLst/>
          </a:prstGeom>
          <a:solidFill>
            <a:srgbClr val="C0392B">
              <a:alpha val="8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9EF53-2A36-F748-A493-BFDF91FE2DB3}"/>
              </a:ext>
            </a:extLst>
          </p:cNvPr>
          <p:cNvSpPr txBox="1"/>
          <p:nvPr/>
        </p:nvSpPr>
        <p:spPr>
          <a:xfrm>
            <a:off x="762000" y="1943100"/>
            <a:ext cx="304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tx2"/>
                </a:solidFill>
              </a:rPr>
              <a:t>Vague Prompt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CF414-0738-1840-B8EB-27D9ACB4FF5E}"/>
              </a:ext>
            </a:extLst>
          </p:cNvPr>
          <p:cNvSpPr txBox="1"/>
          <p:nvPr/>
        </p:nvSpPr>
        <p:spPr>
          <a:xfrm>
            <a:off x="762000" y="2311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 dirty="0">
                <a:solidFill>
                  <a:srgbClr val="5A5A6A"/>
                </a:solidFill>
              </a:rPr>
              <a:t>"Write something about marketing"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9DB7BDB-CC02-3F41-8AFA-1CEC349BD3C6}"/>
              </a:ext>
            </a:extLst>
          </p:cNvPr>
          <p:cNvSpPr/>
          <p:nvPr/>
        </p:nvSpPr>
        <p:spPr>
          <a:xfrm>
            <a:off x="4064000" y="2095500"/>
            <a:ext cx="508000" cy="381000"/>
          </a:xfrm>
          <a:prstGeom prst="rightArrow">
            <a:avLst/>
          </a:prstGeom>
          <a:solidFill>
            <a:srgbClr val="8A8A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A4CD75-9CDA-A74D-84D3-647EC99A064B}"/>
              </a:ext>
            </a:extLst>
          </p:cNvPr>
          <p:cNvSpPr/>
          <p:nvPr/>
        </p:nvSpPr>
        <p:spPr>
          <a:xfrm>
            <a:off x="4699000" y="1879600"/>
            <a:ext cx="2540000" cy="889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3619B-A424-3941-A4DE-6CCDE32FFA53}"/>
              </a:ext>
            </a:extLst>
          </p:cNvPr>
          <p:cNvSpPr txBox="1"/>
          <p:nvPr/>
        </p:nvSpPr>
        <p:spPr>
          <a:xfrm>
            <a:off x="4826000" y="21336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AI Model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1EA5BF6-9260-D741-A307-9F0A8DE4ECAA}"/>
              </a:ext>
            </a:extLst>
          </p:cNvPr>
          <p:cNvSpPr/>
          <p:nvPr/>
        </p:nvSpPr>
        <p:spPr>
          <a:xfrm>
            <a:off x="7366000" y="2095500"/>
            <a:ext cx="508000" cy="381000"/>
          </a:xfrm>
          <a:prstGeom prst="rightArrow">
            <a:avLst/>
          </a:prstGeom>
          <a:solidFill>
            <a:srgbClr val="8A8A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F8DDA9-9B56-834D-8C08-9C438BB435BE}"/>
              </a:ext>
            </a:extLst>
          </p:cNvPr>
          <p:cNvSpPr/>
          <p:nvPr/>
        </p:nvSpPr>
        <p:spPr>
          <a:xfrm>
            <a:off x="8001000" y="1879600"/>
            <a:ext cx="3683000" cy="889000"/>
          </a:xfrm>
          <a:prstGeom prst="roundRect">
            <a:avLst/>
          </a:prstGeom>
          <a:solidFill>
            <a:srgbClr val="C0392B">
              <a:alpha val="8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A8467-2A28-B141-B209-75763B209D68}"/>
              </a:ext>
            </a:extLst>
          </p:cNvPr>
          <p:cNvSpPr txBox="1"/>
          <p:nvPr/>
        </p:nvSpPr>
        <p:spPr>
          <a:xfrm>
            <a:off x="8128000" y="1943100"/>
            <a:ext cx="3429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tx2"/>
                </a:solidFill>
              </a:rPr>
              <a:t>Generic, Unfocused 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6C065-4816-4149-A640-B73020DA8C0D}"/>
              </a:ext>
            </a:extLst>
          </p:cNvPr>
          <p:cNvSpPr txBox="1"/>
          <p:nvPr/>
        </p:nvSpPr>
        <p:spPr>
          <a:xfrm>
            <a:off x="8128000" y="23114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Wall of text, no clear structure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B4EE8C-8FBE-AA45-9B87-7B603A671D1F}"/>
              </a:ext>
            </a:extLst>
          </p:cNvPr>
          <p:cNvSpPr/>
          <p:nvPr/>
        </p:nvSpPr>
        <p:spPr>
          <a:xfrm>
            <a:off x="533400" y="3302000"/>
            <a:ext cx="2667000" cy="2349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7849E9-10D1-FC46-B5D9-62A6A801DE01}"/>
              </a:ext>
            </a:extLst>
          </p:cNvPr>
          <p:cNvSpPr/>
          <p:nvPr/>
        </p:nvSpPr>
        <p:spPr>
          <a:xfrm>
            <a:off x="533400" y="3302000"/>
            <a:ext cx="26670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76380A-EF40-E64F-A763-8102D8D9ECF8}"/>
              </a:ext>
            </a:extLst>
          </p:cNvPr>
          <p:cNvSpPr/>
          <p:nvPr/>
        </p:nvSpPr>
        <p:spPr>
          <a:xfrm>
            <a:off x="1549400" y="3492500"/>
            <a:ext cx="635000" cy="635000"/>
          </a:xfrm>
          <a:prstGeom prst="ellipse">
            <a:avLst/>
          </a:prstGeom>
          <a:solidFill>
            <a:srgbClr val="E94560">
              <a:alpha val="9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/>
              <a:t>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096F7-AD79-3D43-929C-FE417B73701C}"/>
              </a:ext>
            </a:extLst>
          </p:cNvPr>
          <p:cNvSpPr txBox="1"/>
          <p:nvPr/>
        </p:nvSpPr>
        <p:spPr>
          <a:xfrm>
            <a:off x="660400" y="4254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Save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437E43-C111-A747-938F-CBF05A93799C}"/>
              </a:ext>
            </a:extLst>
          </p:cNvPr>
          <p:cNvSpPr txBox="1"/>
          <p:nvPr/>
        </p:nvSpPr>
        <p:spPr>
          <a:xfrm>
            <a:off x="660400" y="46355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Fewer iterations to get the right answer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E72F1D4-7C8C-AE42-8363-C4EAC99177A8}"/>
              </a:ext>
            </a:extLst>
          </p:cNvPr>
          <p:cNvSpPr/>
          <p:nvPr/>
        </p:nvSpPr>
        <p:spPr>
          <a:xfrm>
            <a:off x="3352800" y="3302000"/>
            <a:ext cx="2667000" cy="2349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B786AA-F43F-CF45-8EC6-DECE813CEE43}"/>
              </a:ext>
            </a:extLst>
          </p:cNvPr>
          <p:cNvSpPr/>
          <p:nvPr/>
        </p:nvSpPr>
        <p:spPr>
          <a:xfrm>
            <a:off x="3352800" y="3302000"/>
            <a:ext cx="2667000" cy="762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BE8E46-90D9-8A43-B768-63CB2F527C6C}"/>
              </a:ext>
            </a:extLst>
          </p:cNvPr>
          <p:cNvSpPr/>
          <p:nvPr/>
        </p:nvSpPr>
        <p:spPr>
          <a:xfrm>
            <a:off x="4368800" y="3492500"/>
            <a:ext cx="635000" cy="635000"/>
          </a:xfrm>
          <a:prstGeom prst="ellipse">
            <a:avLst/>
          </a:prstGeom>
          <a:solidFill>
            <a:srgbClr val="0F3460">
              <a:alpha val="9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/>
              <a:t>🎯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B43108-A880-CC4C-8861-D334EB767CD2}"/>
              </a:ext>
            </a:extLst>
          </p:cNvPr>
          <p:cNvSpPr txBox="1"/>
          <p:nvPr/>
        </p:nvSpPr>
        <p:spPr>
          <a:xfrm>
            <a:off x="3479800" y="4254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79E26A-D33E-C647-A464-B8D0B5D5CC55}"/>
              </a:ext>
            </a:extLst>
          </p:cNvPr>
          <p:cNvSpPr txBox="1"/>
          <p:nvPr/>
        </p:nvSpPr>
        <p:spPr>
          <a:xfrm>
            <a:off x="3479800" y="46355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Precise outputs aligned with your goals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DCA780-D93A-644A-ABE7-4EFEF3030484}"/>
              </a:ext>
            </a:extLst>
          </p:cNvPr>
          <p:cNvSpPr/>
          <p:nvPr/>
        </p:nvSpPr>
        <p:spPr>
          <a:xfrm>
            <a:off x="6172200" y="3302000"/>
            <a:ext cx="2667000" cy="2349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BAB10E-98AA-5A42-9547-8A0A1FFC8304}"/>
              </a:ext>
            </a:extLst>
          </p:cNvPr>
          <p:cNvSpPr/>
          <p:nvPr/>
        </p:nvSpPr>
        <p:spPr>
          <a:xfrm>
            <a:off x="6172200" y="3302000"/>
            <a:ext cx="2667000" cy="762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B4F918-7036-674E-AD60-EE555A2DA28A}"/>
              </a:ext>
            </a:extLst>
          </p:cNvPr>
          <p:cNvSpPr/>
          <p:nvPr/>
        </p:nvSpPr>
        <p:spPr>
          <a:xfrm>
            <a:off x="7188200" y="3492500"/>
            <a:ext cx="635000" cy="635000"/>
          </a:xfrm>
          <a:prstGeom prst="ellipse">
            <a:avLst/>
          </a:prstGeom>
          <a:solidFill>
            <a:srgbClr val="533483">
              <a:alpha val="9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/>
              <a:t>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768DE-7ABF-6D4F-9680-D5F7E743EF48}"/>
              </a:ext>
            </a:extLst>
          </p:cNvPr>
          <p:cNvSpPr txBox="1"/>
          <p:nvPr/>
        </p:nvSpPr>
        <p:spPr>
          <a:xfrm>
            <a:off x="6299200" y="4254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Consistency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A73B0C-8248-B04F-9453-F7EB0B014332}"/>
              </a:ext>
            </a:extLst>
          </p:cNvPr>
          <p:cNvSpPr txBox="1"/>
          <p:nvPr/>
        </p:nvSpPr>
        <p:spPr>
          <a:xfrm>
            <a:off x="6299200" y="46355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Reproducible results across sessions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067EE5F-18EC-6144-852B-EDD94B09C7A2}"/>
              </a:ext>
            </a:extLst>
          </p:cNvPr>
          <p:cNvSpPr/>
          <p:nvPr/>
        </p:nvSpPr>
        <p:spPr>
          <a:xfrm>
            <a:off x="8991600" y="3302000"/>
            <a:ext cx="2667000" cy="2349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6FDC62-4BD7-8F4E-A46F-107FA8AACEB6}"/>
              </a:ext>
            </a:extLst>
          </p:cNvPr>
          <p:cNvSpPr/>
          <p:nvPr/>
        </p:nvSpPr>
        <p:spPr>
          <a:xfrm>
            <a:off x="8991600" y="3302000"/>
            <a:ext cx="2667000" cy="76200"/>
          </a:xfrm>
          <a:prstGeom prst="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791B3C-7A39-914A-A29B-BB5E19ED0EED}"/>
              </a:ext>
            </a:extLst>
          </p:cNvPr>
          <p:cNvSpPr/>
          <p:nvPr/>
        </p:nvSpPr>
        <p:spPr>
          <a:xfrm>
            <a:off x="10007600" y="3492500"/>
            <a:ext cx="635000" cy="635000"/>
          </a:xfrm>
          <a:prstGeom prst="ellipse">
            <a:avLst/>
          </a:prstGeom>
          <a:solidFill>
            <a:srgbClr val="E07C24">
              <a:alpha val="9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/>
              <a:t>📊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07A96E-623B-704E-BB47-6AC8B0A6DEDA}"/>
              </a:ext>
            </a:extLst>
          </p:cNvPr>
          <p:cNvSpPr txBox="1"/>
          <p:nvPr/>
        </p:nvSpPr>
        <p:spPr>
          <a:xfrm>
            <a:off x="9118600" y="4254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Better Outputs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526CFC-CFC2-5649-905B-22650BACAFE3}"/>
              </a:ext>
            </a:extLst>
          </p:cNvPr>
          <p:cNvSpPr txBox="1"/>
          <p:nvPr/>
        </p:nvSpPr>
        <p:spPr>
          <a:xfrm>
            <a:off x="9118600" y="46355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Structured, actionable responses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ED43172-D463-6341-B086-E8B5F3ED21EA}"/>
              </a:ext>
            </a:extLst>
          </p:cNvPr>
          <p:cNvSpPr/>
          <p:nvPr/>
        </p:nvSpPr>
        <p:spPr>
          <a:xfrm>
            <a:off x="2032000" y="5943600"/>
            <a:ext cx="8128000" cy="5334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A3A598-5D41-184E-9442-D9D497176645}"/>
              </a:ext>
            </a:extLst>
          </p:cNvPr>
          <p:cNvSpPr txBox="1"/>
          <p:nvPr/>
        </p:nvSpPr>
        <p:spPr>
          <a:xfrm>
            <a:off x="2159000" y="5994400"/>
            <a:ext cx="7874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Garbage In → Garbage Out  |  Great Prompt → Great Output</a:t>
            </a:r>
          </a:p>
        </p:txBody>
      </p:sp>
    </p:spTree>
    <p:extLst>
      <p:ext uri="{BB962C8B-B14F-4D97-AF65-F5344CB8AC3E}">
        <p14:creationId xmlns:p14="http://schemas.microsoft.com/office/powerpoint/2010/main" val="82171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051D-786E-87B5-E22E-AC915128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/>
              <a:t>Zero-shot vs Few-shot Prompting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DA8B99-6252-B44D-B492-20518F4D2E96}"/>
              </a:ext>
            </a:extLst>
          </p:cNvPr>
          <p:cNvSpPr/>
          <p:nvPr/>
        </p:nvSpPr>
        <p:spPr>
          <a:xfrm>
            <a:off x="457200" y="1714500"/>
            <a:ext cx="5524500" cy="444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2CEC5-D124-0A45-917E-0A0856A24FC8}"/>
              </a:ext>
            </a:extLst>
          </p:cNvPr>
          <p:cNvSpPr/>
          <p:nvPr/>
        </p:nvSpPr>
        <p:spPr>
          <a:xfrm>
            <a:off x="457200" y="1714500"/>
            <a:ext cx="5524500" cy="609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5D391-DD21-9E4B-8B75-5AF6FEA96E3F}"/>
              </a:ext>
            </a:extLst>
          </p:cNvPr>
          <p:cNvSpPr txBox="1"/>
          <p:nvPr/>
        </p:nvSpPr>
        <p:spPr>
          <a:xfrm>
            <a:off x="635000" y="1778000"/>
            <a:ext cx="5080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Zero-shot Prompting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4DA2E-72DE-4540-8BD6-9141CFE62FFB}"/>
              </a:ext>
            </a:extLst>
          </p:cNvPr>
          <p:cNvSpPr txBox="1"/>
          <p:nvPr/>
        </p:nvSpPr>
        <p:spPr>
          <a:xfrm>
            <a:off x="635000" y="2438400"/>
            <a:ext cx="5143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No examples provided — you rely entirely on the model's training knowledge.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8243FA6-A508-C746-B77E-3B09D92A744A}"/>
              </a:ext>
            </a:extLst>
          </p:cNvPr>
          <p:cNvSpPr/>
          <p:nvPr/>
        </p:nvSpPr>
        <p:spPr>
          <a:xfrm>
            <a:off x="635000" y="3098800"/>
            <a:ext cx="5143500" cy="1206500"/>
          </a:xfrm>
          <a:prstGeom prst="roundRect">
            <a:avLst/>
          </a:prstGeom>
          <a:solidFill>
            <a:srgbClr val="F8F6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5AF22-52B3-B040-8A08-CEA2A63196C8}"/>
              </a:ext>
            </a:extLst>
          </p:cNvPr>
          <p:cNvSpPr txBox="1"/>
          <p:nvPr/>
        </p:nvSpPr>
        <p:spPr>
          <a:xfrm>
            <a:off x="762000" y="3149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F993B-1986-A040-8CE6-DB9A27E6B078}"/>
              </a:ext>
            </a:extLst>
          </p:cNvPr>
          <p:cNvSpPr txBox="1"/>
          <p:nvPr/>
        </p:nvSpPr>
        <p:spPr>
          <a:xfrm>
            <a:off x="762000" y="3454400"/>
            <a:ext cx="4826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2D3F"/>
                </a:solidFill>
              </a:rPr>
              <a:t>"Classify this review as positive or negative: 'The battery life is amazing!'"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B05EE-9599-5842-99A8-C3D2A198B8D4}"/>
              </a:ext>
            </a:extLst>
          </p:cNvPr>
          <p:cNvSpPr txBox="1"/>
          <p:nvPr/>
        </p:nvSpPr>
        <p:spPr>
          <a:xfrm>
            <a:off x="635000" y="4419600"/>
            <a:ext cx="5143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3460"/>
                </a:solidFill>
              </a:rPr>
              <a:t>Best for: Simple, well-defined tasks where the model already understands the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67C7C-AE48-3244-8F94-D85B5D64694E}"/>
              </a:ext>
            </a:extLst>
          </p:cNvPr>
          <p:cNvSpPr txBox="1"/>
          <p:nvPr/>
        </p:nvSpPr>
        <p:spPr>
          <a:xfrm>
            <a:off x="635000" y="5080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07C24"/>
                </a:solidFill>
              </a:rPr>
              <a:t>Accuracy: Moderate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9F5A21-D320-3048-AB86-6FC3C8031134}"/>
              </a:ext>
            </a:extLst>
          </p:cNvPr>
          <p:cNvSpPr/>
          <p:nvPr/>
        </p:nvSpPr>
        <p:spPr>
          <a:xfrm>
            <a:off x="635000" y="5435600"/>
            <a:ext cx="5080000" cy="177800"/>
          </a:xfrm>
          <a:prstGeom prst="roundRect">
            <a:avLst/>
          </a:prstGeom>
          <a:solidFill>
            <a:srgbClr val="EDE8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0FF091-541F-DE4D-9769-251C60668EF8}"/>
              </a:ext>
            </a:extLst>
          </p:cNvPr>
          <p:cNvSpPr/>
          <p:nvPr/>
        </p:nvSpPr>
        <p:spPr>
          <a:xfrm>
            <a:off x="635000" y="5435600"/>
            <a:ext cx="3048000" cy="177800"/>
          </a:xfrm>
          <a:prstGeom prst="round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73169D8-6B32-ED48-97F6-A97716E2BB45}"/>
              </a:ext>
            </a:extLst>
          </p:cNvPr>
          <p:cNvSpPr/>
          <p:nvPr/>
        </p:nvSpPr>
        <p:spPr>
          <a:xfrm>
            <a:off x="6223000" y="1714500"/>
            <a:ext cx="5524500" cy="444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E4DD1E-55B8-0549-BA00-83471AEF6B79}"/>
              </a:ext>
            </a:extLst>
          </p:cNvPr>
          <p:cNvSpPr/>
          <p:nvPr/>
        </p:nvSpPr>
        <p:spPr>
          <a:xfrm>
            <a:off x="6223000" y="1714500"/>
            <a:ext cx="5524500" cy="6096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0D1D1-0259-624A-AF8C-094A317FCB6C}"/>
              </a:ext>
            </a:extLst>
          </p:cNvPr>
          <p:cNvSpPr txBox="1"/>
          <p:nvPr/>
        </p:nvSpPr>
        <p:spPr>
          <a:xfrm>
            <a:off x="6400800" y="1778000"/>
            <a:ext cx="5080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Few-shot Prompting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DD82D-917D-3E4A-B0A6-752D909F51C8}"/>
              </a:ext>
            </a:extLst>
          </p:cNvPr>
          <p:cNvSpPr txBox="1"/>
          <p:nvPr/>
        </p:nvSpPr>
        <p:spPr>
          <a:xfrm>
            <a:off x="6400800" y="2438400"/>
            <a:ext cx="5143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You provide examples so the model learns the pattern before answering.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4D1707E-FC50-2049-841E-8B23303A62F9}"/>
              </a:ext>
            </a:extLst>
          </p:cNvPr>
          <p:cNvSpPr/>
          <p:nvPr/>
        </p:nvSpPr>
        <p:spPr>
          <a:xfrm>
            <a:off x="6400800" y="3098800"/>
            <a:ext cx="5143500" cy="1206500"/>
          </a:xfrm>
          <a:prstGeom prst="roundRect">
            <a:avLst/>
          </a:prstGeom>
          <a:solidFill>
            <a:srgbClr val="F8F6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A81CB9-3974-BE4B-ABBD-E05C973951AA}"/>
              </a:ext>
            </a:extLst>
          </p:cNvPr>
          <p:cNvSpPr txBox="1"/>
          <p:nvPr/>
        </p:nvSpPr>
        <p:spPr>
          <a:xfrm>
            <a:off x="6527800" y="3149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3460"/>
                </a:solidFill>
              </a:rPr>
              <a:t>Example: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EC3B61-10EF-5F4B-9F04-EF9A7D7F7932}"/>
              </a:ext>
            </a:extLst>
          </p:cNvPr>
          <p:cNvSpPr txBox="1"/>
          <p:nvPr/>
        </p:nvSpPr>
        <p:spPr>
          <a:xfrm>
            <a:off x="6527800" y="3454400"/>
            <a:ext cx="482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2D3F"/>
                </a:solidFill>
              </a:rPr>
              <a:t>"Review: 'Great sound!' → Positive
Review: 'Broke in a week' → Negative
Review: 'Battery is amazing!' → ?"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E656B-9CA0-534F-AEA3-1C24CE0343F5}"/>
              </a:ext>
            </a:extLst>
          </p:cNvPr>
          <p:cNvSpPr txBox="1"/>
          <p:nvPr/>
        </p:nvSpPr>
        <p:spPr>
          <a:xfrm>
            <a:off x="6400800" y="4419600"/>
            <a:ext cx="5143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3460"/>
                </a:solidFill>
              </a:rPr>
              <a:t>Best for: Nuanced tasks, custom formats, or when consistency is critical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AEA85E-D4C2-7F42-A615-D9FAC31F4942}"/>
              </a:ext>
            </a:extLst>
          </p:cNvPr>
          <p:cNvSpPr txBox="1"/>
          <p:nvPr/>
        </p:nvSpPr>
        <p:spPr>
          <a:xfrm>
            <a:off x="6400800" y="5080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9348"/>
                </a:solidFill>
              </a:rPr>
              <a:t>Accuracy: High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CF696F7-3FF6-D847-84AA-ADDE2F46F1F1}"/>
              </a:ext>
            </a:extLst>
          </p:cNvPr>
          <p:cNvSpPr/>
          <p:nvPr/>
        </p:nvSpPr>
        <p:spPr>
          <a:xfrm>
            <a:off x="6400800" y="5435600"/>
            <a:ext cx="5080000" cy="177800"/>
          </a:xfrm>
          <a:prstGeom prst="roundRect">
            <a:avLst/>
          </a:prstGeom>
          <a:solidFill>
            <a:srgbClr val="EDE8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5933631-756F-7940-8507-96ED658F945E}"/>
              </a:ext>
            </a:extLst>
          </p:cNvPr>
          <p:cNvSpPr/>
          <p:nvPr/>
        </p:nvSpPr>
        <p:spPr>
          <a:xfrm>
            <a:off x="6400800" y="5435600"/>
            <a:ext cx="4572000" cy="177800"/>
          </a:xfrm>
          <a:prstGeom prst="roundRect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860C58-59CB-6C41-9B1A-E6CC026C76F1}"/>
              </a:ext>
            </a:extLst>
          </p:cNvPr>
          <p:cNvSpPr/>
          <p:nvPr/>
        </p:nvSpPr>
        <p:spPr>
          <a:xfrm>
            <a:off x="5740400" y="3556000"/>
            <a:ext cx="711200" cy="711200"/>
          </a:xfrm>
          <a:prstGeom prst="ellipse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19646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EE84-8D6B-6BF6-A079-C2202F9D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/>
              <a:t>Anatomy of a Great Prompt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A6F95F3-C242-1E4A-B6D1-2438ABF0CF70}"/>
              </a:ext>
            </a:extLst>
          </p:cNvPr>
          <p:cNvSpPr/>
          <p:nvPr/>
        </p:nvSpPr>
        <p:spPr>
          <a:xfrm>
            <a:off x="647700" y="1714500"/>
            <a:ext cx="2514600" cy="2222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86EC4-1279-9B45-9B57-E3315F4377A6}"/>
              </a:ext>
            </a:extLst>
          </p:cNvPr>
          <p:cNvSpPr/>
          <p:nvPr/>
        </p:nvSpPr>
        <p:spPr>
          <a:xfrm>
            <a:off x="647700" y="1714500"/>
            <a:ext cx="25146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B8B0D4-E4B9-0643-BEAA-9D3C3464A0FE}"/>
              </a:ext>
            </a:extLst>
          </p:cNvPr>
          <p:cNvSpPr/>
          <p:nvPr/>
        </p:nvSpPr>
        <p:spPr>
          <a:xfrm>
            <a:off x="1651000" y="1879600"/>
            <a:ext cx="508000" cy="5080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A8413-855D-DA4A-9BE5-25D2436C34E8}"/>
              </a:ext>
            </a:extLst>
          </p:cNvPr>
          <p:cNvSpPr txBox="1"/>
          <p:nvPr/>
        </p:nvSpPr>
        <p:spPr>
          <a:xfrm>
            <a:off x="749300" y="2489200"/>
            <a:ext cx="2311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E94560"/>
                </a:solidFill>
              </a:rPr>
              <a:t>Role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FB66D-AADD-E147-9196-5FBCECAD1E3D}"/>
              </a:ext>
            </a:extLst>
          </p:cNvPr>
          <p:cNvSpPr txBox="1"/>
          <p:nvPr/>
        </p:nvSpPr>
        <p:spPr>
          <a:xfrm>
            <a:off x="749300" y="28194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Who should the AI be?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87FD4-B19B-F342-B7C7-A5576964869F}"/>
              </a:ext>
            </a:extLst>
          </p:cNvPr>
          <p:cNvSpPr txBox="1"/>
          <p:nvPr/>
        </p:nvSpPr>
        <p:spPr>
          <a:xfrm>
            <a:off x="749300" y="3175000"/>
            <a:ext cx="2311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2D3F"/>
                </a:solidFill>
              </a:rPr>
              <a:t>"You are a senior data analyst..."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47707D63-9193-B641-85A7-75EB2DEED623}"/>
              </a:ext>
            </a:extLst>
          </p:cNvPr>
          <p:cNvSpPr/>
          <p:nvPr/>
        </p:nvSpPr>
        <p:spPr>
          <a:xfrm>
            <a:off x="3187700" y="2540000"/>
            <a:ext cx="228600" cy="457200"/>
          </a:xfrm>
          <a:prstGeom prst="chevron">
            <a:avLst/>
          </a:prstGeom>
          <a:solidFill>
            <a:srgbClr val="8A8A9A">
              <a:alpha val="6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18F2D05-F01E-C841-AEEF-5FBA10810C2D}"/>
              </a:ext>
            </a:extLst>
          </p:cNvPr>
          <p:cNvSpPr/>
          <p:nvPr/>
        </p:nvSpPr>
        <p:spPr>
          <a:xfrm>
            <a:off x="3441700" y="1714500"/>
            <a:ext cx="2514600" cy="2222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1F8FB8-F05E-5148-AB7C-68CED00675AB}"/>
              </a:ext>
            </a:extLst>
          </p:cNvPr>
          <p:cNvSpPr/>
          <p:nvPr/>
        </p:nvSpPr>
        <p:spPr>
          <a:xfrm>
            <a:off x="3441700" y="1714500"/>
            <a:ext cx="2514600" cy="762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DBC1EE-6551-0D46-947E-74B239590508}"/>
              </a:ext>
            </a:extLst>
          </p:cNvPr>
          <p:cNvSpPr/>
          <p:nvPr/>
        </p:nvSpPr>
        <p:spPr>
          <a:xfrm>
            <a:off x="4445000" y="1879600"/>
            <a:ext cx="508000" cy="508000"/>
          </a:xfrm>
          <a:prstGeom prst="ellipse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83A88-803B-7D48-BFF0-1C7A05C4B88D}"/>
              </a:ext>
            </a:extLst>
          </p:cNvPr>
          <p:cNvSpPr txBox="1"/>
          <p:nvPr/>
        </p:nvSpPr>
        <p:spPr>
          <a:xfrm>
            <a:off x="3543300" y="2489200"/>
            <a:ext cx="2311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F3460"/>
                </a:solidFill>
              </a:rPr>
              <a:t>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F6174A-C605-1249-87FA-3F7C98DA0164}"/>
              </a:ext>
            </a:extLst>
          </p:cNvPr>
          <p:cNvSpPr txBox="1"/>
          <p:nvPr/>
        </p:nvSpPr>
        <p:spPr>
          <a:xfrm>
            <a:off x="3543300" y="28194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What do you need done?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03C47-F3D6-1642-AC0F-30A3A54AE517}"/>
              </a:ext>
            </a:extLst>
          </p:cNvPr>
          <p:cNvSpPr txBox="1"/>
          <p:nvPr/>
        </p:nvSpPr>
        <p:spPr>
          <a:xfrm>
            <a:off x="3543300" y="3175000"/>
            <a:ext cx="2311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2D3F"/>
                </a:solidFill>
              </a:rPr>
              <a:t>"Analyze this sales data and identify trends..."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6FD8EFAD-9F25-1245-88EB-CC76C264FE88}"/>
              </a:ext>
            </a:extLst>
          </p:cNvPr>
          <p:cNvSpPr/>
          <p:nvPr/>
        </p:nvSpPr>
        <p:spPr>
          <a:xfrm>
            <a:off x="5981700" y="2540000"/>
            <a:ext cx="228600" cy="457200"/>
          </a:xfrm>
          <a:prstGeom prst="chevron">
            <a:avLst/>
          </a:prstGeom>
          <a:solidFill>
            <a:srgbClr val="8A8A9A">
              <a:alpha val="6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D5FCE7-2FBC-B34B-8797-7E09CB3CFCBF}"/>
              </a:ext>
            </a:extLst>
          </p:cNvPr>
          <p:cNvSpPr/>
          <p:nvPr/>
        </p:nvSpPr>
        <p:spPr>
          <a:xfrm>
            <a:off x="6235700" y="1714500"/>
            <a:ext cx="2514600" cy="2222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9F964-7C60-764E-BC8A-50D0A240801C}"/>
              </a:ext>
            </a:extLst>
          </p:cNvPr>
          <p:cNvSpPr/>
          <p:nvPr/>
        </p:nvSpPr>
        <p:spPr>
          <a:xfrm>
            <a:off x="6235700" y="1714500"/>
            <a:ext cx="2514600" cy="762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115368-7B43-2A4C-93BB-36696898342A}"/>
              </a:ext>
            </a:extLst>
          </p:cNvPr>
          <p:cNvSpPr/>
          <p:nvPr/>
        </p:nvSpPr>
        <p:spPr>
          <a:xfrm>
            <a:off x="7239000" y="1879600"/>
            <a:ext cx="508000" cy="508000"/>
          </a:xfrm>
          <a:prstGeom prst="ellipse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E26105-6DD6-6849-A4AB-3AE3EE306A27}"/>
              </a:ext>
            </a:extLst>
          </p:cNvPr>
          <p:cNvSpPr txBox="1"/>
          <p:nvPr/>
        </p:nvSpPr>
        <p:spPr>
          <a:xfrm>
            <a:off x="6337300" y="2489200"/>
            <a:ext cx="2311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533483"/>
                </a:solidFill>
              </a:rPr>
              <a:t>Context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B30F6-B55D-E74E-AA81-CE10EBB6914C}"/>
              </a:ext>
            </a:extLst>
          </p:cNvPr>
          <p:cNvSpPr txBox="1"/>
          <p:nvPr/>
        </p:nvSpPr>
        <p:spPr>
          <a:xfrm>
            <a:off x="6337300" y="28194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Background info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0D1EA4-87E1-F948-A341-734CB0BB44B9}"/>
              </a:ext>
            </a:extLst>
          </p:cNvPr>
          <p:cNvSpPr txBox="1"/>
          <p:nvPr/>
        </p:nvSpPr>
        <p:spPr>
          <a:xfrm>
            <a:off x="6337300" y="3175000"/>
            <a:ext cx="2311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2D3F"/>
                </a:solidFill>
              </a:rPr>
              <a:t>"The data covers Q1-Q4 of a SaaS company..."</a:t>
            </a: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946DFDA0-4AE8-8941-A3A2-9A8E9D374343}"/>
              </a:ext>
            </a:extLst>
          </p:cNvPr>
          <p:cNvSpPr/>
          <p:nvPr/>
        </p:nvSpPr>
        <p:spPr>
          <a:xfrm>
            <a:off x="8775700" y="2540000"/>
            <a:ext cx="228600" cy="457200"/>
          </a:xfrm>
          <a:prstGeom prst="chevron">
            <a:avLst/>
          </a:prstGeom>
          <a:solidFill>
            <a:srgbClr val="8A8A9A">
              <a:alpha val="6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C3B761-FB5C-2449-93E8-0965A7F3A17D}"/>
              </a:ext>
            </a:extLst>
          </p:cNvPr>
          <p:cNvSpPr/>
          <p:nvPr/>
        </p:nvSpPr>
        <p:spPr>
          <a:xfrm>
            <a:off x="9029700" y="1714500"/>
            <a:ext cx="2514600" cy="2222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2E742B-61D9-1D42-8AC3-F2DCD80B1213}"/>
              </a:ext>
            </a:extLst>
          </p:cNvPr>
          <p:cNvSpPr/>
          <p:nvPr/>
        </p:nvSpPr>
        <p:spPr>
          <a:xfrm>
            <a:off x="9029700" y="1714500"/>
            <a:ext cx="2514600" cy="76200"/>
          </a:xfrm>
          <a:prstGeom prst="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100C36-EA08-3D42-B144-37DD9381F2A8}"/>
              </a:ext>
            </a:extLst>
          </p:cNvPr>
          <p:cNvSpPr/>
          <p:nvPr/>
        </p:nvSpPr>
        <p:spPr>
          <a:xfrm>
            <a:off x="10033000" y="1879600"/>
            <a:ext cx="508000" cy="508000"/>
          </a:xfrm>
          <a:prstGeom prst="ellipse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31A0F-BAA1-3941-B3DF-602A7D8D58C4}"/>
              </a:ext>
            </a:extLst>
          </p:cNvPr>
          <p:cNvSpPr txBox="1"/>
          <p:nvPr/>
        </p:nvSpPr>
        <p:spPr>
          <a:xfrm>
            <a:off x="9131300" y="2489200"/>
            <a:ext cx="2311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E07C24"/>
                </a:solidFill>
              </a:rP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1A7B33-B04E-734E-B742-3A978EDE6731}"/>
              </a:ext>
            </a:extLst>
          </p:cNvPr>
          <p:cNvSpPr txBox="1"/>
          <p:nvPr/>
        </p:nvSpPr>
        <p:spPr>
          <a:xfrm>
            <a:off x="9131300" y="28194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How to format it?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433724-164B-044E-B568-122B9327DF73}"/>
              </a:ext>
            </a:extLst>
          </p:cNvPr>
          <p:cNvSpPr txBox="1"/>
          <p:nvPr/>
        </p:nvSpPr>
        <p:spPr>
          <a:xfrm>
            <a:off x="9131300" y="3175000"/>
            <a:ext cx="2311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2D3F"/>
                </a:solidFill>
              </a:rPr>
              <a:t>"Present as a bullet summary with a table..."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428BC9B-7EFA-4247-8B24-4F2126883BB9}"/>
              </a:ext>
            </a:extLst>
          </p:cNvPr>
          <p:cNvSpPr/>
          <p:nvPr/>
        </p:nvSpPr>
        <p:spPr>
          <a:xfrm>
            <a:off x="457200" y="4191000"/>
            <a:ext cx="11277600" cy="2159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E4A7BF-95E4-2441-AFB9-05A3B13F86E2}"/>
              </a:ext>
            </a:extLst>
          </p:cNvPr>
          <p:cNvSpPr txBox="1"/>
          <p:nvPr/>
        </p:nvSpPr>
        <p:spPr>
          <a:xfrm>
            <a:off x="711200" y="42926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Putting It All Together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CCF8B1-B35D-5043-A0F3-EC7F9A95EF29}"/>
              </a:ext>
            </a:extLst>
          </p:cNvPr>
          <p:cNvSpPr txBox="1"/>
          <p:nvPr/>
        </p:nvSpPr>
        <p:spPr>
          <a:xfrm>
            <a:off x="711200" y="46990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Role: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DCFD77-429D-1D41-995D-96C6D543E64E}"/>
              </a:ext>
            </a:extLst>
          </p:cNvPr>
          <p:cNvSpPr txBox="1"/>
          <p:nvPr/>
        </p:nvSpPr>
        <p:spPr>
          <a:xfrm>
            <a:off x="1371600" y="4699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You are an expert financial advisor.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514068-B2F4-6B41-9241-D28D55F2BA64}"/>
              </a:ext>
            </a:extLst>
          </p:cNvPr>
          <p:cNvSpPr txBox="1"/>
          <p:nvPr/>
        </p:nvSpPr>
        <p:spPr>
          <a:xfrm>
            <a:off x="711200" y="50165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3A86FF"/>
                </a:solidFill>
              </a:rPr>
              <a:t>Task: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7B63A5-FE1E-1943-8A9B-A8B7CEE1601C}"/>
              </a:ext>
            </a:extLst>
          </p:cNvPr>
          <p:cNvSpPr txBox="1"/>
          <p:nvPr/>
        </p:nvSpPr>
        <p:spPr>
          <a:xfrm>
            <a:off x="1371600" y="50165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Create a retirement savings plan for a 30-year-old.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41B598-0DC5-CA44-BDE6-835D0A69CD69}"/>
              </a:ext>
            </a:extLst>
          </p:cNvPr>
          <p:cNvSpPr txBox="1"/>
          <p:nvPr/>
        </p:nvSpPr>
        <p:spPr>
          <a:xfrm>
            <a:off x="711200" y="5334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57FE8"/>
                </a:solidFill>
              </a:rPr>
              <a:t>Context: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CA6BC1-7E25-234F-9DF6-81C85EDC64F8}"/>
              </a:ext>
            </a:extLst>
          </p:cNvPr>
          <p:cNvSpPr txBox="1"/>
          <p:nvPr/>
        </p:nvSpPr>
        <p:spPr>
          <a:xfrm>
            <a:off x="1752600" y="5334000"/>
            <a:ext cx="718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Annual income $80K, no existing investments, moderate risk tolerance.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4C4360-AE32-8E47-A77C-444406CE6AA2}"/>
              </a:ext>
            </a:extLst>
          </p:cNvPr>
          <p:cNvSpPr txBox="1"/>
          <p:nvPr/>
        </p:nvSpPr>
        <p:spPr>
          <a:xfrm>
            <a:off x="711200" y="5651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07C24"/>
                </a:solidFill>
              </a:rPr>
              <a:t>Output: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9EF573-E412-5C4F-B0E7-383A9503A68B}"/>
              </a:ext>
            </a:extLst>
          </p:cNvPr>
          <p:cNvSpPr txBox="1"/>
          <p:nvPr/>
        </p:nvSpPr>
        <p:spPr>
          <a:xfrm>
            <a:off x="1752600" y="5651500"/>
            <a:ext cx="7137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Provide a step-by-step plan with monthly savings targets in a numbered list.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BCD539B-3D38-FF42-B4FC-2E4F79C16A7E}"/>
              </a:ext>
            </a:extLst>
          </p:cNvPr>
          <p:cNvSpPr/>
          <p:nvPr/>
        </p:nvSpPr>
        <p:spPr>
          <a:xfrm>
            <a:off x="8890000" y="4635500"/>
            <a:ext cx="2540000" cy="14605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319A9E-3C1C-574D-AC3C-7A3B9007D463}"/>
              </a:ext>
            </a:extLst>
          </p:cNvPr>
          <p:cNvSpPr txBox="1"/>
          <p:nvPr/>
        </p:nvSpPr>
        <p:spPr>
          <a:xfrm>
            <a:off x="9042400" y="46990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■ Role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0F722E-CFCB-3643-A946-7487A164972B}"/>
              </a:ext>
            </a:extLst>
          </p:cNvPr>
          <p:cNvSpPr txBox="1"/>
          <p:nvPr/>
        </p:nvSpPr>
        <p:spPr>
          <a:xfrm>
            <a:off x="9042400" y="49911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3A86FF"/>
                </a:solidFill>
              </a:rPr>
              <a:t>■ Task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89306A-015B-D84B-91F1-632397D9E514}"/>
              </a:ext>
            </a:extLst>
          </p:cNvPr>
          <p:cNvSpPr txBox="1"/>
          <p:nvPr/>
        </p:nvSpPr>
        <p:spPr>
          <a:xfrm>
            <a:off x="9042400" y="5283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57FE8"/>
                </a:solidFill>
              </a:rPr>
              <a:t>■ Context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844787-850C-FF4C-BAD5-A578B46C1161}"/>
              </a:ext>
            </a:extLst>
          </p:cNvPr>
          <p:cNvSpPr txBox="1"/>
          <p:nvPr/>
        </p:nvSpPr>
        <p:spPr>
          <a:xfrm>
            <a:off x="9042400" y="55753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07C24"/>
                </a:solidFill>
              </a:rPr>
              <a:t>■ Output Format</a:t>
            </a:r>
          </a:p>
        </p:txBody>
      </p:sp>
    </p:spTree>
    <p:extLst>
      <p:ext uri="{BB962C8B-B14F-4D97-AF65-F5344CB8AC3E}">
        <p14:creationId xmlns:p14="http://schemas.microsoft.com/office/powerpoint/2010/main" val="196013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FCB1-DC14-D12D-0558-7C8269A3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/>
              <a:t>Pro Tips for Better Prompts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5E5E4CE-BF2B-4648-B1E2-71962BB18FCA}"/>
              </a:ext>
            </a:extLst>
          </p:cNvPr>
          <p:cNvSpPr/>
          <p:nvPr/>
        </p:nvSpPr>
        <p:spPr>
          <a:xfrm>
            <a:off x="508000" y="1714500"/>
            <a:ext cx="3556000" cy="1968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229A6-DA25-EA40-95B1-3ED00F249743}"/>
              </a:ext>
            </a:extLst>
          </p:cNvPr>
          <p:cNvSpPr/>
          <p:nvPr/>
        </p:nvSpPr>
        <p:spPr>
          <a:xfrm>
            <a:off x="508000" y="1714500"/>
            <a:ext cx="63500" cy="19685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47978-370C-274F-B266-23108DF0A39A}"/>
              </a:ext>
            </a:extLst>
          </p:cNvPr>
          <p:cNvSpPr txBox="1"/>
          <p:nvPr/>
        </p:nvSpPr>
        <p:spPr>
          <a:xfrm>
            <a:off x="685800" y="18415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E94560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9031F-FED9-7C42-886E-7E5602AFCD32}"/>
              </a:ext>
            </a:extLst>
          </p:cNvPr>
          <p:cNvSpPr txBox="1"/>
          <p:nvPr/>
        </p:nvSpPr>
        <p:spPr>
          <a:xfrm>
            <a:off x="1219200" y="18669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Be Specific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1BD81-91FE-4C47-AAC8-F95F9E757FF1}"/>
              </a:ext>
            </a:extLst>
          </p:cNvPr>
          <p:cNvSpPr txBox="1"/>
          <p:nvPr/>
        </p:nvSpPr>
        <p:spPr>
          <a:xfrm>
            <a:off x="711200" y="23495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Replace "write about X" with precise details about length, tone, audience, and purpose.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2314D2-9963-FA41-BA97-645C0F28BD1A}"/>
              </a:ext>
            </a:extLst>
          </p:cNvPr>
          <p:cNvSpPr/>
          <p:nvPr/>
        </p:nvSpPr>
        <p:spPr>
          <a:xfrm>
            <a:off x="4318000" y="1714500"/>
            <a:ext cx="3556000" cy="1968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5AB473-FCF7-1F40-8D8B-E6ADCB690658}"/>
              </a:ext>
            </a:extLst>
          </p:cNvPr>
          <p:cNvSpPr/>
          <p:nvPr/>
        </p:nvSpPr>
        <p:spPr>
          <a:xfrm>
            <a:off x="4318000" y="1714500"/>
            <a:ext cx="63500" cy="19685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D73CC-F23F-B048-A7EE-13E55489B66D}"/>
              </a:ext>
            </a:extLst>
          </p:cNvPr>
          <p:cNvSpPr txBox="1"/>
          <p:nvPr/>
        </p:nvSpPr>
        <p:spPr>
          <a:xfrm>
            <a:off x="4495800" y="18415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F3460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65B21E-81F9-FC49-9C76-F947227F8F1F}"/>
              </a:ext>
            </a:extLst>
          </p:cNvPr>
          <p:cNvSpPr txBox="1"/>
          <p:nvPr/>
        </p:nvSpPr>
        <p:spPr>
          <a:xfrm>
            <a:off x="5029200" y="18669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Use Constraints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222325-3D96-9046-89AC-D52A1BCBC0A8}"/>
              </a:ext>
            </a:extLst>
          </p:cNvPr>
          <p:cNvSpPr txBox="1"/>
          <p:nvPr/>
        </p:nvSpPr>
        <p:spPr>
          <a:xfrm>
            <a:off x="4521200" y="23495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Set boundaries: "In 3 sentences" or "Using only data from 2024" to focus the output.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F0FB69-F899-BF41-8D96-3E11B38BA738}"/>
              </a:ext>
            </a:extLst>
          </p:cNvPr>
          <p:cNvSpPr/>
          <p:nvPr/>
        </p:nvSpPr>
        <p:spPr>
          <a:xfrm>
            <a:off x="8128000" y="1714500"/>
            <a:ext cx="3556000" cy="1968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AAE05B-3DF4-3445-A8FF-B6623B96F564}"/>
              </a:ext>
            </a:extLst>
          </p:cNvPr>
          <p:cNvSpPr/>
          <p:nvPr/>
        </p:nvSpPr>
        <p:spPr>
          <a:xfrm>
            <a:off x="8128000" y="1714500"/>
            <a:ext cx="63500" cy="19685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B0926-57C2-934D-A213-0867B834CD5E}"/>
              </a:ext>
            </a:extLst>
          </p:cNvPr>
          <p:cNvSpPr txBox="1"/>
          <p:nvPr/>
        </p:nvSpPr>
        <p:spPr>
          <a:xfrm>
            <a:off x="8305800" y="18415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533483"/>
                </a:solidFill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C4349-5225-F842-99F6-817FFD034144}"/>
              </a:ext>
            </a:extLst>
          </p:cNvPr>
          <p:cNvSpPr txBox="1"/>
          <p:nvPr/>
        </p:nvSpPr>
        <p:spPr>
          <a:xfrm>
            <a:off x="8839200" y="18669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Chain of Thought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82840-3281-2B4B-A872-F0C5B7166DBD}"/>
              </a:ext>
            </a:extLst>
          </p:cNvPr>
          <p:cNvSpPr txBox="1"/>
          <p:nvPr/>
        </p:nvSpPr>
        <p:spPr>
          <a:xfrm>
            <a:off x="8331200" y="23495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Ask the AI to "think step by step" — it dramatically improves reasoning accuracy.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AECD314-15CD-4A4F-B1D8-397DFFA9F6BE}"/>
              </a:ext>
            </a:extLst>
          </p:cNvPr>
          <p:cNvSpPr/>
          <p:nvPr/>
        </p:nvSpPr>
        <p:spPr>
          <a:xfrm>
            <a:off x="508000" y="3886200"/>
            <a:ext cx="3556000" cy="1968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84506F-8220-2D4E-B412-B0A0CD26AA85}"/>
              </a:ext>
            </a:extLst>
          </p:cNvPr>
          <p:cNvSpPr/>
          <p:nvPr/>
        </p:nvSpPr>
        <p:spPr>
          <a:xfrm>
            <a:off x="508000" y="3886200"/>
            <a:ext cx="63500" cy="1968500"/>
          </a:xfrm>
          <a:prstGeom prst="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C779C-C7C3-D44E-9AB3-92CAFF3ED67D}"/>
              </a:ext>
            </a:extLst>
          </p:cNvPr>
          <p:cNvSpPr txBox="1"/>
          <p:nvPr/>
        </p:nvSpPr>
        <p:spPr>
          <a:xfrm>
            <a:off x="685800" y="40132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E07C24"/>
                </a:solidFill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A7B8D-78B3-134C-9F4D-5D5258AC7471}"/>
              </a:ext>
            </a:extLst>
          </p:cNvPr>
          <p:cNvSpPr txBox="1"/>
          <p:nvPr/>
        </p:nvSpPr>
        <p:spPr>
          <a:xfrm>
            <a:off x="1219200" y="4038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Iterate &amp; Refine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E742AE-43DA-6C47-B89A-C2B0572D5DA5}"/>
              </a:ext>
            </a:extLst>
          </p:cNvPr>
          <p:cNvSpPr txBox="1"/>
          <p:nvPr/>
        </p:nvSpPr>
        <p:spPr>
          <a:xfrm>
            <a:off x="711200" y="45212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Treat prompting as a conversation. Build on previous responses to narrow in on what you need.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395CF7-CAD1-3D4E-AE69-A233DBD8D08E}"/>
              </a:ext>
            </a:extLst>
          </p:cNvPr>
          <p:cNvSpPr/>
          <p:nvPr/>
        </p:nvSpPr>
        <p:spPr>
          <a:xfrm>
            <a:off x="4318000" y="3886200"/>
            <a:ext cx="3556000" cy="1968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8A2290-FFE2-014F-ACFB-9586091FF644}"/>
              </a:ext>
            </a:extLst>
          </p:cNvPr>
          <p:cNvSpPr/>
          <p:nvPr/>
        </p:nvSpPr>
        <p:spPr>
          <a:xfrm>
            <a:off x="4318000" y="3886200"/>
            <a:ext cx="63500" cy="1968500"/>
          </a:xfrm>
          <a:prstGeom prst="rect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27CD48-B5A5-DB43-AD34-D1D207CAE3F8}"/>
              </a:ext>
            </a:extLst>
          </p:cNvPr>
          <p:cNvSpPr txBox="1"/>
          <p:nvPr/>
        </p:nvSpPr>
        <p:spPr>
          <a:xfrm>
            <a:off x="4495800" y="40132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B9348"/>
                </a:solidFill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C707EB-F86E-694B-92F8-882B5A1F625A}"/>
              </a:ext>
            </a:extLst>
          </p:cNvPr>
          <p:cNvSpPr txBox="1"/>
          <p:nvPr/>
        </p:nvSpPr>
        <p:spPr>
          <a:xfrm>
            <a:off x="5029200" y="4038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Set the Persona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AC86A7-33AC-1448-AA79-7C421CC2F38E}"/>
              </a:ext>
            </a:extLst>
          </p:cNvPr>
          <p:cNvSpPr txBox="1"/>
          <p:nvPr/>
        </p:nvSpPr>
        <p:spPr>
          <a:xfrm>
            <a:off x="4521200" y="45212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"Act as a [role]" changes how the model approaches a problem and the vocabulary it uses.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DEFE649-1AF2-F24E-80CD-FA315FDDCE5A}"/>
              </a:ext>
            </a:extLst>
          </p:cNvPr>
          <p:cNvSpPr/>
          <p:nvPr/>
        </p:nvSpPr>
        <p:spPr>
          <a:xfrm>
            <a:off x="8128000" y="3886200"/>
            <a:ext cx="3556000" cy="1968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439A46-426A-9843-8F17-78321BC147D2}"/>
              </a:ext>
            </a:extLst>
          </p:cNvPr>
          <p:cNvSpPr/>
          <p:nvPr/>
        </p:nvSpPr>
        <p:spPr>
          <a:xfrm>
            <a:off x="8128000" y="3886200"/>
            <a:ext cx="63500" cy="1968500"/>
          </a:xfrm>
          <a:prstGeom prst="rect">
            <a:avLst/>
          </a:prstGeom>
          <a:solidFill>
            <a:srgbClr val="3A86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4171E7-6789-6B44-8AC3-B7D46468FCD5}"/>
              </a:ext>
            </a:extLst>
          </p:cNvPr>
          <p:cNvSpPr txBox="1"/>
          <p:nvPr/>
        </p:nvSpPr>
        <p:spPr>
          <a:xfrm>
            <a:off x="8305800" y="40132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3A86FF"/>
                </a:solidFill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BC824E-51B6-8B4E-A9EF-070900864DDB}"/>
              </a:ext>
            </a:extLst>
          </p:cNvPr>
          <p:cNvSpPr txBox="1"/>
          <p:nvPr/>
        </p:nvSpPr>
        <p:spPr>
          <a:xfrm>
            <a:off x="8839200" y="4038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A1A2E"/>
                </a:solidFill>
              </a:rPr>
              <a:t>Provide Examples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591076-77F1-3647-91EF-5B20B4A15B25}"/>
              </a:ext>
            </a:extLst>
          </p:cNvPr>
          <p:cNvSpPr txBox="1"/>
          <p:nvPr/>
        </p:nvSpPr>
        <p:spPr>
          <a:xfrm>
            <a:off x="8331200" y="45212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Show the format you want. One good example is worth a hundred words of description.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35FDCC2-8EBD-4449-B495-76C040B4DF49}"/>
              </a:ext>
            </a:extLst>
          </p:cNvPr>
          <p:cNvSpPr/>
          <p:nvPr/>
        </p:nvSpPr>
        <p:spPr>
          <a:xfrm>
            <a:off x="2286000" y="5994400"/>
            <a:ext cx="7620000" cy="482600"/>
          </a:xfrm>
          <a:prstGeom prst="roundRect">
            <a:avLst/>
          </a:prstGeom>
          <a:solidFill>
            <a:srgbClr val="533483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2094B4-8635-E447-ADAC-91B3B379C745}"/>
              </a:ext>
            </a:extLst>
          </p:cNvPr>
          <p:cNvSpPr txBox="1"/>
          <p:nvPr/>
        </p:nvSpPr>
        <p:spPr>
          <a:xfrm>
            <a:off x="2489200" y="6045200"/>
            <a:ext cx="7213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533483"/>
                </a:solidFill>
              </a:rPr>
              <a:t>Remember: Prompting is a skill — the more you practice, the better you get!</a:t>
            </a:r>
          </a:p>
        </p:txBody>
      </p:sp>
    </p:spTree>
    <p:extLst>
      <p:ext uri="{BB962C8B-B14F-4D97-AF65-F5344CB8AC3E}">
        <p14:creationId xmlns:p14="http://schemas.microsoft.com/office/powerpoint/2010/main" val="380620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7E33-88DE-2E9A-1F37-5A08B08A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/>
              <a:t>Common Mistakes to Avoid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B57EF3B-A009-4742-B515-3EC10A84F7FA}"/>
              </a:ext>
            </a:extLst>
          </p:cNvPr>
          <p:cNvSpPr/>
          <p:nvPr/>
        </p:nvSpPr>
        <p:spPr>
          <a:xfrm>
            <a:off x="457200" y="1651000"/>
            <a:ext cx="5461000" cy="4572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0734E-28A9-574F-A9E2-9130AFF26007}"/>
              </a:ext>
            </a:extLst>
          </p:cNvPr>
          <p:cNvSpPr txBox="1"/>
          <p:nvPr/>
        </p:nvSpPr>
        <p:spPr>
          <a:xfrm>
            <a:off x="635000" y="17018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❌  Don't Do This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E63FAE-9576-DC4B-AC19-5AE341B20656}"/>
              </a:ext>
            </a:extLst>
          </p:cNvPr>
          <p:cNvSpPr/>
          <p:nvPr/>
        </p:nvSpPr>
        <p:spPr>
          <a:xfrm>
            <a:off x="6273800" y="1651000"/>
            <a:ext cx="5461000" cy="457200"/>
          </a:xfrm>
          <a:prstGeom prst="roundRect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B964A-EACE-944A-9E0F-6C4DA4944393}"/>
              </a:ext>
            </a:extLst>
          </p:cNvPr>
          <p:cNvSpPr txBox="1"/>
          <p:nvPr/>
        </p:nvSpPr>
        <p:spPr>
          <a:xfrm>
            <a:off x="6451600" y="17018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✅  Do This Instead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50591F-13A0-3C41-A847-30E87F66AA2D}"/>
              </a:ext>
            </a:extLst>
          </p:cNvPr>
          <p:cNvSpPr/>
          <p:nvPr/>
        </p:nvSpPr>
        <p:spPr>
          <a:xfrm>
            <a:off x="457200" y="22098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1C250-837C-9843-A510-FC35D5EFB818}"/>
              </a:ext>
            </a:extLst>
          </p:cNvPr>
          <p:cNvSpPr txBox="1"/>
          <p:nvPr/>
        </p:nvSpPr>
        <p:spPr>
          <a:xfrm>
            <a:off x="609600" y="22606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392B"/>
                </a:solidFill>
              </a:rPr>
              <a:t>Being too vague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9C689-87D2-834E-89D9-D19411EDCFCF}"/>
              </a:ext>
            </a:extLst>
          </p:cNvPr>
          <p:cNvSpPr txBox="1"/>
          <p:nvPr/>
        </p:nvSpPr>
        <p:spPr>
          <a:xfrm>
            <a:off x="609600" y="25654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"Write something about marketing"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CB91C43-3406-A147-9066-3E7F0244657F}"/>
              </a:ext>
            </a:extLst>
          </p:cNvPr>
          <p:cNvSpPr/>
          <p:nvPr/>
        </p:nvSpPr>
        <p:spPr>
          <a:xfrm>
            <a:off x="6019800" y="2565400"/>
            <a:ext cx="304800" cy="228600"/>
          </a:xfrm>
          <a:prstGeom prst="rightArrow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F7C31-4897-B24E-B7A3-11E6EBFA8755}"/>
              </a:ext>
            </a:extLst>
          </p:cNvPr>
          <p:cNvSpPr/>
          <p:nvPr/>
        </p:nvSpPr>
        <p:spPr>
          <a:xfrm>
            <a:off x="6273800" y="22098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FC9F9-2CFF-2A47-93F8-97F42E2F8430}"/>
              </a:ext>
            </a:extLst>
          </p:cNvPr>
          <p:cNvSpPr txBox="1"/>
          <p:nvPr/>
        </p:nvSpPr>
        <p:spPr>
          <a:xfrm>
            <a:off x="6426200" y="22606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9348"/>
                </a:solidFill>
              </a:rPr>
              <a:t>Be specific and targeted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F3A42A-8866-3E44-A3CA-DA5C7EC49151}"/>
              </a:ext>
            </a:extLst>
          </p:cNvPr>
          <p:cNvSpPr txBox="1"/>
          <p:nvPr/>
        </p:nvSpPr>
        <p:spPr>
          <a:xfrm>
            <a:off x="6426200" y="25654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"Write a 200-word LinkedIn post about email marketing ROI for SaaS startups"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484CEF3-6D6F-A14F-889F-65882724E5E9}"/>
              </a:ext>
            </a:extLst>
          </p:cNvPr>
          <p:cNvSpPr/>
          <p:nvPr/>
        </p:nvSpPr>
        <p:spPr>
          <a:xfrm>
            <a:off x="457200" y="32893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6B87F-8F9D-3948-B929-274C8887CD2C}"/>
              </a:ext>
            </a:extLst>
          </p:cNvPr>
          <p:cNvSpPr txBox="1"/>
          <p:nvPr/>
        </p:nvSpPr>
        <p:spPr>
          <a:xfrm>
            <a:off x="609600" y="33401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392B"/>
                </a:solidFill>
              </a:rPr>
              <a:t>Asking multiple things at once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472893-25BB-2443-907C-AD202189EF24}"/>
              </a:ext>
            </a:extLst>
          </p:cNvPr>
          <p:cNvSpPr txBox="1"/>
          <p:nvPr/>
        </p:nvSpPr>
        <p:spPr>
          <a:xfrm>
            <a:off x="609600" y="36449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"Summarize this, translate it, and make a quiz"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2D412A52-61CD-B74A-B021-F74659EB9DBB}"/>
              </a:ext>
            </a:extLst>
          </p:cNvPr>
          <p:cNvSpPr/>
          <p:nvPr/>
        </p:nvSpPr>
        <p:spPr>
          <a:xfrm>
            <a:off x="6019800" y="3644900"/>
            <a:ext cx="304800" cy="228600"/>
          </a:xfrm>
          <a:prstGeom prst="rightArrow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44F778-3D85-C843-B8AF-77F85EEDFBA3}"/>
              </a:ext>
            </a:extLst>
          </p:cNvPr>
          <p:cNvSpPr/>
          <p:nvPr/>
        </p:nvSpPr>
        <p:spPr>
          <a:xfrm>
            <a:off x="6273800" y="32893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D880ED-3711-204C-A0DE-4870DC05FDB6}"/>
              </a:ext>
            </a:extLst>
          </p:cNvPr>
          <p:cNvSpPr txBox="1"/>
          <p:nvPr/>
        </p:nvSpPr>
        <p:spPr>
          <a:xfrm>
            <a:off x="6426200" y="33401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9348"/>
                </a:solidFill>
              </a:rPr>
              <a:t>One task per prompt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5D679-F133-F642-8854-DB42F6B3B29C}"/>
              </a:ext>
            </a:extLst>
          </p:cNvPr>
          <p:cNvSpPr txBox="1"/>
          <p:nvPr/>
        </p:nvSpPr>
        <p:spPr>
          <a:xfrm>
            <a:off x="6426200" y="36449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"Summarize this article in 3 bullet points" → then follow up with the next task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1D958BC-49F9-FB41-88EC-E049EC54EE76}"/>
              </a:ext>
            </a:extLst>
          </p:cNvPr>
          <p:cNvSpPr/>
          <p:nvPr/>
        </p:nvSpPr>
        <p:spPr>
          <a:xfrm>
            <a:off x="457200" y="43688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BC5E4-DE45-8C4A-B344-6BFFB0553823}"/>
              </a:ext>
            </a:extLst>
          </p:cNvPr>
          <p:cNvSpPr txBox="1"/>
          <p:nvPr/>
        </p:nvSpPr>
        <p:spPr>
          <a:xfrm>
            <a:off x="609600" y="44196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392B"/>
                </a:solidFill>
              </a:rPr>
              <a:t>No output format specified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245C2-2979-8346-AAFF-592202727EAB}"/>
              </a:ext>
            </a:extLst>
          </p:cNvPr>
          <p:cNvSpPr txBox="1"/>
          <p:nvPr/>
        </p:nvSpPr>
        <p:spPr>
          <a:xfrm>
            <a:off x="609600" y="47244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"Give me a comparison of X and Y"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4ACF0474-476A-4C40-9A8C-77A9AB649813}"/>
              </a:ext>
            </a:extLst>
          </p:cNvPr>
          <p:cNvSpPr/>
          <p:nvPr/>
        </p:nvSpPr>
        <p:spPr>
          <a:xfrm>
            <a:off x="6019800" y="4724400"/>
            <a:ext cx="304800" cy="228600"/>
          </a:xfrm>
          <a:prstGeom prst="rightArrow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A760391-F450-204C-969E-EBE3FA88BF10}"/>
              </a:ext>
            </a:extLst>
          </p:cNvPr>
          <p:cNvSpPr/>
          <p:nvPr/>
        </p:nvSpPr>
        <p:spPr>
          <a:xfrm>
            <a:off x="6273800" y="43688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203ABB-0099-DD4F-B9BD-64FFF678DE1B}"/>
              </a:ext>
            </a:extLst>
          </p:cNvPr>
          <p:cNvSpPr txBox="1"/>
          <p:nvPr/>
        </p:nvSpPr>
        <p:spPr>
          <a:xfrm>
            <a:off x="6426200" y="44196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9348"/>
                </a:solidFill>
              </a:rPr>
              <a:t>Define the structure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389D72-0716-824A-8443-3C2E0DEEE556}"/>
              </a:ext>
            </a:extLst>
          </p:cNvPr>
          <p:cNvSpPr txBox="1"/>
          <p:nvPr/>
        </p:nvSpPr>
        <p:spPr>
          <a:xfrm>
            <a:off x="6426200" y="47244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"Compare X and Y in a table with columns: Feature, X, Y, Winner"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5360B73-181D-8543-97D1-A95DFDEB40F9}"/>
              </a:ext>
            </a:extLst>
          </p:cNvPr>
          <p:cNvSpPr/>
          <p:nvPr/>
        </p:nvSpPr>
        <p:spPr>
          <a:xfrm>
            <a:off x="457200" y="54483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5FA141-078C-084A-AB0D-2BF1B9A24F7C}"/>
              </a:ext>
            </a:extLst>
          </p:cNvPr>
          <p:cNvSpPr txBox="1"/>
          <p:nvPr/>
        </p:nvSpPr>
        <p:spPr>
          <a:xfrm>
            <a:off x="609600" y="54991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392B"/>
                </a:solidFill>
              </a:rPr>
              <a:t>Ignoring context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A63500-2DCB-7E43-8C47-03EADF1F6105}"/>
              </a:ext>
            </a:extLst>
          </p:cNvPr>
          <p:cNvSpPr txBox="1"/>
          <p:nvPr/>
        </p:nvSpPr>
        <p:spPr>
          <a:xfrm>
            <a:off x="609600" y="58039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"Write a cover letter"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CBF582C6-FA95-FD4B-A497-65819EB26BAE}"/>
              </a:ext>
            </a:extLst>
          </p:cNvPr>
          <p:cNvSpPr/>
          <p:nvPr/>
        </p:nvSpPr>
        <p:spPr>
          <a:xfrm>
            <a:off x="6019800" y="5803900"/>
            <a:ext cx="304800" cy="228600"/>
          </a:xfrm>
          <a:prstGeom prst="rightArrow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DC6E4C3-48D1-694E-9F7C-8903F5DF7F44}"/>
              </a:ext>
            </a:extLst>
          </p:cNvPr>
          <p:cNvSpPr/>
          <p:nvPr/>
        </p:nvSpPr>
        <p:spPr>
          <a:xfrm>
            <a:off x="6273800" y="5448300"/>
            <a:ext cx="5461000" cy="1003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609C70-384B-6044-B17C-F9F1F7F2219F}"/>
              </a:ext>
            </a:extLst>
          </p:cNvPr>
          <p:cNvSpPr txBox="1"/>
          <p:nvPr/>
        </p:nvSpPr>
        <p:spPr>
          <a:xfrm>
            <a:off x="6426200" y="5499100"/>
            <a:ext cx="514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9348"/>
                </a:solidFill>
              </a:rPr>
              <a:t>Provide relevant background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70047A-4573-4B48-8C64-D7EC22474E71}"/>
              </a:ext>
            </a:extLst>
          </p:cNvPr>
          <p:cNvSpPr txBox="1"/>
          <p:nvPr/>
        </p:nvSpPr>
        <p:spPr>
          <a:xfrm>
            <a:off x="6426200" y="5803900"/>
            <a:ext cx="5143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5A6A"/>
                </a:solidFill>
              </a:rPr>
              <a:t>"Write a cover letter for a senior PM role at a fintech startup. I have 5 years in product."</a:t>
            </a:r>
          </a:p>
        </p:txBody>
      </p:sp>
    </p:spTree>
    <p:extLst>
      <p:ext uri="{BB962C8B-B14F-4D97-AF65-F5344CB8AC3E}">
        <p14:creationId xmlns:p14="http://schemas.microsoft.com/office/powerpoint/2010/main" val="211013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D110-A5F4-D0D6-5429-EE53C800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Prompting for Support Engineers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F4A08-F0A6-E472-3E41-E2BCF1420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5A5A6A"/>
                </a:solidFill>
              </a:rPr>
              <a:t>Real-world templates for ticket triage, summarization, email drafting &amp; more</a:t>
            </a:r>
          </a:p>
        </p:txBody>
      </p:sp>
    </p:spTree>
    <p:extLst>
      <p:ext uri="{BB962C8B-B14F-4D97-AF65-F5344CB8AC3E}">
        <p14:creationId xmlns:p14="http://schemas.microsoft.com/office/powerpoint/2010/main" val="291616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AFE1-E25C-5094-35C1-08191300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Use Case: Issue Summarization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F86DF6D-B207-B347-99FE-EBDA8A6BDA00}"/>
              </a:ext>
            </a:extLst>
          </p:cNvPr>
          <p:cNvSpPr/>
          <p:nvPr/>
        </p:nvSpPr>
        <p:spPr>
          <a:xfrm>
            <a:off x="457200" y="16510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8E584A-42BB-5D44-940E-A8043494CDAC}"/>
              </a:ext>
            </a:extLst>
          </p:cNvPr>
          <p:cNvSpPr/>
          <p:nvPr/>
        </p:nvSpPr>
        <p:spPr>
          <a:xfrm>
            <a:off x="457200" y="1651000"/>
            <a:ext cx="6350000" cy="4318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FCBCE-15E9-AB46-8D52-C4223E873762}"/>
              </a:ext>
            </a:extLst>
          </p:cNvPr>
          <p:cNvSpPr txBox="1"/>
          <p:nvPr/>
        </p:nvSpPr>
        <p:spPr>
          <a:xfrm>
            <a:off x="635000" y="1689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Prompt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FFB91-F6EC-2B49-9DBF-5D557A46ED07}"/>
              </a:ext>
            </a:extLst>
          </p:cNvPr>
          <p:cNvSpPr txBox="1"/>
          <p:nvPr/>
        </p:nvSpPr>
        <p:spPr>
          <a:xfrm>
            <a:off x="609600" y="2159000"/>
            <a:ext cx="60452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C3E50"/>
                </a:solidFill>
              </a:rPr>
              <a:t>You are a senior support engineer.
Summarize this support ticket in
3 bullet points:
• Issue reported
• Steps already taken
• Current blocker
Ticket: {paste ticket here}
Use plain language. Keep each
bullet under 20 words.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355E6B-E242-9C4F-B8AC-653912695920}"/>
              </a:ext>
            </a:extLst>
          </p:cNvPr>
          <p:cNvSpPr/>
          <p:nvPr/>
        </p:nvSpPr>
        <p:spPr>
          <a:xfrm>
            <a:off x="7061200" y="1651000"/>
            <a:ext cx="4699000" cy="187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D6B894-C376-FC40-9CAD-14F9437A3F95}"/>
              </a:ext>
            </a:extLst>
          </p:cNvPr>
          <p:cNvSpPr/>
          <p:nvPr/>
        </p:nvSpPr>
        <p:spPr>
          <a:xfrm>
            <a:off x="7061200" y="1651000"/>
            <a:ext cx="63500" cy="1879600"/>
          </a:xfrm>
          <a:prstGeom prst="rect">
            <a:avLst/>
          </a:prstGeom>
          <a:solidFill>
            <a:srgbClr val="2B93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3792A-EF84-C848-ADF2-FEE46BECD608}"/>
              </a:ext>
            </a:extLst>
          </p:cNvPr>
          <p:cNvSpPr txBox="1"/>
          <p:nvPr/>
        </p:nvSpPr>
        <p:spPr>
          <a:xfrm>
            <a:off x="7264400" y="1727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9348"/>
                </a:solidFill>
              </a:rPr>
              <a:t>Why This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83D1F-8FB3-8F4F-A542-0511571D012E}"/>
              </a:ext>
            </a:extLst>
          </p:cNvPr>
          <p:cNvSpPr txBox="1"/>
          <p:nvPr/>
        </p:nvSpPr>
        <p:spPr>
          <a:xfrm>
            <a:off x="7264400" y="2108200"/>
            <a:ext cx="431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→ Role sets expert context
→ Structured 3-bullet format
→ Word limit prevents rambling
→ Plain language = team-readable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E79A34-9543-D247-B410-C9BDABC81A03}"/>
              </a:ext>
            </a:extLst>
          </p:cNvPr>
          <p:cNvSpPr/>
          <p:nvPr/>
        </p:nvSpPr>
        <p:spPr>
          <a:xfrm>
            <a:off x="7061200" y="3683000"/>
            <a:ext cx="4699000" cy="1778000"/>
          </a:xfrm>
          <a:prstGeom prst="roundRect">
            <a:avLst/>
          </a:prstGeom>
          <a:solidFill>
            <a:srgbClr val="533483">
              <a:alpha val="94902"/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BC69D-4563-274A-ADA4-4B4CB0D566CF}"/>
              </a:ext>
            </a:extLst>
          </p:cNvPr>
          <p:cNvSpPr txBox="1"/>
          <p:nvPr/>
        </p:nvSpPr>
        <p:spPr>
          <a:xfrm>
            <a:off x="7264400" y="37592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533483"/>
                </a:solidFill>
              </a:rPr>
              <a:t>Pro Tip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8D201-0305-C743-A4F0-CC71CE5C464A}"/>
              </a:ext>
            </a:extLst>
          </p:cNvPr>
          <p:cNvSpPr txBox="1"/>
          <p:nvPr/>
        </p:nvSpPr>
        <p:spPr>
          <a:xfrm>
            <a:off x="7264400" y="4089400"/>
            <a:ext cx="4318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Add "Include severity: P1/P2/P3/P4" to auto-tag priority. Chain this with a categorization prompt for full ticket triage.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27CC42-0C17-BA4F-86B2-39602A8E1353}"/>
              </a:ext>
            </a:extLst>
          </p:cNvPr>
          <p:cNvSpPr/>
          <p:nvPr/>
        </p:nvSpPr>
        <p:spPr>
          <a:xfrm>
            <a:off x="457200" y="5689600"/>
            <a:ext cx="11303000" cy="558800"/>
          </a:xfrm>
          <a:prstGeom prst="roundRect">
            <a:avLst/>
          </a:prstGeom>
          <a:solidFill>
            <a:srgbClr val="E94560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F9714D-7435-DD47-8495-1C149C0C0944}"/>
              </a:ext>
            </a:extLst>
          </p:cNvPr>
          <p:cNvSpPr txBox="1"/>
          <p:nvPr/>
        </p:nvSpPr>
        <p:spPr>
          <a:xfrm>
            <a:off x="711200" y="5802411"/>
            <a:ext cx="10795000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 dirty="0">
                <a:solidFill>
                  <a:schemeClr val="tx2"/>
                </a:solidFill>
              </a:rPr>
              <a:t>Engineers spend 2-4 hours per escalated ticket reconstructing context - AI summaries eliminate this.</a:t>
            </a:r>
          </a:p>
        </p:txBody>
      </p:sp>
    </p:spTree>
    <p:extLst>
      <p:ext uri="{BB962C8B-B14F-4D97-AF65-F5344CB8AC3E}">
        <p14:creationId xmlns:p14="http://schemas.microsoft.com/office/powerpoint/2010/main" val="248485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3DED-3CA4-C631-6A0A-DD0D1479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Use Case: Ticket Categorization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FF6B88-617C-8743-8AD3-054A6E124FE8}"/>
              </a:ext>
            </a:extLst>
          </p:cNvPr>
          <p:cNvSpPr/>
          <p:nvPr/>
        </p:nvSpPr>
        <p:spPr>
          <a:xfrm>
            <a:off x="457200" y="16510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B1D5DD-1FA2-8948-8463-5CB2856AF97B}"/>
              </a:ext>
            </a:extLst>
          </p:cNvPr>
          <p:cNvSpPr/>
          <p:nvPr/>
        </p:nvSpPr>
        <p:spPr>
          <a:xfrm>
            <a:off x="457200" y="1651000"/>
            <a:ext cx="6350000" cy="431800"/>
          </a:xfrm>
          <a:prstGeom prst="round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55C77-2CD3-9E48-A088-B93B84A2A77C}"/>
              </a:ext>
            </a:extLst>
          </p:cNvPr>
          <p:cNvSpPr txBox="1"/>
          <p:nvPr/>
        </p:nvSpPr>
        <p:spPr>
          <a:xfrm>
            <a:off x="635000" y="1689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Prompt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9E4EC7-2A4B-AF4B-B509-2332B1EEFD6C}"/>
              </a:ext>
            </a:extLst>
          </p:cNvPr>
          <p:cNvSpPr txBox="1"/>
          <p:nvPr/>
        </p:nvSpPr>
        <p:spPr>
          <a:xfrm>
            <a:off x="609600" y="2159000"/>
            <a:ext cx="60452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C3E50"/>
                </a:solidFill>
              </a:rPr>
              <a:t>Classify this support ticket.
Categories: Billing, Technical,
Feature Request, Onboarding, General
Priority: P1 (outage), P2 (degraded),
P3 (workaround exists), P4 (cosmetic)
Return JSON only:
{
  "category": "...",
  "priority": "...",
  "confidence": 0.0-1.0
}
Ticket: {paste ticket here}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CB53A6-7525-7742-9BDB-BC110D0BA48D}"/>
              </a:ext>
            </a:extLst>
          </p:cNvPr>
          <p:cNvSpPr/>
          <p:nvPr/>
        </p:nvSpPr>
        <p:spPr>
          <a:xfrm>
            <a:off x="7061200" y="1651000"/>
            <a:ext cx="4699000" cy="137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D2DD08-7884-0A42-9B89-ECD45014D187}"/>
              </a:ext>
            </a:extLst>
          </p:cNvPr>
          <p:cNvSpPr/>
          <p:nvPr/>
        </p:nvSpPr>
        <p:spPr>
          <a:xfrm>
            <a:off x="7061200" y="1651000"/>
            <a:ext cx="63500" cy="1371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860266-DB5B-9949-885D-1BA79A88C2CE}"/>
              </a:ext>
            </a:extLst>
          </p:cNvPr>
          <p:cNvSpPr txBox="1"/>
          <p:nvPr/>
        </p:nvSpPr>
        <p:spPr>
          <a:xfrm>
            <a:off x="7264400" y="1727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E94560"/>
                </a:solidFill>
              </a:rPr>
              <a:t>Key Technique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383EEA-61AD-564D-BADC-ACB15278DE04}"/>
              </a:ext>
            </a:extLst>
          </p:cNvPr>
          <p:cNvSpPr txBox="1"/>
          <p:nvPr/>
        </p:nvSpPr>
        <p:spPr>
          <a:xfrm>
            <a:off x="7264400" y="2082800"/>
            <a:ext cx="4318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Structured JSON output makes
results machine-parseable for
automated routing and SLA timers.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E0E2FC3-CFA3-F549-8C46-C48CE14097DF}"/>
              </a:ext>
            </a:extLst>
          </p:cNvPr>
          <p:cNvSpPr/>
          <p:nvPr/>
        </p:nvSpPr>
        <p:spPr>
          <a:xfrm>
            <a:off x="7061200" y="3175000"/>
            <a:ext cx="4699000" cy="228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E37FD7-E5AB-F842-AAD3-C52D5FF6BCED}"/>
              </a:ext>
            </a:extLst>
          </p:cNvPr>
          <p:cNvSpPr/>
          <p:nvPr/>
        </p:nvSpPr>
        <p:spPr>
          <a:xfrm>
            <a:off x="7061200" y="3175000"/>
            <a:ext cx="63500" cy="22860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12F5F-9522-8347-AE06-181356D1BFC7}"/>
              </a:ext>
            </a:extLst>
          </p:cNvPr>
          <p:cNvSpPr txBox="1"/>
          <p:nvPr/>
        </p:nvSpPr>
        <p:spPr>
          <a:xfrm>
            <a:off x="7264400" y="3251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F3460"/>
                </a:solidFill>
              </a:rPr>
              <a:t>Results at Scale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8A5417-0EE5-B54F-87D7-FCFAA6A351DA}"/>
              </a:ext>
            </a:extLst>
          </p:cNvPr>
          <p:cNvSpPr txBox="1"/>
          <p:nvPr/>
        </p:nvSpPr>
        <p:spPr>
          <a:xfrm>
            <a:off x="7264400" y="3632200"/>
            <a:ext cx="43180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→ 90%+ tagging consistency
→ Multi-label: product area, issue
   type, urgency, sentiment
→ Under 1 second per ticket
→ Eliminates "Other" and "General"
   tags that break reporting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82658CD-65A5-F449-BC3A-E24207F89302}"/>
              </a:ext>
            </a:extLst>
          </p:cNvPr>
          <p:cNvSpPr/>
          <p:nvPr/>
        </p:nvSpPr>
        <p:spPr>
          <a:xfrm>
            <a:off x="457200" y="5689600"/>
            <a:ext cx="11303000" cy="558800"/>
          </a:xfrm>
          <a:prstGeom prst="roundRect">
            <a:avLst/>
          </a:prstGeom>
          <a:solidFill>
            <a:srgbClr val="E07C24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95CB15-D471-F146-9BF9-E0E5E579345A}"/>
              </a:ext>
            </a:extLst>
          </p:cNvPr>
          <p:cNvSpPr txBox="1"/>
          <p:nvPr/>
        </p:nvSpPr>
        <p:spPr>
          <a:xfrm>
            <a:off x="711200" y="5802411"/>
            <a:ext cx="10795000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 dirty="0">
                <a:solidFill>
                  <a:srgbClr val="B8620D"/>
                </a:solidFill>
              </a:rPr>
              <a:t>Always add a confidence score - route low-confidence tickets (&lt;0.7) to human review instead of auto-routing.</a:t>
            </a:r>
          </a:p>
        </p:txBody>
      </p:sp>
    </p:spTree>
    <p:extLst>
      <p:ext uri="{BB962C8B-B14F-4D97-AF65-F5344CB8AC3E}">
        <p14:creationId xmlns:p14="http://schemas.microsoft.com/office/powerpoint/2010/main" val="125245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5F70-188F-DCF4-60EF-9196430D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Use Case: Customer Email Drafting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75F547-A01B-F14F-B85C-19EA5689B9E8}"/>
              </a:ext>
            </a:extLst>
          </p:cNvPr>
          <p:cNvSpPr/>
          <p:nvPr/>
        </p:nvSpPr>
        <p:spPr>
          <a:xfrm>
            <a:off x="457200" y="16510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A0249D3-2D52-7E40-BB56-B4616C36C766}"/>
              </a:ext>
            </a:extLst>
          </p:cNvPr>
          <p:cNvSpPr/>
          <p:nvPr/>
        </p:nvSpPr>
        <p:spPr>
          <a:xfrm>
            <a:off x="457200" y="1651000"/>
            <a:ext cx="6350000" cy="431800"/>
          </a:xfrm>
          <a:prstGeom prst="round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6BE56-11D2-5045-8546-54D8F1F64FED}"/>
              </a:ext>
            </a:extLst>
          </p:cNvPr>
          <p:cNvSpPr txBox="1"/>
          <p:nvPr/>
        </p:nvSpPr>
        <p:spPr>
          <a:xfrm>
            <a:off x="635000" y="1689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Prompt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807EC-9DEB-4942-98D9-C0DC29DEA8DF}"/>
              </a:ext>
            </a:extLst>
          </p:cNvPr>
          <p:cNvSpPr txBox="1"/>
          <p:nvPr/>
        </p:nvSpPr>
        <p:spPr>
          <a:xfrm>
            <a:off x="609600" y="2159000"/>
            <a:ext cx="60452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C3E50"/>
                </a:solidFill>
              </a:rPr>
              <a:t>Draft a customer reply for this
support ticket.
Tone: Professional, empathetic,
solution-oriented
Length: 3-5 sentences
Structure:
1. Acknowledge the issue
2. Explain the fix / next step
3. Set expectations on timeline
Ticket: {paste ticket here}
Do NOT promise features or
timelines not confirmed by PM.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C65070-877B-3544-916F-35DD34781099}"/>
              </a:ext>
            </a:extLst>
          </p:cNvPr>
          <p:cNvSpPr/>
          <p:nvPr/>
        </p:nvSpPr>
        <p:spPr>
          <a:xfrm>
            <a:off x="7061200" y="1651000"/>
            <a:ext cx="4699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D6D49-CC74-BB4D-A101-4D9BB64E5957}"/>
              </a:ext>
            </a:extLst>
          </p:cNvPr>
          <p:cNvSpPr/>
          <p:nvPr/>
        </p:nvSpPr>
        <p:spPr>
          <a:xfrm>
            <a:off x="7061200" y="1651000"/>
            <a:ext cx="63500" cy="16510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6C8C6-BDD1-B940-B85E-C8B25CE8A443}"/>
              </a:ext>
            </a:extLst>
          </p:cNvPr>
          <p:cNvSpPr txBox="1"/>
          <p:nvPr/>
        </p:nvSpPr>
        <p:spPr>
          <a:xfrm>
            <a:off x="7264400" y="1727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533483"/>
                </a:solidFill>
              </a:rPr>
              <a:t>Few-Shot for Tone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A1CCC-7AC7-E04D-B660-C9DC8255875C}"/>
              </a:ext>
            </a:extLst>
          </p:cNvPr>
          <p:cNvSpPr txBox="1"/>
          <p:nvPr/>
        </p:nvSpPr>
        <p:spPr>
          <a:xfrm>
            <a:off x="7264400" y="2108200"/>
            <a:ext cx="4318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Paste 2-3 approved replies as
examples before the new ticket.
The AI will match your team's
tone and structure automatically.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2FCC38-C1D5-8244-A5AF-51046A6E00B4}"/>
              </a:ext>
            </a:extLst>
          </p:cNvPr>
          <p:cNvSpPr/>
          <p:nvPr/>
        </p:nvSpPr>
        <p:spPr>
          <a:xfrm>
            <a:off x="7061200" y="3454400"/>
            <a:ext cx="4699000" cy="200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DC2E46-E49D-8548-9545-6BB2045C6743}"/>
              </a:ext>
            </a:extLst>
          </p:cNvPr>
          <p:cNvSpPr/>
          <p:nvPr/>
        </p:nvSpPr>
        <p:spPr>
          <a:xfrm>
            <a:off x="7061200" y="3454400"/>
            <a:ext cx="63500" cy="20066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127AF-6B43-1F4A-B87F-E1285840443D}"/>
              </a:ext>
            </a:extLst>
          </p:cNvPr>
          <p:cNvSpPr txBox="1"/>
          <p:nvPr/>
        </p:nvSpPr>
        <p:spPr>
          <a:xfrm>
            <a:off x="7264400" y="35306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0392B"/>
                </a:solidFill>
              </a:rPr>
              <a:t>Defensive Prompting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814042-5B4A-664E-A74C-88CFA76CA825}"/>
              </a:ext>
            </a:extLst>
          </p:cNvPr>
          <p:cNvSpPr txBox="1"/>
          <p:nvPr/>
        </p:nvSpPr>
        <p:spPr>
          <a:xfrm>
            <a:off x="7264400" y="3911600"/>
            <a:ext cx="4318000" cy="146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3A3A4A"/>
                </a:solidFill>
              </a:rPr>
              <a:t>Always include guardrails:
→ "Do NOT promise features"
→ "Do NOT share internal data"
→ "If unsure, escalate to a human"
This is prompt scaffolding —
it sandboxes the AI's behavior.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DDE24-A62C-5840-A67D-711B641B75CD}"/>
              </a:ext>
            </a:extLst>
          </p:cNvPr>
          <p:cNvSpPr/>
          <p:nvPr/>
        </p:nvSpPr>
        <p:spPr>
          <a:xfrm>
            <a:off x="457200" y="5791200"/>
            <a:ext cx="11303000" cy="558800"/>
          </a:xfrm>
          <a:prstGeom prst="roundRect">
            <a:avLst/>
          </a:prstGeom>
          <a:solidFill>
            <a:srgbClr val="533483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05C12B-A591-3640-ADBE-CDECFBEECAF4}"/>
              </a:ext>
            </a:extLst>
          </p:cNvPr>
          <p:cNvSpPr txBox="1"/>
          <p:nvPr/>
        </p:nvSpPr>
        <p:spPr>
          <a:xfrm>
            <a:off x="711200" y="58674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533483"/>
                </a:solidFill>
              </a:rPr>
              <a:t>GenAI can instantly adjust tone and expand responses — reducing onboarding time for new support hires.</a:t>
            </a:r>
          </a:p>
        </p:txBody>
      </p:sp>
    </p:spTree>
    <p:extLst>
      <p:ext uri="{BB962C8B-B14F-4D97-AF65-F5344CB8AC3E}">
        <p14:creationId xmlns:p14="http://schemas.microsoft.com/office/powerpoint/2010/main" val="390323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ADF7-E7D7-92DD-95A3-7D724DAB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Use Case: Knowledge Base Q&amp;A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030A8C-FF25-864D-9B47-17259BF4DD30}"/>
              </a:ext>
            </a:extLst>
          </p:cNvPr>
          <p:cNvSpPr/>
          <p:nvPr/>
        </p:nvSpPr>
        <p:spPr>
          <a:xfrm>
            <a:off x="457200" y="1651000"/>
            <a:ext cx="63500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304792-094B-E64D-9B3D-F9E5ED809F88}"/>
              </a:ext>
            </a:extLst>
          </p:cNvPr>
          <p:cNvSpPr/>
          <p:nvPr/>
        </p:nvSpPr>
        <p:spPr>
          <a:xfrm>
            <a:off x="457200" y="1651000"/>
            <a:ext cx="6350000" cy="431800"/>
          </a:xfrm>
          <a:prstGeom prst="round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2EEA7-2EF1-6A4B-8D2A-B8B44602D89D}"/>
              </a:ext>
            </a:extLst>
          </p:cNvPr>
          <p:cNvSpPr txBox="1"/>
          <p:nvPr/>
        </p:nvSpPr>
        <p:spPr>
          <a:xfrm>
            <a:off x="635000" y="1689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Prompt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2A375-237D-4447-B41A-BAB43B0308C8}"/>
              </a:ext>
            </a:extLst>
          </p:cNvPr>
          <p:cNvSpPr txBox="1"/>
          <p:nvPr/>
        </p:nvSpPr>
        <p:spPr>
          <a:xfrm>
            <a:off x="609600" y="2159000"/>
            <a:ext cx="60452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C3E50"/>
                </a:solidFill>
              </a:rPr>
              <a:t>Answer using ONLY the KB articles below.
Rules:
• If in KB, cite the article title
• If NOT in KB, say: “I don’t have
  an article — escalating to an engineer.”
• Never make up information
KB Articles: {paste articles}
Question: {customer question}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5958EF-0B4A-8045-9B99-AD47E83BAE24}"/>
              </a:ext>
            </a:extLst>
          </p:cNvPr>
          <p:cNvSpPr/>
          <p:nvPr/>
        </p:nvSpPr>
        <p:spPr>
          <a:xfrm>
            <a:off x="7061200" y="1651000"/>
            <a:ext cx="4699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E561EF-BB4E-0A46-996F-742DE9720522}"/>
              </a:ext>
            </a:extLst>
          </p:cNvPr>
          <p:cNvSpPr/>
          <p:nvPr/>
        </p:nvSpPr>
        <p:spPr>
          <a:xfrm>
            <a:off x="7061200" y="1651000"/>
            <a:ext cx="63500" cy="1651000"/>
          </a:xfrm>
          <a:prstGeom prst="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15075-58BD-F94A-B5F0-FB9692ACBE43}"/>
              </a:ext>
            </a:extLst>
          </p:cNvPr>
          <p:cNvSpPr txBox="1"/>
          <p:nvPr/>
        </p:nvSpPr>
        <p:spPr>
          <a:xfrm>
            <a:off x="7264400" y="1727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E07C24"/>
                </a:solidFill>
              </a:rPr>
              <a:t>Grounded Answers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FC7B5-E009-3545-A33D-1BBC00D0CECC}"/>
              </a:ext>
            </a:extLst>
          </p:cNvPr>
          <p:cNvSpPr txBox="1"/>
          <p:nvPr/>
        </p:nvSpPr>
        <p:spPr>
          <a:xfrm>
            <a:off x="7264400" y="2108200"/>
            <a:ext cx="4318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"Use ONLY the KB" prevents
hallucination. The explicit fallback
instruction stops the AI from
guessing when it doesn't know.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737E00-F332-B145-9D00-57C6BEE55931}"/>
              </a:ext>
            </a:extLst>
          </p:cNvPr>
          <p:cNvSpPr/>
          <p:nvPr/>
        </p:nvSpPr>
        <p:spPr>
          <a:xfrm>
            <a:off x="7061200" y="3454400"/>
            <a:ext cx="46990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3A1436-80C5-DD4A-94FB-8F360F208ECE}"/>
              </a:ext>
            </a:extLst>
          </p:cNvPr>
          <p:cNvSpPr/>
          <p:nvPr/>
        </p:nvSpPr>
        <p:spPr>
          <a:xfrm>
            <a:off x="7061200" y="3454400"/>
            <a:ext cx="63500" cy="17780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F2546E-B058-A645-922C-92A9E069312E}"/>
              </a:ext>
            </a:extLst>
          </p:cNvPr>
          <p:cNvSpPr txBox="1"/>
          <p:nvPr/>
        </p:nvSpPr>
        <p:spPr>
          <a:xfrm>
            <a:off x="7264400" y="35306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F3460"/>
                </a:solidFill>
              </a:rPr>
              <a:t>Prompt Chaining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C6A839-C085-2844-91FA-6AFEB6422B4F}"/>
              </a:ext>
            </a:extLst>
          </p:cNvPr>
          <p:cNvSpPr txBox="1"/>
          <p:nvPr/>
        </p:nvSpPr>
        <p:spPr>
          <a:xfrm>
            <a:off x="7264400" y="3911600"/>
            <a:ext cx="431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3A4A"/>
                </a:solidFill>
              </a:rPr>
              <a:t>For complex workflows, chain
multiple prompts:
1. Categorize the question
2. Search relevant KB articles
3. Generate answer from results
4. Verify answer against source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6877B6-1060-D442-BADB-9B14D5C9BA25}"/>
              </a:ext>
            </a:extLst>
          </p:cNvPr>
          <p:cNvSpPr/>
          <p:nvPr/>
        </p:nvSpPr>
        <p:spPr>
          <a:xfrm>
            <a:off x="457200" y="5588000"/>
            <a:ext cx="11303000" cy="558800"/>
          </a:xfrm>
          <a:prstGeom prst="roundRect">
            <a:avLst/>
          </a:prstGeom>
          <a:solidFill>
            <a:srgbClr val="2B9348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8A8B0-3CCE-7A45-9944-FF6F192F09F3}"/>
              </a:ext>
            </a:extLst>
          </p:cNvPr>
          <p:cNvSpPr txBox="1"/>
          <p:nvPr/>
        </p:nvSpPr>
        <p:spPr>
          <a:xfrm>
            <a:off x="711200" y="56642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D6E2E"/>
                </a:solidFill>
              </a:rPr>
              <a:t>AI that recognizes common patterns and offers instant KB answers can reduce ticket volume by 30-50%.</a:t>
            </a:r>
          </a:p>
        </p:txBody>
      </p:sp>
    </p:spTree>
    <p:extLst>
      <p:ext uri="{BB962C8B-B14F-4D97-AF65-F5344CB8AC3E}">
        <p14:creationId xmlns:p14="http://schemas.microsoft.com/office/powerpoint/2010/main" val="74823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C253-1BF0-A790-1B1A-0925156E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Support-Specific Pitfalls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9F058D-E303-714E-9077-AB7063EA2D0D}"/>
              </a:ext>
            </a:extLst>
          </p:cNvPr>
          <p:cNvSpPr/>
          <p:nvPr/>
        </p:nvSpPr>
        <p:spPr>
          <a:xfrm>
            <a:off x="457200" y="1651000"/>
            <a:ext cx="11277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7EE78-5A82-624A-8BA8-B5C9027562AA}"/>
              </a:ext>
            </a:extLst>
          </p:cNvPr>
          <p:cNvSpPr/>
          <p:nvPr/>
        </p:nvSpPr>
        <p:spPr>
          <a:xfrm>
            <a:off x="457200" y="1651000"/>
            <a:ext cx="63500" cy="7366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B9AC3B-FB48-7F4D-9728-D78D92AE5BFC}"/>
              </a:ext>
            </a:extLst>
          </p:cNvPr>
          <p:cNvSpPr/>
          <p:nvPr/>
        </p:nvSpPr>
        <p:spPr>
          <a:xfrm>
            <a:off x="660400" y="1790700"/>
            <a:ext cx="457200" cy="4572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8AC3E-951A-6042-B2DC-028814009A1C}"/>
              </a:ext>
            </a:extLst>
          </p:cNvPr>
          <p:cNvSpPr txBox="1"/>
          <p:nvPr/>
        </p:nvSpPr>
        <p:spPr>
          <a:xfrm>
            <a:off x="1270000" y="17018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C0392B"/>
                </a:solidFill>
              </a:rPr>
              <a:t>Trusting AI output without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B0549-BFB5-544E-B3D5-09E1B91422DA}"/>
              </a:ext>
            </a:extLst>
          </p:cNvPr>
          <p:cNvSpPr txBox="1"/>
          <p:nvPr/>
        </p:nvSpPr>
        <p:spPr>
          <a:xfrm>
            <a:off x="1270000" y="2006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Always verify - AI can hallucinate KB articles, invent ticket history, or misread sentiment.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3A557F-F04E-2D4C-83BF-98297C16A46C}"/>
              </a:ext>
            </a:extLst>
          </p:cNvPr>
          <p:cNvSpPr/>
          <p:nvPr/>
        </p:nvSpPr>
        <p:spPr>
          <a:xfrm>
            <a:off x="457200" y="2489200"/>
            <a:ext cx="11277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3940C-0851-5C48-8ACA-65726425B1E3}"/>
              </a:ext>
            </a:extLst>
          </p:cNvPr>
          <p:cNvSpPr/>
          <p:nvPr/>
        </p:nvSpPr>
        <p:spPr>
          <a:xfrm>
            <a:off x="457200" y="2489200"/>
            <a:ext cx="63500" cy="736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CE2A7C-EA04-BE44-BDF4-4F8D41D86319}"/>
              </a:ext>
            </a:extLst>
          </p:cNvPr>
          <p:cNvSpPr/>
          <p:nvPr/>
        </p:nvSpPr>
        <p:spPr>
          <a:xfrm>
            <a:off x="660400" y="2628900"/>
            <a:ext cx="457200" cy="457200"/>
          </a:xfrm>
          <a:prstGeom prst="ellipse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17874F-DA99-7043-9134-821AC1443F02}"/>
              </a:ext>
            </a:extLst>
          </p:cNvPr>
          <p:cNvSpPr txBox="1"/>
          <p:nvPr/>
        </p:nvSpPr>
        <p:spPr>
          <a:xfrm>
            <a:off x="1270000" y="2540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E94560"/>
                </a:solidFill>
              </a:rPr>
              <a:t>Skipping the fallback instruction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A54087-9EFA-6842-9660-23837F4C62FB}"/>
              </a:ext>
            </a:extLst>
          </p:cNvPr>
          <p:cNvSpPr txBox="1"/>
          <p:nvPr/>
        </p:nvSpPr>
        <p:spPr>
          <a:xfrm>
            <a:off x="1270000" y="2844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Add "If unsure, say so" - without it, the AI will guess rather than escalate.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8803AA1-805B-4F4F-90C1-202BC3088F34}"/>
              </a:ext>
            </a:extLst>
          </p:cNvPr>
          <p:cNvSpPr/>
          <p:nvPr/>
        </p:nvSpPr>
        <p:spPr>
          <a:xfrm>
            <a:off x="457200" y="3327400"/>
            <a:ext cx="11277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232FD0-A56F-4D4B-AAF0-BEDC2A5240CF}"/>
              </a:ext>
            </a:extLst>
          </p:cNvPr>
          <p:cNvSpPr/>
          <p:nvPr/>
        </p:nvSpPr>
        <p:spPr>
          <a:xfrm>
            <a:off x="457200" y="3327400"/>
            <a:ext cx="63500" cy="736600"/>
          </a:xfrm>
          <a:prstGeom prst="rect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0FA6B8-38DC-8A4E-9FC3-B6E08E07B30E}"/>
              </a:ext>
            </a:extLst>
          </p:cNvPr>
          <p:cNvSpPr/>
          <p:nvPr/>
        </p:nvSpPr>
        <p:spPr>
          <a:xfrm>
            <a:off x="660400" y="3467100"/>
            <a:ext cx="457200" cy="457200"/>
          </a:xfrm>
          <a:prstGeom prst="ellipse">
            <a:avLst/>
          </a:prstGeom>
          <a:solidFill>
            <a:srgbClr val="E07C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EB7127-2245-9849-915B-BD5357F940D6}"/>
              </a:ext>
            </a:extLst>
          </p:cNvPr>
          <p:cNvSpPr txBox="1"/>
          <p:nvPr/>
        </p:nvSpPr>
        <p:spPr>
          <a:xfrm>
            <a:off x="1270000" y="33782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E07C24"/>
                </a:solidFill>
              </a:rPr>
              <a:t>Copy-pasting the entire ticket thread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1BCDD2-7C62-7149-99FC-FBE033E8BF80}"/>
              </a:ext>
            </a:extLst>
          </p:cNvPr>
          <p:cNvSpPr txBox="1"/>
          <p:nvPr/>
        </p:nvSpPr>
        <p:spPr>
          <a:xfrm>
            <a:off x="1270000" y="3683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Trim to the latest 3-5 messages. Too much context = noise and slower, less focused output.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32F32E2-B12A-D649-A970-4DBC98D490F6}"/>
              </a:ext>
            </a:extLst>
          </p:cNvPr>
          <p:cNvSpPr/>
          <p:nvPr/>
        </p:nvSpPr>
        <p:spPr>
          <a:xfrm>
            <a:off x="457200" y="4165600"/>
            <a:ext cx="11277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0AB217-0C12-9745-ABCF-E3EDD25CF0AE}"/>
              </a:ext>
            </a:extLst>
          </p:cNvPr>
          <p:cNvSpPr/>
          <p:nvPr/>
        </p:nvSpPr>
        <p:spPr>
          <a:xfrm>
            <a:off x="457200" y="4165600"/>
            <a:ext cx="63500" cy="7366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37BCC7-4270-0F4A-9D3E-D6DA74CA7850}"/>
              </a:ext>
            </a:extLst>
          </p:cNvPr>
          <p:cNvSpPr/>
          <p:nvPr/>
        </p:nvSpPr>
        <p:spPr>
          <a:xfrm>
            <a:off x="660400" y="4305300"/>
            <a:ext cx="457200" cy="457200"/>
          </a:xfrm>
          <a:prstGeom prst="ellipse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3D9C49-2750-E941-AEB4-82714083C77C}"/>
              </a:ext>
            </a:extLst>
          </p:cNvPr>
          <p:cNvSpPr txBox="1"/>
          <p:nvPr/>
        </p:nvSpPr>
        <p:spPr>
          <a:xfrm>
            <a:off x="1270000" y="4216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533483"/>
                </a:solidFill>
              </a:rPr>
              <a:t>No guardrails on promises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F30E35-6DA2-B542-86B4-9A9379D0D6CC}"/>
              </a:ext>
            </a:extLst>
          </p:cNvPr>
          <p:cNvSpPr txBox="1"/>
          <p:nvPr/>
        </p:nvSpPr>
        <p:spPr>
          <a:xfrm>
            <a:off x="1270000" y="45212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Explicitly ban: timelines, feature commitments, refund approvals. One wrong promise = escalation.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BABCF23-AA3A-0A4C-86B5-2C04A01B76F0}"/>
              </a:ext>
            </a:extLst>
          </p:cNvPr>
          <p:cNvSpPr/>
          <p:nvPr/>
        </p:nvSpPr>
        <p:spPr>
          <a:xfrm>
            <a:off x="457200" y="5003800"/>
            <a:ext cx="11277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E93EEF-84DF-9A4C-9BC6-C58A12A2AE27}"/>
              </a:ext>
            </a:extLst>
          </p:cNvPr>
          <p:cNvSpPr/>
          <p:nvPr/>
        </p:nvSpPr>
        <p:spPr>
          <a:xfrm>
            <a:off x="457200" y="5003800"/>
            <a:ext cx="63500" cy="7366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9D3A8A-4414-E740-9CCC-4DD564808088}"/>
              </a:ext>
            </a:extLst>
          </p:cNvPr>
          <p:cNvSpPr/>
          <p:nvPr/>
        </p:nvSpPr>
        <p:spPr>
          <a:xfrm>
            <a:off x="660400" y="5143500"/>
            <a:ext cx="457200" cy="457200"/>
          </a:xfrm>
          <a:prstGeom prst="ellipse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FAD0C7-0B9C-8740-BE36-533D9109373F}"/>
              </a:ext>
            </a:extLst>
          </p:cNvPr>
          <p:cNvSpPr txBox="1"/>
          <p:nvPr/>
        </p:nvSpPr>
        <p:spPr>
          <a:xfrm>
            <a:off x="1270000" y="5054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F3460"/>
                </a:solidFill>
              </a:rPr>
              <a:t>Same prompt for every situation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BBD625-241E-1F41-921E-DD3A0B05910F}"/>
              </a:ext>
            </a:extLst>
          </p:cNvPr>
          <p:cNvSpPr txBox="1"/>
          <p:nvPr/>
        </p:nvSpPr>
        <p:spPr>
          <a:xfrm>
            <a:off x="1270000" y="5359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A5A6A"/>
                </a:solidFill>
              </a:rPr>
              <a:t>Build a prompt library - separate templates for billing, bugs, outages, and feature requests.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8D2D565-7CB2-8A42-BA48-A20BC9D3FE63}"/>
              </a:ext>
            </a:extLst>
          </p:cNvPr>
          <p:cNvSpPr/>
          <p:nvPr/>
        </p:nvSpPr>
        <p:spPr>
          <a:xfrm>
            <a:off x="1524000" y="5943600"/>
            <a:ext cx="9144000" cy="482600"/>
          </a:xfrm>
          <a:prstGeom prst="roundRect">
            <a:avLst/>
          </a:prstGeom>
          <a:solidFill>
            <a:srgbClr val="C0392B">
              <a:alpha val="9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D1ED57-C9B4-CF49-A462-A489A609CB39}"/>
              </a:ext>
            </a:extLst>
          </p:cNvPr>
          <p:cNvSpPr txBox="1"/>
          <p:nvPr/>
        </p:nvSpPr>
        <p:spPr>
          <a:xfrm>
            <a:off x="1778000" y="59944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C0392B"/>
                </a:solidFill>
              </a:rPr>
              <a:t>Golden rule: AI drafts, humans approve. Never auto-send without review.</a:t>
            </a:r>
          </a:p>
        </p:txBody>
      </p:sp>
    </p:spTree>
    <p:extLst>
      <p:ext uri="{BB962C8B-B14F-4D97-AF65-F5344CB8AC3E}">
        <p14:creationId xmlns:p14="http://schemas.microsoft.com/office/powerpoint/2010/main" val="336758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B195-523F-86F8-5055-A1C56B1B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Hands-On Exercises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ECD2817-C8E2-7240-9CFB-A29FCF9AFC66}"/>
              </a:ext>
            </a:extLst>
          </p:cNvPr>
          <p:cNvSpPr/>
          <p:nvPr/>
        </p:nvSpPr>
        <p:spPr>
          <a:xfrm>
            <a:off x="508000" y="1651000"/>
            <a:ext cx="35560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C316F3-1B2C-864A-AED0-B360A0D98E88}"/>
              </a:ext>
            </a:extLst>
          </p:cNvPr>
          <p:cNvSpPr/>
          <p:nvPr/>
        </p:nvSpPr>
        <p:spPr>
          <a:xfrm>
            <a:off x="508000" y="1651000"/>
            <a:ext cx="35560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B569D6-C852-9541-91B5-E82BC783D757}"/>
              </a:ext>
            </a:extLst>
          </p:cNvPr>
          <p:cNvSpPr/>
          <p:nvPr/>
        </p:nvSpPr>
        <p:spPr>
          <a:xfrm>
            <a:off x="685800" y="1879600"/>
            <a:ext cx="1143000" cy="330200"/>
          </a:xfrm>
          <a:prstGeom prst="round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Exercise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6C37F-BE1C-9B46-9E15-29A7925F0964}"/>
              </a:ext>
            </a:extLst>
          </p:cNvPr>
          <p:cNvSpPr txBox="1"/>
          <p:nvPr/>
        </p:nvSpPr>
        <p:spPr>
          <a:xfrm>
            <a:off x="685800" y="2336800"/>
            <a:ext cx="320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2E"/>
                </a:solidFill>
              </a:rPr>
              <a:t>Summarize a Ticket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385CB-C440-4B4C-B539-5BC4144AE6C5}"/>
              </a:ext>
            </a:extLst>
          </p:cNvPr>
          <p:cNvSpPr txBox="1"/>
          <p:nvPr/>
        </p:nvSpPr>
        <p:spPr>
          <a:xfrm>
            <a:off x="685800" y="2768600"/>
            <a:ext cx="3200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Take a real (anonymized) ticket from your queue. Write a prompt that produces a 3-bullet summary with issue, steps taken, and blocker.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81002A-AD7A-794F-A80C-0F99EA4BBD4A}"/>
              </a:ext>
            </a:extLst>
          </p:cNvPr>
          <p:cNvSpPr/>
          <p:nvPr/>
        </p:nvSpPr>
        <p:spPr>
          <a:xfrm>
            <a:off x="685800" y="4648200"/>
            <a:ext cx="889000" cy="330200"/>
          </a:xfrm>
          <a:prstGeom prst="roundRect">
            <a:avLst/>
          </a:prstGeom>
          <a:solidFill>
            <a:srgbClr val="E94560">
              <a:alpha val="1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6EA5B-5AEB-F14E-BD0E-49830B2B8832}"/>
              </a:ext>
            </a:extLst>
          </p:cNvPr>
          <p:cNvSpPr txBox="1"/>
          <p:nvPr/>
        </p:nvSpPr>
        <p:spPr>
          <a:xfrm>
            <a:off x="685800" y="46736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E94560"/>
                </a:solidFill>
              </a:rPr>
              <a:t>10 min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FDBFF5-1A97-2242-8411-57AFF8F43E42}"/>
              </a:ext>
            </a:extLst>
          </p:cNvPr>
          <p:cNvSpPr/>
          <p:nvPr/>
        </p:nvSpPr>
        <p:spPr>
          <a:xfrm>
            <a:off x="4318000" y="1651000"/>
            <a:ext cx="35560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A358FC-37D1-4E4E-A3D6-086953C000CF}"/>
              </a:ext>
            </a:extLst>
          </p:cNvPr>
          <p:cNvSpPr/>
          <p:nvPr/>
        </p:nvSpPr>
        <p:spPr>
          <a:xfrm>
            <a:off x="4318000" y="1651000"/>
            <a:ext cx="3556000" cy="762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E22CBC-C1E5-0E43-A260-391D63C020EB}"/>
              </a:ext>
            </a:extLst>
          </p:cNvPr>
          <p:cNvSpPr/>
          <p:nvPr/>
        </p:nvSpPr>
        <p:spPr>
          <a:xfrm>
            <a:off x="4495800" y="1879600"/>
            <a:ext cx="1143000" cy="3302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Exercise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E70C0-3E46-934F-85F2-4F4CA1BEB6BF}"/>
              </a:ext>
            </a:extLst>
          </p:cNvPr>
          <p:cNvSpPr txBox="1"/>
          <p:nvPr/>
        </p:nvSpPr>
        <p:spPr>
          <a:xfrm>
            <a:off x="4495800" y="2336800"/>
            <a:ext cx="320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2E"/>
                </a:solidFill>
              </a:rPr>
              <a:t>Build a Categorizer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3289A9-367A-8449-BEC5-3547A575E41D}"/>
              </a:ext>
            </a:extLst>
          </p:cNvPr>
          <p:cNvSpPr txBox="1"/>
          <p:nvPr/>
        </p:nvSpPr>
        <p:spPr>
          <a:xfrm>
            <a:off x="4495800" y="2768600"/>
            <a:ext cx="3200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Create a prompt that classifies tickets into your team's actual categories. Test with 5 tickets. Compare AI labels to human labels.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A8BF32-DA1D-174B-8B86-F60BECE6112B}"/>
              </a:ext>
            </a:extLst>
          </p:cNvPr>
          <p:cNvSpPr/>
          <p:nvPr/>
        </p:nvSpPr>
        <p:spPr>
          <a:xfrm>
            <a:off x="4495800" y="4648200"/>
            <a:ext cx="889000" cy="330200"/>
          </a:xfrm>
          <a:prstGeom prst="roundRect">
            <a:avLst/>
          </a:prstGeom>
          <a:solidFill>
            <a:srgbClr val="0F3460">
              <a:alpha val="1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9E083-9ECA-C34D-A1F0-D16D140FE51E}"/>
              </a:ext>
            </a:extLst>
          </p:cNvPr>
          <p:cNvSpPr txBox="1"/>
          <p:nvPr/>
        </p:nvSpPr>
        <p:spPr>
          <a:xfrm>
            <a:off x="4495800" y="46736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0F3460"/>
                </a:solidFill>
              </a:rPr>
              <a:t>15 min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72D35E7-0A43-C54A-B918-943FD9152736}"/>
              </a:ext>
            </a:extLst>
          </p:cNvPr>
          <p:cNvSpPr/>
          <p:nvPr/>
        </p:nvSpPr>
        <p:spPr>
          <a:xfrm>
            <a:off x="8128000" y="1651000"/>
            <a:ext cx="35560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D62562-3FF3-EA41-9FE1-084192982E6F}"/>
              </a:ext>
            </a:extLst>
          </p:cNvPr>
          <p:cNvSpPr/>
          <p:nvPr/>
        </p:nvSpPr>
        <p:spPr>
          <a:xfrm>
            <a:off x="8128000" y="1651000"/>
            <a:ext cx="3556000" cy="76200"/>
          </a:xfrm>
          <a:prstGeom prst="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4301485-4C30-5B48-A21E-AC5A76A39D78}"/>
              </a:ext>
            </a:extLst>
          </p:cNvPr>
          <p:cNvSpPr/>
          <p:nvPr/>
        </p:nvSpPr>
        <p:spPr>
          <a:xfrm>
            <a:off x="8305800" y="1879600"/>
            <a:ext cx="1143000" cy="330200"/>
          </a:xfrm>
          <a:prstGeom prst="roundRect">
            <a:avLst/>
          </a:prstGeom>
          <a:solidFill>
            <a:srgbClr val="53348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Exercise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17071-24C5-F940-9DBE-0886E6A71276}"/>
              </a:ext>
            </a:extLst>
          </p:cNvPr>
          <p:cNvSpPr txBox="1"/>
          <p:nvPr/>
        </p:nvSpPr>
        <p:spPr>
          <a:xfrm>
            <a:off x="8305800" y="2336800"/>
            <a:ext cx="320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2E"/>
                </a:solidFill>
              </a:rPr>
              <a:t>Draft &amp; Refine a Reply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A5B9C-2D10-034D-BD5D-4515B6A6660E}"/>
              </a:ext>
            </a:extLst>
          </p:cNvPr>
          <p:cNvSpPr txBox="1"/>
          <p:nvPr/>
        </p:nvSpPr>
        <p:spPr>
          <a:xfrm>
            <a:off x="8305800" y="2768600"/>
            <a:ext cx="3200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A5A6A"/>
                </a:solidFill>
              </a:rPr>
              <a:t>Draft a customer email using a prompt. Then iterate: add tone guidance, a few-shot example, and guardrails. Compare v1 vs v3.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AE059C9-D9FA-6449-9052-07E78F820400}"/>
              </a:ext>
            </a:extLst>
          </p:cNvPr>
          <p:cNvSpPr/>
          <p:nvPr/>
        </p:nvSpPr>
        <p:spPr>
          <a:xfrm>
            <a:off x="8305800" y="4648200"/>
            <a:ext cx="889000" cy="330200"/>
          </a:xfrm>
          <a:prstGeom prst="roundRect">
            <a:avLst/>
          </a:prstGeom>
          <a:solidFill>
            <a:srgbClr val="533483">
              <a:alpha val="1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590C79-0D42-324B-ADB7-3EB900654361}"/>
              </a:ext>
            </a:extLst>
          </p:cNvPr>
          <p:cNvSpPr txBox="1"/>
          <p:nvPr/>
        </p:nvSpPr>
        <p:spPr>
          <a:xfrm>
            <a:off x="8305800" y="46736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533483"/>
                </a:solidFill>
              </a:rPr>
              <a:t>15 min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2EC2E24-3A88-C943-904A-9B50520D6B5B}"/>
              </a:ext>
            </a:extLst>
          </p:cNvPr>
          <p:cNvSpPr/>
          <p:nvPr/>
        </p:nvSpPr>
        <p:spPr>
          <a:xfrm>
            <a:off x="1524000" y="5461000"/>
            <a:ext cx="9144000" cy="762000"/>
          </a:xfrm>
          <a:prstGeom prst="round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F5215-D556-9D48-854B-13110F0B0D70}"/>
              </a:ext>
            </a:extLst>
          </p:cNvPr>
          <p:cNvSpPr txBox="1"/>
          <p:nvPr/>
        </p:nvSpPr>
        <p:spPr>
          <a:xfrm>
            <a:off x="1778000" y="5537200"/>
            <a:ext cx="8636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Work in pairs. Test prompts on real tickets.
Save your best prompts to a shared team prompt library.</a:t>
            </a:r>
          </a:p>
        </p:txBody>
      </p:sp>
    </p:spTree>
    <p:extLst>
      <p:ext uri="{BB962C8B-B14F-4D97-AF65-F5344CB8AC3E}">
        <p14:creationId xmlns:p14="http://schemas.microsoft.com/office/powerpoint/2010/main" val="363975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7C51C-5607-9A4D-8FE7-259517390C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4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797358-7BEF-0445-AFEB-0D10B241B676}"/>
              </a:ext>
            </a:extLst>
          </p:cNvPr>
          <p:cNvSpPr txBox="1"/>
          <p:nvPr/>
        </p:nvSpPr>
        <p:spPr>
          <a:xfrm>
            <a:off x="1270000" y="1270000"/>
            <a:ext cx="965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Start Prompting Like a Pro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61F21-FB62-7248-8CD1-2F5CF003D105}"/>
              </a:ext>
            </a:extLst>
          </p:cNvPr>
          <p:cNvSpPr txBox="1"/>
          <p:nvPr/>
        </p:nvSpPr>
        <p:spPr>
          <a:xfrm>
            <a:off x="2286000" y="2159000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i="1">
                <a:solidFill>
                  <a:srgbClr val="B0C4DE"/>
                </a:solidFill>
              </a:rPr>
              <a:t>Your AI is only as good as your prompt.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92CBF-CA39-6D42-9D6C-6EF468AD093A}"/>
              </a:ext>
            </a:extLst>
          </p:cNvPr>
          <p:cNvSpPr txBox="1"/>
          <p:nvPr/>
        </p:nvSpPr>
        <p:spPr>
          <a:xfrm>
            <a:off x="2794000" y="2921000"/>
            <a:ext cx="660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→  Be specific — clarity beats cleverness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DE9D7-D6D9-614A-9E7A-12D674817DD2}"/>
              </a:ext>
            </a:extLst>
          </p:cNvPr>
          <p:cNvSpPr txBox="1"/>
          <p:nvPr/>
        </p:nvSpPr>
        <p:spPr>
          <a:xfrm>
            <a:off x="2794000" y="3378200"/>
            <a:ext cx="660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→  Structure your prompt: Role → Task → Context →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1E0A4-EAFF-F749-9CD7-72443AA703A5}"/>
              </a:ext>
            </a:extLst>
          </p:cNvPr>
          <p:cNvSpPr txBox="1"/>
          <p:nvPr/>
        </p:nvSpPr>
        <p:spPr>
          <a:xfrm>
            <a:off x="2794000" y="3835400"/>
            <a:ext cx="660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→  Use examples (few-shot) for complex or nuanced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516A7-F1F8-A043-A4CB-74EFD4AF4454}"/>
              </a:ext>
            </a:extLst>
          </p:cNvPr>
          <p:cNvSpPr txBox="1"/>
          <p:nvPr/>
        </p:nvSpPr>
        <p:spPr>
          <a:xfrm>
            <a:off x="2794000" y="4292600"/>
            <a:ext cx="660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→  Iterate — your first prompt is rarely your best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EF226-B58D-8943-8632-F97EA32734CB}"/>
              </a:ext>
            </a:extLst>
          </p:cNvPr>
          <p:cNvSpPr txBox="1"/>
          <p:nvPr/>
        </p:nvSpPr>
        <p:spPr>
          <a:xfrm>
            <a:off x="2794000" y="4749800"/>
            <a:ext cx="660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→  Practice daily and build a prompt library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9846A6-D984-E54C-8C74-6BD7DD6EB1F5}"/>
              </a:ext>
            </a:extLst>
          </p:cNvPr>
          <p:cNvSpPr/>
          <p:nvPr/>
        </p:nvSpPr>
        <p:spPr>
          <a:xfrm>
            <a:off x="635000" y="4445000"/>
            <a:ext cx="1524000" cy="1524000"/>
          </a:xfrm>
          <a:prstGeom prst="ellipse">
            <a:avLst/>
          </a:prstGeom>
          <a:solidFill>
            <a:srgbClr val="E94560">
              <a:alpha val="2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846530-5A54-3A4C-A305-511D232B7D9F}"/>
              </a:ext>
            </a:extLst>
          </p:cNvPr>
          <p:cNvSpPr/>
          <p:nvPr/>
        </p:nvSpPr>
        <p:spPr>
          <a:xfrm>
            <a:off x="10414000" y="1016000"/>
            <a:ext cx="1270000" cy="1270000"/>
          </a:xfrm>
          <a:prstGeom prst="ellipse">
            <a:avLst/>
          </a:prstGeom>
          <a:solidFill>
            <a:srgbClr val="533483">
              <a:alpha val="2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4BCC4F-DD47-F248-BB1F-48F139DACA05}"/>
              </a:ext>
            </a:extLst>
          </p:cNvPr>
          <p:cNvSpPr/>
          <p:nvPr/>
        </p:nvSpPr>
        <p:spPr>
          <a:xfrm>
            <a:off x="9906000" y="4826000"/>
            <a:ext cx="1016000" cy="1016000"/>
          </a:xfrm>
          <a:prstGeom prst="ellipse">
            <a:avLst/>
          </a:prstGeom>
          <a:solidFill>
            <a:srgbClr val="E07C24">
              <a:alpha val="2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18705-09BC-B049-AF86-DB7331C83B51}"/>
              </a:ext>
            </a:extLst>
          </p:cNvPr>
          <p:cNvSpPr txBox="1"/>
          <p:nvPr/>
        </p:nvSpPr>
        <p:spPr>
          <a:xfrm>
            <a:off x="3810000" y="60960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A8BA8"/>
                </a:solidFill>
              </a:rPr>
              <a:t>Prompt Engineering Basics  |  2025</a:t>
            </a:r>
          </a:p>
        </p:txBody>
      </p:sp>
    </p:spTree>
    <p:extLst>
      <p:ext uri="{BB962C8B-B14F-4D97-AF65-F5344CB8AC3E}">
        <p14:creationId xmlns:p14="http://schemas.microsoft.com/office/powerpoint/2010/main" val="98086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619836418]">
  <a:themeElements>
    <a:clrScheme name="Prompt Engineering">
      <a:dk1>
        <a:srgbClr val="1A1A2E"/>
      </a:dk1>
      <a:lt1>
        <a:srgbClr val="F8F6F2"/>
      </a:lt1>
      <a:dk2>
        <a:srgbClr val="16213E"/>
      </a:dk2>
      <a:lt2>
        <a:srgbClr val="EDE8E0"/>
      </a:lt2>
      <a:accent1>
        <a:srgbClr val="E94560"/>
      </a:accent1>
      <a:accent2>
        <a:srgbClr val="0F3460"/>
      </a:accent2>
      <a:accent3>
        <a:srgbClr val="533483"/>
      </a:accent3>
      <a:accent4>
        <a:srgbClr val="E07C24"/>
      </a:accent4>
      <a:accent5>
        <a:srgbClr val="2B9348"/>
      </a:accent5>
      <a:accent6>
        <a:srgbClr val="3A86FF"/>
      </a:accent6>
      <a:hlink>
        <a:srgbClr val="467886"/>
      </a:hlink>
      <a:folHlink>
        <a:srgbClr val="96607D"/>
      </a:folHlink>
    </a:clrScheme>
    <a:fontScheme name="Prompt Engineering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0B137A-24B8-0E44-884A-031D61C638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8a2489c-3052-48d1-ac72-e07435f4ce2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4239</TotalTime>
  <Words>1706</Words>
  <Application>Microsoft Macintosh PowerPoint</Application>
  <PresentationFormat>Widescreen</PresentationFormat>
  <Paragraphs>187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Open Sans</vt:lpstr>
      <vt:lpstr>Raleway</vt:lpstr>
      <vt:lpstr>Office Theme [1778619836418]</vt:lpstr>
      <vt:lpstr>Prompt Engineering</vt:lpstr>
      <vt:lpstr>What is a Prompt?</vt:lpstr>
      <vt:lpstr>Why Prompt Quality Matters</vt:lpstr>
      <vt:lpstr>Zero-shot vs Few-shot Prompting</vt:lpstr>
      <vt:lpstr>Anatomy of a Great Prompt</vt:lpstr>
      <vt:lpstr>Pro Tips for Better Prompts</vt:lpstr>
      <vt:lpstr>Common Mistakes to Avoid</vt:lpstr>
      <vt:lpstr>Prompting for Support Engineers</vt:lpstr>
      <vt:lpstr>Use Case: Issue Summarization</vt:lpstr>
      <vt:lpstr>Use Case: Ticket Categorization</vt:lpstr>
      <vt:lpstr>Use Case: Customer Email Drafting</vt:lpstr>
      <vt:lpstr>Use Case: Knowledge Base Q&amp;A</vt:lpstr>
      <vt:lpstr>Support-Specific Pitfalls</vt:lpstr>
      <vt:lpstr>Hands-On Exercises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Ramanuj Das</dc:creator>
  <cp:lastModifiedBy>Ramanuj Das</cp:lastModifiedBy>
  <cp:revision>7</cp:revision>
  <dcterms:created xsi:type="dcterms:W3CDTF">2026-05-12T21:01:22Z</dcterms:created>
  <dcterms:modified xsi:type="dcterms:W3CDTF">2026-05-17T14:21:58Z</dcterms:modified>
</cp:coreProperties>
</file>