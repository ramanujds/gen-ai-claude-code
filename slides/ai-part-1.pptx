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260" r:id="rId3"/>
    <p:sldId id="262" r:id="rId4"/>
    <p:sldId id="264" r:id="rId5"/>
    <p:sldId id="266" r:id="rId6"/>
    <p:sldId id="288" r:id="rId7"/>
    <p:sldId id="269" r:id="rId8"/>
    <p:sldId id="271" r:id="rId9"/>
    <p:sldId id="273" r:id="rId10"/>
    <p:sldId id="289" r:id="rId11"/>
    <p:sldId id="290" r:id="rId12"/>
    <p:sldId id="291" r:id="rId13"/>
    <p:sldId id="278" r:id="rId14"/>
    <p:sldId id="280" r:id="rId15"/>
    <p:sldId id="282" r:id="rId16"/>
    <p:sldId id="284" r:id="rId17"/>
    <p:sldId id="286" r:id="rId18"/>
    <p:sldId id="292" r:id="rId19"/>
    <p:sldId id="294" r:id="rId20"/>
    <p:sldId id="29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09"/>
    <p:restoredTop sz="94610"/>
  </p:normalViewPr>
  <p:slideViewPr>
    <p:cSldViewPr snapToGrid="0">
      <p:cViewPr varScale="1">
        <p:scale>
          <a:sx n="145" d="100"/>
          <a:sy n="145" d="100"/>
        </p:scale>
        <p:origin x="1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BF141-466E-1A23-D38A-B591FF9025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10EE1-9D5C-86A8-0BF5-04915237AB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C5C77-7467-4D13-F6FA-9B364434F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3FFBA-DF37-644D-A2D6-55924A7AE075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87E8C-8AAA-ADBB-D925-48100CDFF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65D4F-47D6-2CCF-1C69-1505E0A27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78F0-F578-2648-AA8D-BB00CC247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91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B97E9-CC79-E4ED-5993-86F24E77E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4B3AE-18B9-F8DA-4120-FA4823C08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0D489-4266-52A7-9D00-327D2B14B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3FFBA-DF37-644D-A2D6-55924A7AE075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8286F-31F7-AE2D-9328-1008D7D75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27ECB-1995-4A88-5700-29B88FC8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78F0-F578-2648-AA8D-BB00CC247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59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D796-5FE8-44D8-3A27-52D41DB9C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52208-EA70-DD4E-D637-98BBE3FF6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C7C5E-124E-7702-ED2A-B7107B3E1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3FFBA-DF37-644D-A2D6-55924A7AE075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36DED-1FE7-A728-BE48-62A49F2A8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5AD56-FE15-7075-13A1-86B1A46ED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78F0-F578-2648-AA8D-BB00CC247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582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D129-CB09-8730-D2E4-8694675F0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F2206-57EF-AD00-B907-D593D8E0A4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420A7-5C02-ABFB-F32A-F642508BC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672DF-0D44-E23E-BA84-F5770E641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3FFBA-DF37-644D-A2D6-55924A7AE075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7A8F1-DC6E-9F20-5614-ECAF0ECAE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FEE7DD-EA86-8C15-9B62-D314A636D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78F0-F578-2648-AA8D-BB00CC247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513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FF0AC-59EB-E381-A924-5410A7A5D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E5B75-F170-3C2D-57ED-CD9DE2381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A6F218-72CA-13F6-EA98-AFA2E57E2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23987D-7267-54ED-B9DD-00E623499A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828D6-3B7D-3108-053D-9E4F6475F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07BF02-CB73-25B2-3E96-1E8D22A60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3FFBA-DF37-644D-A2D6-55924A7AE075}" type="datetimeFigureOut">
              <a:rPr lang="en-US" smtClean="0"/>
              <a:t>5/14/26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8FFC4E-7337-D94C-8732-D0C954CBE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2F9627-656B-0F6F-3EB6-761BC2CF9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78F0-F578-2648-AA8D-BB00CC247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923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3388D-B189-9C8C-B9B1-9CDF1B22A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C8CAB7-1059-CD29-740F-DCC37126E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3FFBA-DF37-644D-A2D6-55924A7AE075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048DB4-A49F-127C-36BC-5CD769F50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108936-8BB6-C28D-0B9F-BB89FB02F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78F0-F578-2648-AA8D-BB00CC247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1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B83A19-C884-C85B-5399-C654B288E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3FFBA-DF37-644D-A2D6-55924A7AE075}" type="datetimeFigureOut">
              <a:rPr lang="en-US" smtClean="0"/>
              <a:t>5/14/26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7DD4D9-4340-4DF1-458C-5B77FAEB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6BEA3-A272-88A6-5D12-739FC6EC6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78F0-F578-2648-AA8D-BB00CC247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50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637B1-C63C-97F8-C3FE-778681F29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3A2CF-3335-1ADA-296D-DF3814379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74290B-7A0A-D3C7-9CCE-FEAAD2789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61E36-759D-4693-54A1-4C8D10C31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3FFBA-DF37-644D-A2D6-55924A7AE075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8E0CFE-222A-5AEE-7873-A418B022F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81E3E-F32E-2976-EE90-65470C59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78F0-F578-2648-AA8D-BB00CC247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637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30B5C-F5E7-890C-2161-0903DC31C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3B8374-729E-3520-6D61-AEEE1DACDE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99F50-88FC-7ECF-ECFC-C8A534BCA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50D4F-56F5-1F47-5FE8-7682F407A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3FFBA-DF37-644D-A2D6-55924A7AE075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65F72-FA2A-69FB-84AF-9AD4DFBE5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61833-03C8-714E-F0B9-809B2C205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78F0-F578-2648-AA8D-BB00CC247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398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B0E39-99F0-6AA4-3348-0212D5787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4CFB37-09CF-F18E-1D9D-F193CD511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AC256-8D86-167C-E00D-7DB74CE1F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3FFBA-DF37-644D-A2D6-55924A7AE075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C3B8F-0F3D-BB48-AB53-7CD2A96E3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60444-1430-9EF7-154B-05E2306BA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78F0-F578-2648-AA8D-BB00CC247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243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C825A6-1C69-977D-5B3D-6355CB71A9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FD315-AF8E-71DC-93BF-4A5CB9062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45599-FDDB-CE19-8638-B1834398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3FFBA-DF37-644D-A2D6-55924A7AE075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74264-99C4-76E1-CD9B-19ABFA229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8479D-622D-B3FA-FBF1-18DAAE4ED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78F0-F578-2648-AA8D-BB00CC247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872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B81F04-72FE-E950-E85D-CF365D977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D6932-D383-2D4B-3F8F-8442F5CC9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6BAC1-F75C-9694-7107-F839EA1DB3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D3FFBA-DF37-644D-A2D6-55924A7AE075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BEF33-812E-EB58-F22F-01EC1DAB4A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C13FC-B68D-A306-9C99-F4B97DDC2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7178F0-F578-2648-AA8D-BB00CC247FB0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gradFill>
            <a:gsLst>
              <a:gs pos="0">
                <a:srgbClr val="2B6CB0"/>
              </a:gs>
              <a:gs pos="50000">
                <a:srgbClr val="805AD5"/>
              </a:gs>
              <a:gs pos="100000">
                <a:srgbClr val="00B5D8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83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2A4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7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7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7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4D709-AA4E-92D0-7FE1-9C8262F121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4000" b="1" dirty="0">
                <a:solidFill>
                  <a:srgbClr val="1B2A4A"/>
                </a:solidFill>
              </a:rPr>
              <a:t>Artificial Intelligence,</a:t>
            </a:r>
          </a:p>
          <a:p>
            <a:pPr algn="ctr">
              <a:buNone/>
            </a:pPr>
            <a:r>
              <a:rPr lang="en-US" sz="4000" b="1" dirty="0">
                <a:solidFill>
                  <a:srgbClr val="1B2A4A"/>
                </a:solidFill>
              </a:rPr>
              <a:t>Machine Learning </a:t>
            </a:r>
            <a:r>
              <a:rPr lang="en-US" sz="4000" b="1" dirty="0">
                <a:solidFill>
                  <a:srgbClr val="2B6CB0"/>
                </a:solidFill>
              </a:rPr>
              <a:t>&amp;</a:t>
            </a:r>
            <a:r>
              <a:rPr lang="en-US" sz="4000" b="1" dirty="0">
                <a:solidFill>
                  <a:srgbClr val="1B2A4A"/>
                </a:solidFill>
              </a:rPr>
              <a:t> Deep Learning</a:t>
            </a:r>
          </a:p>
        </p:txBody>
      </p:sp>
      <p:sp>
        <p:nvSpPr>
          <p:cNvPr id="10" name="AccentLine"/>
          <p:cNvSpPr/>
          <p:nvPr/>
        </p:nvSpPr>
        <p:spPr>
          <a:xfrm>
            <a:off x="3657600" y="3657600"/>
            <a:ext cx="4876800" cy="0"/>
          </a:xfrm>
          <a:prstGeom prst="line">
            <a:avLst/>
          </a:prstGeom>
          <a:ln w="28575">
            <a:gradFill>
              <a:gsLst>
                <a:gs pos="0">
                  <a:srgbClr val="2B6CB0"/>
                </a:gs>
                <a:gs pos="100000">
                  <a:srgbClr val="805AD5"/>
                </a:gs>
              </a:gsLst>
              <a:lin ang="0" scaled="1"/>
            </a:gra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3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66CAF-90FB-F182-593F-431781705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029ED-6085-8AB8-61C3-D7E42DE43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/>
              <a:t>What is Artificial Intelligence?
Machine Learning — Concepts &amp; Types
Deep Learning &amp; Neural Networks
AI vs ML vs Deep Learning
Tools, Frameworks &amp; The Future</a:t>
            </a:r>
          </a:p>
        </p:txBody>
      </p:sp>
      <p:pic>
        <p:nvPicPr>
          <p:cNvPr id="4" name="Graphic 4" descr="Brain icon for agend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06000" y="16510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978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14EE6-AE5F-22B4-F52F-DC842D3C2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Artificial Intelligence?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B12EA-2D5D-43FD-34BE-7E76EEC6E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AI is the simulation of human intelligence by machines</a:t>
            </a:r>
          </a:p>
          <a:p>
            <a:pPr marL="0" indent="0">
              <a:buNone/>
            </a:pPr>
            <a:r>
              <a:rPr lang="en-US" sz="1600" dirty="0"/>
              <a:t>
Machines are programmed to think, learn, and make decisions
Examples: Siri, Self-driving cars, ChatGPT, Face Recognition</a:t>
            </a:r>
          </a:p>
          <a:p>
            <a:pPr marL="0" indent="0">
              <a:buNone/>
            </a:pPr>
            <a:r>
              <a:rPr lang="en-US" sz="1600" dirty="0"/>
              <a:t>
"The science and engineering of making intelligent machines” — John McCarthy, Father of AI</a:t>
            </a:r>
          </a:p>
        </p:txBody>
      </p:sp>
      <p:pic>
        <p:nvPicPr>
          <p:cNvPr id="4" name="Graphic 4" descr="AI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0" y="1524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082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26398-0AA6-9388-F407-060768221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Timeline - Key Milestones</a:t>
            </a:r>
          </a:p>
        </p:txBody>
      </p:sp>
      <p:sp>
        <p:nvSpPr>
          <p:cNvPr id="50" name="TimelineLine"/>
          <p:cNvSpPr/>
          <p:nvPr/>
        </p:nvSpPr>
        <p:spPr>
          <a:xfrm>
            <a:off x="914400" y="2700000"/>
            <a:ext cx="10363200" cy="0"/>
          </a:xfrm>
          <a:prstGeom prst="line">
            <a:avLst/>
          </a:prstGeom>
          <a:ln w="38100">
            <a:solidFill>
              <a:srgbClr val="CBD5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Circle0"/>
          <p:cNvSpPr/>
          <p:nvPr/>
        </p:nvSpPr>
        <p:spPr>
          <a:xfrm>
            <a:off x="685800" y="2471400"/>
            <a:ext cx="457200" cy="4572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1950</a:t>
            </a:r>
          </a:p>
        </p:txBody>
      </p:sp>
      <p:sp>
        <p:nvSpPr>
          <p:cNvPr id="52" name="Label0"/>
          <p:cNvSpPr/>
          <p:nvPr/>
        </p:nvSpPr>
        <p:spPr>
          <a:xfrm>
            <a:off x="228600" y="3081000"/>
            <a:ext cx="1371600" cy="609600"/>
          </a:xfrm>
          <a:prstGeom prst="roundRect">
            <a:avLst>
              <a:gd name="adj" fmla="val 8000"/>
            </a:avLst>
          </a:prstGeom>
          <a:solidFill>
            <a:srgbClr val="2B6CB0">
              <a:alpha val="15000"/>
            </a:srgbClr>
          </a:solidFill>
          <a:ln w="12700">
            <a:solidFill>
              <a:srgbClr val="2B6CB0"/>
            </a:solidFill>
          </a:ln>
        </p:spPr>
        <p:txBody>
          <a:bodyPr wrap="square" lIns="45720" tIns="36576" rIns="45720" bIns="36576" anchor="ctr"/>
          <a:lstStyle/>
          <a:p>
            <a:pPr algn="ctr"/>
            <a:r>
              <a:rPr lang="en-US" sz="1400" b="1" dirty="0">
                <a:solidFill>
                  <a:srgbClr val="2B6CB0"/>
                </a:solidFill>
              </a:rPr>
              <a:t>Turing Test</a:t>
            </a:r>
          </a:p>
        </p:txBody>
      </p:sp>
      <p:sp>
        <p:nvSpPr>
          <p:cNvPr id="53" name="Conn0"/>
          <p:cNvSpPr/>
          <p:nvPr/>
        </p:nvSpPr>
        <p:spPr>
          <a:xfrm>
            <a:off x="914400" y="2928600"/>
            <a:ext cx="0" cy="152400"/>
          </a:xfrm>
          <a:prstGeom prst="line">
            <a:avLst/>
          </a:prstGeom>
          <a:ln w="19050">
            <a:solidFill>
              <a:srgbClr val="2B6CB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Circle1"/>
          <p:cNvSpPr/>
          <p:nvPr/>
        </p:nvSpPr>
        <p:spPr>
          <a:xfrm>
            <a:off x="3276600" y="2471400"/>
            <a:ext cx="457200" cy="45720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1956</a:t>
            </a:r>
          </a:p>
        </p:txBody>
      </p:sp>
      <p:sp>
        <p:nvSpPr>
          <p:cNvPr id="55" name="Label1"/>
          <p:cNvSpPr/>
          <p:nvPr/>
        </p:nvSpPr>
        <p:spPr>
          <a:xfrm>
            <a:off x="2819400" y="3081000"/>
            <a:ext cx="1371600" cy="609600"/>
          </a:xfrm>
          <a:prstGeom prst="roundRect">
            <a:avLst>
              <a:gd name="adj" fmla="val 8000"/>
            </a:avLst>
          </a:prstGeom>
          <a:solidFill>
            <a:srgbClr val="38A169">
              <a:alpha val="15000"/>
            </a:srgbClr>
          </a:solidFill>
          <a:ln w="12700">
            <a:solidFill>
              <a:srgbClr val="38A169"/>
            </a:solidFill>
          </a:ln>
        </p:spPr>
        <p:txBody>
          <a:bodyPr wrap="square" lIns="45720" tIns="36576" rIns="45720" bIns="36576" anchor="ctr"/>
          <a:lstStyle/>
          <a:p>
            <a:pPr algn="ctr"/>
            <a:r>
              <a:rPr lang="en-US" sz="1400" b="1" dirty="0">
                <a:solidFill>
                  <a:srgbClr val="38A169"/>
                </a:solidFill>
              </a:rPr>
              <a:t>AI Term
Coined</a:t>
            </a:r>
          </a:p>
        </p:txBody>
      </p:sp>
      <p:sp>
        <p:nvSpPr>
          <p:cNvPr id="56" name="Conn1"/>
          <p:cNvSpPr/>
          <p:nvPr/>
        </p:nvSpPr>
        <p:spPr>
          <a:xfrm>
            <a:off x="3505200" y="2928600"/>
            <a:ext cx="0" cy="152400"/>
          </a:xfrm>
          <a:prstGeom prst="line">
            <a:avLst/>
          </a:prstGeom>
          <a:ln w="19050">
            <a:solidFill>
              <a:srgbClr val="38A16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Circle2"/>
          <p:cNvSpPr/>
          <p:nvPr/>
        </p:nvSpPr>
        <p:spPr>
          <a:xfrm>
            <a:off x="5867400" y="2471400"/>
            <a:ext cx="457200" cy="457200"/>
          </a:xfrm>
          <a:prstGeom prst="ellipse">
            <a:avLst/>
          </a:prstGeom>
          <a:solidFill>
            <a:srgbClr val="805AD5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1997</a:t>
            </a:r>
          </a:p>
        </p:txBody>
      </p:sp>
      <p:sp>
        <p:nvSpPr>
          <p:cNvPr id="58" name="Label2"/>
          <p:cNvSpPr/>
          <p:nvPr/>
        </p:nvSpPr>
        <p:spPr>
          <a:xfrm>
            <a:off x="5410200" y="3081000"/>
            <a:ext cx="1371600" cy="609600"/>
          </a:xfrm>
          <a:prstGeom prst="roundRect">
            <a:avLst>
              <a:gd name="adj" fmla="val 8000"/>
            </a:avLst>
          </a:prstGeom>
          <a:solidFill>
            <a:srgbClr val="805AD5">
              <a:alpha val="15000"/>
            </a:srgbClr>
          </a:solidFill>
          <a:ln w="12700">
            <a:solidFill>
              <a:srgbClr val="805AD5"/>
            </a:solidFill>
          </a:ln>
        </p:spPr>
        <p:txBody>
          <a:bodyPr wrap="square" lIns="45720" tIns="36576" rIns="45720" bIns="36576" anchor="ctr"/>
          <a:lstStyle/>
          <a:p>
            <a:pPr algn="ctr"/>
            <a:r>
              <a:rPr lang="en-US" sz="1400" b="1" dirty="0">
                <a:solidFill>
                  <a:srgbClr val="805AD5"/>
                </a:solidFill>
              </a:rPr>
              <a:t>Deep Blue
Beats Kasparov</a:t>
            </a:r>
          </a:p>
        </p:txBody>
      </p:sp>
      <p:sp>
        <p:nvSpPr>
          <p:cNvPr id="59" name="Conn2"/>
          <p:cNvSpPr/>
          <p:nvPr/>
        </p:nvSpPr>
        <p:spPr>
          <a:xfrm>
            <a:off x="6096000" y="2928600"/>
            <a:ext cx="0" cy="152400"/>
          </a:xfrm>
          <a:prstGeom prst="line">
            <a:avLst/>
          </a:prstGeom>
          <a:ln w="19050">
            <a:solidFill>
              <a:srgbClr val="805A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Circle3"/>
          <p:cNvSpPr/>
          <p:nvPr/>
        </p:nvSpPr>
        <p:spPr>
          <a:xfrm>
            <a:off x="8458200" y="2471400"/>
            <a:ext cx="457200" cy="4572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2012</a:t>
            </a:r>
          </a:p>
        </p:txBody>
      </p:sp>
      <p:sp>
        <p:nvSpPr>
          <p:cNvPr id="61" name="Label3"/>
          <p:cNvSpPr/>
          <p:nvPr/>
        </p:nvSpPr>
        <p:spPr>
          <a:xfrm>
            <a:off x="8001000" y="3081000"/>
            <a:ext cx="1371600" cy="609600"/>
          </a:xfrm>
          <a:prstGeom prst="roundRect">
            <a:avLst>
              <a:gd name="adj" fmla="val 8000"/>
            </a:avLst>
          </a:prstGeom>
          <a:solidFill>
            <a:srgbClr val="D69E2E">
              <a:alpha val="15000"/>
            </a:srgbClr>
          </a:solidFill>
          <a:ln w="12700">
            <a:solidFill>
              <a:srgbClr val="D69E2E"/>
            </a:solidFill>
          </a:ln>
        </p:spPr>
        <p:txBody>
          <a:bodyPr wrap="square" lIns="45720" tIns="36576" rIns="45720" bIns="36576" anchor="ctr"/>
          <a:lstStyle/>
          <a:p>
            <a:pPr algn="ctr"/>
            <a:r>
              <a:rPr lang="en-US" sz="1400" b="1" dirty="0">
                <a:solidFill>
                  <a:srgbClr val="D69E2E"/>
                </a:solidFill>
              </a:rPr>
              <a:t>Deep Learning
Breakthrough</a:t>
            </a:r>
          </a:p>
        </p:txBody>
      </p:sp>
      <p:sp>
        <p:nvSpPr>
          <p:cNvPr id="62" name="Conn3"/>
          <p:cNvSpPr/>
          <p:nvPr/>
        </p:nvSpPr>
        <p:spPr>
          <a:xfrm>
            <a:off x="8686800" y="2928600"/>
            <a:ext cx="0" cy="152400"/>
          </a:xfrm>
          <a:prstGeom prst="line">
            <a:avLst/>
          </a:prstGeom>
          <a:ln w="19050">
            <a:solidFill>
              <a:srgbClr val="D69E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Circle4"/>
          <p:cNvSpPr/>
          <p:nvPr/>
        </p:nvSpPr>
        <p:spPr>
          <a:xfrm>
            <a:off x="11049000" y="2471400"/>
            <a:ext cx="457200" cy="457200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64" name="Label4"/>
          <p:cNvSpPr/>
          <p:nvPr/>
        </p:nvSpPr>
        <p:spPr>
          <a:xfrm>
            <a:off x="10591800" y="3081000"/>
            <a:ext cx="1371600" cy="609600"/>
          </a:xfrm>
          <a:prstGeom prst="roundRect">
            <a:avLst>
              <a:gd name="adj" fmla="val 8000"/>
            </a:avLst>
          </a:prstGeom>
          <a:solidFill>
            <a:srgbClr val="E53E3E">
              <a:alpha val="15000"/>
            </a:srgbClr>
          </a:solidFill>
          <a:ln w="12700">
            <a:solidFill>
              <a:srgbClr val="E53E3E"/>
            </a:solidFill>
          </a:ln>
        </p:spPr>
        <p:txBody>
          <a:bodyPr wrap="square" lIns="45720" tIns="36576" rIns="45720" bIns="36576" anchor="ctr"/>
          <a:lstStyle/>
          <a:p>
            <a:pPr algn="ctr"/>
            <a:r>
              <a:rPr lang="en-US" sz="1400" b="1" dirty="0">
                <a:solidFill>
                  <a:srgbClr val="E53E3E"/>
                </a:solidFill>
              </a:rPr>
              <a:t>ChatGPT
Launches</a:t>
            </a:r>
          </a:p>
        </p:txBody>
      </p:sp>
      <p:sp>
        <p:nvSpPr>
          <p:cNvPr id="65" name="Conn4"/>
          <p:cNvSpPr/>
          <p:nvPr/>
        </p:nvSpPr>
        <p:spPr>
          <a:xfrm>
            <a:off x="11277600" y="2928600"/>
            <a:ext cx="0" cy="152400"/>
          </a:xfrm>
          <a:prstGeom prst="line">
            <a:avLst/>
          </a:prstGeom>
          <a:ln w="19050">
            <a:solidFill>
              <a:srgbClr val="E53E3E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05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7D9C6-458B-7C74-456D-2E00397F1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Artificial Intelligence</a:t>
            </a:r>
          </a:p>
        </p:txBody>
      </p:sp>
      <p:sp>
        <p:nvSpPr>
          <p:cNvPr id="20" name="Card0"/>
          <p:cNvSpPr/>
          <p:nvPr/>
        </p:nvSpPr>
        <p:spPr>
          <a:xfrm>
            <a:off x="457200" y="1828800"/>
            <a:ext cx="3505200" cy="3657600"/>
          </a:xfrm>
          <a:prstGeom prst="roundRect">
            <a:avLst>
              <a:gd name="adj" fmla="val 5000"/>
            </a:avLst>
          </a:prstGeom>
          <a:solidFill>
            <a:srgbClr val="2B6CB0">
              <a:alpha val="8000"/>
            </a:srgbClr>
          </a:solidFill>
          <a:ln w="19050">
            <a:solidFill>
              <a:srgbClr val="2B6CB0"/>
            </a:solidFill>
          </a:ln>
        </p:spPr>
        <p:txBody>
          <a:bodyPr wrap="square" lIns="137160" tIns="137160" rIns="137160" bIns="91440" anchor="t"/>
          <a:lstStyle/>
          <a:p>
            <a:pPr algn="ctr">
              <a:buNone/>
            </a:pPr>
            <a:r>
              <a:rPr lang="en-US" sz="2000" b="1" dirty="0">
                <a:solidFill>
                  <a:srgbClr val="2B6CB0"/>
                </a:solidFill>
              </a:rPr>
              <a:t>Narrow AI (ANI)</a:t>
            </a:r>
          </a:p>
          <a:p>
            <a:pPr algn="ctr">
              <a:buNone/>
            </a:pPr>
            <a:r>
              <a:rPr lang="en-US" sz="1400" dirty="0">
                <a:solidFill>
                  <a:srgbClr val="2D3748"/>
                </a:solidFill>
              </a:rPr>
              <a:t>Designed for a specific task. Most AI today falls here.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2B6CB0"/>
                </a:solidFill>
              </a:rPr>
              <a:t>Examples:</a:t>
            </a:r>
          </a:p>
          <a:p>
            <a:pPr algn="ctr">
              <a:buNone/>
            </a:pPr>
            <a:r>
              <a:rPr lang="en-US" sz="1400" dirty="0">
                <a:solidFill>
                  <a:srgbClr val="2D3748"/>
                </a:solidFill>
              </a:rPr>
              <a:t>Siri, Alexa, Spam Filters, Recommendation Engines</a:t>
            </a:r>
          </a:p>
        </p:txBody>
      </p:sp>
      <p:sp>
        <p:nvSpPr>
          <p:cNvPr id="21" name="Card1"/>
          <p:cNvSpPr/>
          <p:nvPr/>
        </p:nvSpPr>
        <p:spPr>
          <a:xfrm>
            <a:off x="4191000" y="1828800"/>
            <a:ext cx="3505200" cy="3657600"/>
          </a:xfrm>
          <a:prstGeom prst="roundRect">
            <a:avLst>
              <a:gd name="adj" fmla="val 5000"/>
            </a:avLst>
          </a:prstGeom>
          <a:solidFill>
            <a:srgbClr val="805AD5">
              <a:alpha val="8000"/>
            </a:srgbClr>
          </a:solidFill>
          <a:ln w="19050">
            <a:solidFill>
              <a:srgbClr val="805AD5"/>
            </a:solidFill>
          </a:ln>
        </p:spPr>
        <p:txBody>
          <a:bodyPr wrap="square" lIns="137160" tIns="137160" rIns="137160" bIns="91440" anchor="t"/>
          <a:lstStyle/>
          <a:p>
            <a:pPr algn="ctr">
              <a:buNone/>
            </a:pPr>
            <a:r>
              <a:rPr lang="en-US" sz="2000" b="1" dirty="0">
                <a:solidFill>
                  <a:srgbClr val="805AD5"/>
                </a:solidFill>
              </a:rPr>
              <a:t>General AI (AGI)</a:t>
            </a:r>
          </a:p>
          <a:p>
            <a:pPr algn="ctr">
              <a:buNone/>
            </a:pPr>
            <a:r>
              <a:rPr lang="en-US" sz="1400" dirty="0">
                <a:solidFill>
                  <a:srgbClr val="2D3748"/>
                </a:solidFill>
              </a:rPr>
              <a:t>Can perform any intellectual task a human can. Still theoretical.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805AD5"/>
                </a:solidFill>
              </a:rPr>
              <a:t>Examples:</a:t>
            </a:r>
          </a:p>
          <a:p>
            <a:pPr algn="ctr">
              <a:buNone/>
            </a:pPr>
            <a:r>
              <a:rPr lang="en-US" sz="1400" dirty="0">
                <a:solidFill>
                  <a:srgbClr val="2D3748"/>
                </a:solidFill>
              </a:rPr>
              <a:t>Hypothetical: Human-level reasoning across all domains</a:t>
            </a:r>
          </a:p>
        </p:txBody>
      </p:sp>
      <p:sp>
        <p:nvSpPr>
          <p:cNvPr id="22" name="Card2"/>
          <p:cNvSpPr/>
          <p:nvPr/>
        </p:nvSpPr>
        <p:spPr>
          <a:xfrm>
            <a:off x="7924800" y="1828800"/>
            <a:ext cx="3505200" cy="3657600"/>
          </a:xfrm>
          <a:prstGeom prst="roundRect">
            <a:avLst>
              <a:gd name="adj" fmla="val 5000"/>
            </a:avLst>
          </a:prstGeom>
          <a:solidFill>
            <a:srgbClr val="E53E3E">
              <a:alpha val="8000"/>
            </a:srgbClr>
          </a:solidFill>
          <a:ln w="19050">
            <a:solidFill>
              <a:srgbClr val="E53E3E"/>
            </a:solidFill>
          </a:ln>
        </p:spPr>
        <p:txBody>
          <a:bodyPr wrap="square" lIns="137160" tIns="137160" rIns="137160" bIns="91440" anchor="t"/>
          <a:lstStyle/>
          <a:p>
            <a:pPr algn="ctr">
              <a:buNone/>
            </a:pPr>
            <a:r>
              <a:rPr lang="en-US" sz="2000" b="1" dirty="0">
                <a:solidFill>
                  <a:srgbClr val="E53E3E"/>
                </a:solidFill>
              </a:rPr>
              <a:t>Super AI (ASI)</a:t>
            </a:r>
          </a:p>
          <a:p>
            <a:pPr algn="ctr">
              <a:buNone/>
            </a:pPr>
            <a:r>
              <a:rPr lang="en-US" sz="1400" dirty="0">
                <a:solidFill>
                  <a:srgbClr val="2D3748"/>
                </a:solidFill>
              </a:rPr>
              <a:t>Surpasses human intelligence in every way. Purely conceptual.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E53E3E"/>
                </a:solidFill>
              </a:rPr>
              <a:t>Examples:</a:t>
            </a:r>
          </a:p>
          <a:p>
            <a:pPr algn="ctr">
              <a:buNone/>
            </a:pPr>
            <a:r>
              <a:rPr lang="en-US" sz="1400" dirty="0">
                <a:solidFill>
                  <a:srgbClr val="2D3748"/>
                </a:solidFill>
              </a:rPr>
              <a:t>Sci-Fi concept: Machines smarter than all humans combined</a:t>
            </a:r>
          </a:p>
        </p:txBody>
      </p:sp>
    </p:spTree>
    <p:extLst>
      <p:ext uri="{BB962C8B-B14F-4D97-AF65-F5344CB8AC3E}">
        <p14:creationId xmlns:p14="http://schemas.microsoft.com/office/powerpoint/2010/main" val="3764154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Title"/>
          <p:cNvSpPr/>
          <p:nvPr/>
        </p:nvSpPr>
        <p:spPr>
          <a:xfrm>
            <a:off x="914400" y="182880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>
              <a:buNone/>
            </a:pPr>
            <a:r>
              <a:rPr lang="en-US" sz="4000" b="1" dirty="0">
                <a:solidFill>
                  <a:srgbClr val="1B2A4A"/>
                </a:solidFill>
                <a:latin typeface="Raleway"/>
              </a:rPr>
              <a:t>Machine Learning</a:t>
            </a:r>
          </a:p>
        </p:txBody>
      </p:sp>
      <p:sp>
        <p:nvSpPr>
          <p:cNvPr id="11" name="SectionSub"/>
          <p:cNvSpPr/>
          <p:nvPr/>
        </p:nvSpPr>
        <p:spPr>
          <a:xfrm>
            <a:off x="914400" y="27432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en-US" sz="2000" dirty="0">
                <a:solidFill>
                  <a:srgbClr val="4A5568"/>
                </a:solidFill>
                <a:latin typeface="Open Sans"/>
              </a:rPr>
              <a:t>Teaching Machines to Learn from Data</a:t>
            </a:r>
          </a:p>
        </p:txBody>
      </p:sp>
    </p:spTree>
    <p:extLst>
      <p:ext uri="{BB962C8B-B14F-4D97-AF65-F5344CB8AC3E}">
        <p14:creationId xmlns:p14="http://schemas.microsoft.com/office/powerpoint/2010/main" val="1240768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9562-B373-E2C9-67B4-22D8EFB11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Machine Learning Works</a:t>
            </a:r>
          </a:p>
        </p:txBody>
      </p:sp>
      <p:sp>
        <p:nvSpPr>
          <p:cNvPr id="30" name="Step0"/>
          <p:cNvSpPr/>
          <p:nvPr/>
        </p:nvSpPr>
        <p:spPr>
          <a:xfrm>
            <a:off x="457200" y="1828800"/>
            <a:ext cx="1524000" cy="914400"/>
          </a:xfrm>
          <a:prstGeom prst="roundRect">
            <a:avLst>
              <a:gd name="adj" fmla="val 12000"/>
            </a:avLst>
          </a:prstGeom>
          <a:solidFill>
            <a:srgbClr val="2B6CB0"/>
          </a:solidFill>
          <a:ln>
            <a:noFill/>
          </a:ln>
        </p:spPr>
        <p:txBody>
          <a:bodyPr wrap="square" lIns="36576" tIns="36576" rIns="36576" bIns="36576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Collect
Data</a:t>
            </a:r>
          </a:p>
        </p:txBody>
      </p:sp>
      <p:sp>
        <p:nvSpPr>
          <p:cNvPr id="31" name="Arrow0"/>
          <p:cNvSpPr/>
          <p:nvPr/>
        </p:nvSpPr>
        <p:spPr>
          <a:xfrm>
            <a:off x="2026920" y="2171700"/>
            <a:ext cx="213360" cy="228600"/>
          </a:xfrm>
          <a:prstGeom prst="rightArrow">
            <a:avLst/>
          </a:prstGeom>
          <a:solidFill>
            <a:srgbClr val="CBD5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Step1"/>
          <p:cNvSpPr/>
          <p:nvPr/>
        </p:nvSpPr>
        <p:spPr>
          <a:xfrm>
            <a:off x="2286000" y="1828800"/>
            <a:ext cx="1524000" cy="914400"/>
          </a:xfrm>
          <a:prstGeom prst="roundRect">
            <a:avLst>
              <a:gd name="adj" fmla="val 12000"/>
            </a:avLst>
          </a:prstGeom>
          <a:solidFill>
            <a:srgbClr val="38A169"/>
          </a:solidFill>
          <a:ln>
            <a:noFill/>
          </a:ln>
        </p:spPr>
        <p:txBody>
          <a:bodyPr wrap="square" lIns="36576" tIns="36576" rIns="36576" bIns="36576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Prepare
&amp; Clean</a:t>
            </a:r>
          </a:p>
        </p:txBody>
      </p:sp>
      <p:sp>
        <p:nvSpPr>
          <p:cNvPr id="33" name="Arrow1"/>
          <p:cNvSpPr/>
          <p:nvPr/>
        </p:nvSpPr>
        <p:spPr>
          <a:xfrm>
            <a:off x="3855720" y="2171700"/>
            <a:ext cx="213360" cy="228600"/>
          </a:xfrm>
          <a:prstGeom prst="rightArrow">
            <a:avLst/>
          </a:prstGeom>
          <a:solidFill>
            <a:srgbClr val="CBD5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Step2"/>
          <p:cNvSpPr/>
          <p:nvPr/>
        </p:nvSpPr>
        <p:spPr>
          <a:xfrm>
            <a:off x="4114800" y="1828800"/>
            <a:ext cx="1524000" cy="914400"/>
          </a:xfrm>
          <a:prstGeom prst="roundRect">
            <a:avLst>
              <a:gd name="adj" fmla="val 12000"/>
            </a:avLst>
          </a:prstGeom>
          <a:solidFill>
            <a:srgbClr val="805AD5"/>
          </a:solidFill>
          <a:ln>
            <a:noFill/>
          </a:ln>
        </p:spPr>
        <p:txBody>
          <a:bodyPr wrap="square" lIns="36576" tIns="36576" rIns="36576" bIns="36576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Choose
Model</a:t>
            </a:r>
          </a:p>
        </p:txBody>
      </p:sp>
      <p:sp>
        <p:nvSpPr>
          <p:cNvPr id="35" name="Arrow2"/>
          <p:cNvSpPr/>
          <p:nvPr/>
        </p:nvSpPr>
        <p:spPr>
          <a:xfrm>
            <a:off x="5684520" y="2171700"/>
            <a:ext cx="213360" cy="228600"/>
          </a:xfrm>
          <a:prstGeom prst="rightArrow">
            <a:avLst/>
          </a:prstGeom>
          <a:solidFill>
            <a:srgbClr val="CBD5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Step3"/>
          <p:cNvSpPr/>
          <p:nvPr/>
        </p:nvSpPr>
        <p:spPr>
          <a:xfrm>
            <a:off x="5943600" y="1828800"/>
            <a:ext cx="1524000" cy="914400"/>
          </a:xfrm>
          <a:prstGeom prst="roundRect">
            <a:avLst>
              <a:gd name="adj" fmla="val 12000"/>
            </a:avLst>
          </a:prstGeom>
          <a:solidFill>
            <a:srgbClr val="D69E2E"/>
          </a:solidFill>
          <a:ln>
            <a:noFill/>
          </a:ln>
        </p:spPr>
        <p:txBody>
          <a:bodyPr wrap="square" lIns="36576" tIns="36576" rIns="36576" bIns="36576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Train
Model</a:t>
            </a:r>
          </a:p>
        </p:txBody>
      </p:sp>
      <p:sp>
        <p:nvSpPr>
          <p:cNvPr id="37" name="Arrow3"/>
          <p:cNvSpPr/>
          <p:nvPr/>
        </p:nvSpPr>
        <p:spPr>
          <a:xfrm>
            <a:off x="7513320" y="2171700"/>
            <a:ext cx="213360" cy="228600"/>
          </a:xfrm>
          <a:prstGeom prst="rightArrow">
            <a:avLst/>
          </a:prstGeom>
          <a:solidFill>
            <a:srgbClr val="CBD5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Step4"/>
          <p:cNvSpPr/>
          <p:nvPr/>
        </p:nvSpPr>
        <p:spPr>
          <a:xfrm>
            <a:off x="7772400" y="1828800"/>
            <a:ext cx="1524000" cy="914400"/>
          </a:xfrm>
          <a:prstGeom prst="roundRect">
            <a:avLst>
              <a:gd name="adj" fmla="val 12000"/>
            </a:avLst>
          </a:prstGeom>
          <a:solidFill>
            <a:srgbClr val="E53E3E"/>
          </a:solidFill>
          <a:ln>
            <a:noFill/>
          </a:ln>
        </p:spPr>
        <p:txBody>
          <a:bodyPr wrap="square" lIns="36576" tIns="36576" rIns="36576" bIns="36576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Evaluate
Results</a:t>
            </a:r>
          </a:p>
        </p:txBody>
      </p:sp>
      <p:sp>
        <p:nvSpPr>
          <p:cNvPr id="39" name="Arrow4"/>
          <p:cNvSpPr/>
          <p:nvPr/>
        </p:nvSpPr>
        <p:spPr>
          <a:xfrm>
            <a:off x="9342120" y="2171700"/>
            <a:ext cx="213360" cy="228600"/>
          </a:xfrm>
          <a:prstGeom prst="rightArrow">
            <a:avLst/>
          </a:prstGeom>
          <a:solidFill>
            <a:srgbClr val="CBD5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Step5"/>
          <p:cNvSpPr/>
          <p:nvPr/>
        </p:nvSpPr>
        <p:spPr>
          <a:xfrm>
            <a:off x="9601200" y="1828800"/>
            <a:ext cx="1524000" cy="914400"/>
          </a:xfrm>
          <a:prstGeom prst="roundRect">
            <a:avLst>
              <a:gd name="adj" fmla="val 12000"/>
            </a:avLst>
          </a:prstGeom>
          <a:solidFill>
            <a:srgbClr val="00B5D8"/>
          </a:solidFill>
          <a:ln>
            <a:noFill/>
          </a:ln>
        </p:spPr>
        <p:txBody>
          <a:bodyPr wrap="square" lIns="36576" tIns="36576" rIns="36576" bIns="36576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Deploy
&amp; Predict</a:t>
            </a:r>
          </a:p>
        </p:txBody>
      </p:sp>
      <p:sp>
        <p:nvSpPr>
          <p:cNvPr id="41" name="Note"/>
          <p:cNvSpPr/>
          <p:nvPr/>
        </p:nvSpPr>
        <p:spPr>
          <a:xfrm>
            <a:off x="914400" y="3429000"/>
            <a:ext cx="10363200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en-US" sz="1600" dirty="0">
                <a:solidFill>
                  <a:srgbClr val="2D3748"/>
                </a:solidFill>
              </a:rPr>
              <a:t>The model iterates through this cycle, improving accuracy with each round of training.</a:t>
            </a:r>
          </a:p>
          <a:p>
            <a:pPr algn="ctr">
              <a:buNone/>
            </a:pPr>
            <a:r>
              <a:rPr lang="en-US" sz="1600" dirty="0">
                <a:solidFill>
                  <a:srgbClr val="2D3748"/>
                </a:solidFill>
              </a:rPr>
              <a:t>Example: Training a spam filter on thousands of emails to learn the difference between spam and legitimate messages.</a:t>
            </a:r>
          </a:p>
        </p:txBody>
      </p:sp>
    </p:spTree>
    <p:extLst>
      <p:ext uri="{BB962C8B-B14F-4D97-AF65-F5344CB8AC3E}">
        <p14:creationId xmlns:p14="http://schemas.microsoft.com/office/powerpoint/2010/main" val="3533748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383E4-5D3F-5FDB-AEE2-5538C16A9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Machine Learning</a:t>
            </a:r>
          </a:p>
        </p:txBody>
      </p:sp>
      <p:sp>
        <p:nvSpPr>
          <p:cNvPr id="20" name="Strip0"/>
          <p:cNvSpPr/>
          <p:nvPr/>
        </p:nvSpPr>
        <p:spPr>
          <a:xfrm>
            <a:off x="457200" y="1828800"/>
            <a:ext cx="3505200" cy="7620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Card0"/>
          <p:cNvSpPr/>
          <p:nvPr/>
        </p:nvSpPr>
        <p:spPr>
          <a:xfrm>
            <a:off x="457200" y="1905000"/>
            <a:ext cx="3505200" cy="35814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txBody>
          <a:bodyPr wrap="square" lIns="137160" tIns="137160" rIns="137160" bIns="91440" anchor="t"/>
          <a:lstStyle/>
          <a:p>
            <a:pPr algn="ctr">
              <a:buNone/>
            </a:pPr>
            <a:r>
              <a:rPr lang="en-US" sz="1800" b="1" dirty="0">
                <a:solidFill>
                  <a:srgbClr val="2B6CB0"/>
                </a:solidFill>
              </a:rPr>
              <a:t>Supervised Learning</a:t>
            </a:r>
          </a:p>
          <a:p>
            <a:pPr algn="ctr">
              <a:buNone/>
            </a:pPr>
            <a:r>
              <a:rPr lang="en-US" sz="1400" dirty="0">
                <a:solidFill>
                  <a:srgbClr val="2D3748"/>
                </a:solidFill>
              </a:rPr>
              <a:t>Learns from labeled data - knows the correct answers during training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2B6CB0"/>
                </a:solidFill>
              </a:rPr>
              <a:t>Examples:</a:t>
            </a:r>
          </a:p>
          <a:p>
            <a:pPr algn="ctr">
              <a:buNone/>
            </a:pPr>
            <a:r>
              <a:rPr lang="en-US" sz="1400" dirty="0">
                <a:solidFill>
                  <a:srgbClr val="2D3748"/>
                </a:solidFill>
              </a:rPr>
              <a:t>Spam detection, Image classification, Price prediction</a:t>
            </a:r>
          </a:p>
        </p:txBody>
      </p:sp>
      <p:sp>
        <p:nvSpPr>
          <p:cNvPr id="22" name="Strip1"/>
          <p:cNvSpPr/>
          <p:nvPr/>
        </p:nvSpPr>
        <p:spPr>
          <a:xfrm>
            <a:off x="4191000" y="1828800"/>
            <a:ext cx="3505200" cy="76200"/>
          </a:xfrm>
          <a:prstGeom prst="roundRect">
            <a:avLst>
              <a:gd name="adj" fmla="val 50000"/>
            </a:avLst>
          </a:prstGeom>
          <a:solidFill>
            <a:srgbClr val="38A1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Card1"/>
          <p:cNvSpPr/>
          <p:nvPr/>
        </p:nvSpPr>
        <p:spPr>
          <a:xfrm>
            <a:off x="4191000" y="1905000"/>
            <a:ext cx="3505200" cy="35814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txBody>
          <a:bodyPr wrap="square" lIns="137160" tIns="137160" rIns="137160" bIns="91440" anchor="t"/>
          <a:lstStyle/>
          <a:p>
            <a:pPr algn="ctr">
              <a:buNone/>
            </a:pPr>
            <a:r>
              <a:rPr lang="en-US" sz="1800" b="1" dirty="0">
                <a:solidFill>
                  <a:srgbClr val="38A169"/>
                </a:solidFill>
              </a:rPr>
              <a:t>Unsupervised Learning</a:t>
            </a:r>
          </a:p>
          <a:p>
            <a:pPr algn="ctr">
              <a:buNone/>
            </a:pPr>
            <a:r>
              <a:rPr lang="en-US" sz="1400" dirty="0">
                <a:solidFill>
                  <a:srgbClr val="2D3748"/>
                </a:solidFill>
              </a:rPr>
              <a:t>Finds hidden patterns in unlabeled data - no correct answers provided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38A169"/>
                </a:solidFill>
              </a:rPr>
              <a:t>Examples:</a:t>
            </a:r>
          </a:p>
          <a:p>
            <a:pPr algn="ctr">
              <a:buNone/>
            </a:pPr>
            <a:r>
              <a:rPr lang="en-US" sz="1400" dirty="0">
                <a:solidFill>
                  <a:srgbClr val="2D3748"/>
                </a:solidFill>
              </a:rPr>
              <a:t>Customer segmentation, Anomaly detection, Topic modeling</a:t>
            </a:r>
          </a:p>
        </p:txBody>
      </p:sp>
      <p:sp>
        <p:nvSpPr>
          <p:cNvPr id="24" name="Strip2"/>
          <p:cNvSpPr/>
          <p:nvPr/>
        </p:nvSpPr>
        <p:spPr>
          <a:xfrm>
            <a:off x="7924800" y="1828800"/>
            <a:ext cx="3505200" cy="76200"/>
          </a:xfrm>
          <a:prstGeom prst="roundRect">
            <a:avLst>
              <a:gd name="adj" fmla="val 50000"/>
            </a:avLst>
          </a:prstGeom>
          <a:solidFill>
            <a:srgbClr val="805A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Card2"/>
          <p:cNvSpPr/>
          <p:nvPr/>
        </p:nvSpPr>
        <p:spPr>
          <a:xfrm>
            <a:off x="7924800" y="1905000"/>
            <a:ext cx="3505200" cy="35814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txBody>
          <a:bodyPr wrap="square" lIns="137160" tIns="137160" rIns="137160" bIns="91440" anchor="t"/>
          <a:lstStyle/>
          <a:p>
            <a:pPr algn="ctr">
              <a:buNone/>
            </a:pPr>
            <a:r>
              <a:rPr lang="en-US" sz="1800" b="1" dirty="0">
                <a:solidFill>
                  <a:srgbClr val="805AD5"/>
                </a:solidFill>
              </a:rPr>
              <a:t>Reinforcement Learning</a:t>
            </a:r>
          </a:p>
          <a:p>
            <a:pPr algn="ctr">
              <a:buNone/>
            </a:pPr>
            <a:r>
              <a:rPr lang="en-US" sz="1400" dirty="0">
                <a:solidFill>
                  <a:srgbClr val="2D3748"/>
                </a:solidFill>
              </a:rPr>
              <a:t>Learns by trial and error - receives rewards or penalties for actions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805AD5"/>
                </a:solidFill>
              </a:rPr>
              <a:t>Examples:</a:t>
            </a:r>
          </a:p>
          <a:p>
            <a:pPr algn="ctr">
              <a:buNone/>
            </a:pPr>
            <a:r>
              <a:rPr lang="en-US" sz="1400" dirty="0">
                <a:solidFill>
                  <a:srgbClr val="2D3748"/>
                </a:solidFill>
              </a:rPr>
              <a:t>Game AI (AlphaGo), Robotics, Self-driving navigation</a:t>
            </a:r>
          </a:p>
        </p:txBody>
      </p:sp>
    </p:spTree>
    <p:extLst>
      <p:ext uri="{BB962C8B-B14F-4D97-AF65-F5344CB8AC3E}">
        <p14:creationId xmlns:p14="http://schemas.microsoft.com/office/powerpoint/2010/main" val="3113171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16C77-24FE-D694-1F67-038882515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in Action - Real-World Examples</a:t>
            </a:r>
          </a:p>
        </p:txBody>
      </p:sp>
      <p:sp>
        <p:nvSpPr>
          <p:cNvPr id="20" name="Ex0"/>
          <p:cNvSpPr/>
          <p:nvPr/>
        </p:nvSpPr>
        <p:spPr>
          <a:xfrm>
            <a:off x="457200" y="182880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53E3E"/>
            </a:solidFill>
          </a:ln>
          <a:effectLst>
            <a:outerShdw blurRad="40000" dist="20000" dir="5400000" algn="ctr" rotWithShape="0">
              <a:srgbClr val="000000">
                <a:alpha val="10000"/>
              </a:srgbClr>
            </a:outerShdw>
          </a:effectLst>
        </p:spPr>
        <p:txBody>
          <a:bodyPr wrap="square" lIns="137160" tIns="91440" rIns="137160" bIns="91440" anchor="ctr"/>
          <a:lstStyle/>
          <a:p>
            <a:pPr>
              <a:buNone/>
            </a:pPr>
            <a:r>
              <a:rPr lang="en-US" sz="1800" b="1" dirty="0">
                <a:solidFill>
                  <a:srgbClr val="E53E3E"/>
                </a:solidFill>
              </a:rPr>
              <a:t>Netflix</a:t>
            </a:r>
          </a:p>
          <a:p>
            <a:pPr>
              <a:buNone/>
            </a:pPr>
            <a:r>
              <a:rPr lang="en-US" sz="1400" dirty="0">
                <a:solidFill>
                  <a:srgbClr val="2D3748"/>
                </a:solidFill>
              </a:rPr>
              <a:t>Recommends movies based on your watch history</a:t>
            </a:r>
          </a:p>
        </p:txBody>
      </p:sp>
      <p:sp>
        <p:nvSpPr>
          <p:cNvPr id="21" name="Ex1"/>
          <p:cNvSpPr/>
          <p:nvPr/>
        </p:nvSpPr>
        <p:spPr>
          <a:xfrm>
            <a:off x="3886200" y="182880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B6CB0"/>
            </a:solidFill>
          </a:ln>
          <a:effectLst>
            <a:outerShdw blurRad="40000" dist="20000" dir="5400000" algn="ctr" rotWithShape="0">
              <a:srgbClr val="000000">
                <a:alpha val="10000"/>
              </a:srgbClr>
            </a:outerShdw>
          </a:effectLst>
        </p:spPr>
        <p:txBody>
          <a:bodyPr wrap="square" lIns="137160" tIns="91440" rIns="137160" bIns="91440" anchor="ctr"/>
          <a:lstStyle/>
          <a:p>
            <a:pPr>
              <a:buNone/>
            </a:pPr>
            <a:r>
              <a:rPr lang="en-US" sz="1800" b="1" dirty="0">
                <a:solidFill>
                  <a:srgbClr val="2B6CB0"/>
                </a:solidFill>
              </a:rPr>
              <a:t>Gmail</a:t>
            </a:r>
          </a:p>
          <a:p>
            <a:pPr>
              <a:buNone/>
            </a:pPr>
            <a:r>
              <a:rPr lang="en-US" sz="1400" dirty="0">
                <a:solidFill>
                  <a:srgbClr val="2D3748"/>
                </a:solidFill>
              </a:rPr>
              <a:t>Filters spam and suggests Smart Replies</a:t>
            </a:r>
          </a:p>
        </p:txBody>
      </p:sp>
      <p:sp>
        <p:nvSpPr>
          <p:cNvPr id="22" name="Ex2"/>
          <p:cNvSpPr/>
          <p:nvPr/>
        </p:nvSpPr>
        <p:spPr>
          <a:xfrm>
            <a:off x="7315200" y="182880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8A169"/>
            </a:solidFill>
          </a:ln>
          <a:effectLst>
            <a:outerShdw blurRad="40000" dist="20000" dir="5400000" algn="ctr" rotWithShape="0">
              <a:srgbClr val="000000">
                <a:alpha val="10000"/>
              </a:srgbClr>
            </a:outerShdw>
          </a:effectLst>
        </p:spPr>
        <p:txBody>
          <a:bodyPr wrap="square" lIns="137160" tIns="91440" rIns="137160" bIns="91440" anchor="ctr"/>
          <a:lstStyle/>
          <a:p>
            <a:pPr>
              <a:buNone/>
            </a:pPr>
            <a:r>
              <a:rPr lang="en-US" sz="1800" b="1" dirty="0">
                <a:solidFill>
                  <a:srgbClr val="38A169"/>
                </a:solidFill>
              </a:rPr>
              <a:t>Tesla</a:t>
            </a:r>
          </a:p>
          <a:p>
            <a:pPr>
              <a:buNone/>
            </a:pPr>
            <a:r>
              <a:rPr lang="en-US" sz="1400" dirty="0">
                <a:solidFill>
                  <a:srgbClr val="2D3748"/>
                </a:solidFill>
              </a:rPr>
              <a:t>Self-driving cars using sensor data</a:t>
            </a:r>
          </a:p>
        </p:txBody>
      </p:sp>
      <p:sp>
        <p:nvSpPr>
          <p:cNvPr id="23" name="Ex3"/>
          <p:cNvSpPr/>
          <p:nvPr/>
        </p:nvSpPr>
        <p:spPr>
          <a:xfrm>
            <a:off x="457200" y="365760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05AD5"/>
            </a:solidFill>
          </a:ln>
          <a:effectLst>
            <a:outerShdw blurRad="40000" dist="20000" dir="5400000" algn="ctr" rotWithShape="0">
              <a:srgbClr val="000000">
                <a:alpha val="10000"/>
              </a:srgbClr>
            </a:outerShdw>
          </a:effectLst>
        </p:spPr>
        <p:txBody>
          <a:bodyPr wrap="square" lIns="137160" tIns="91440" rIns="137160" bIns="91440" anchor="ctr"/>
          <a:lstStyle/>
          <a:p>
            <a:pPr>
              <a:buNone/>
            </a:pPr>
            <a:r>
              <a:rPr lang="en-US" sz="1800" b="1" dirty="0">
                <a:solidFill>
                  <a:srgbClr val="805AD5"/>
                </a:solidFill>
              </a:rPr>
              <a:t>Spotify</a:t>
            </a:r>
          </a:p>
          <a:p>
            <a:pPr>
              <a:buNone/>
            </a:pPr>
            <a:r>
              <a:rPr lang="en-US" sz="1400" dirty="0">
                <a:solidFill>
                  <a:srgbClr val="2D3748"/>
                </a:solidFill>
              </a:rPr>
              <a:t>Curates Discover Weekly playlists</a:t>
            </a:r>
          </a:p>
        </p:txBody>
      </p:sp>
      <p:sp>
        <p:nvSpPr>
          <p:cNvPr id="24" name="Ex4"/>
          <p:cNvSpPr/>
          <p:nvPr/>
        </p:nvSpPr>
        <p:spPr>
          <a:xfrm>
            <a:off x="3886200" y="365760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69E2E"/>
            </a:solidFill>
          </a:ln>
          <a:effectLst>
            <a:outerShdw blurRad="40000" dist="20000" dir="5400000" algn="ctr" rotWithShape="0">
              <a:srgbClr val="000000">
                <a:alpha val="10000"/>
              </a:srgbClr>
            </a:outerShdw>
          </a:effectLst>
        </p:spPr>
        <p:txBody>
          <a:bodyPr wrap="square" lIns="137160" tIns="91440" rIns="137160" bIns="91440" anchor="ctr"/>
          <a:lstStyle/>
          <a:p>
            <a:pPr>
              <a:buNone/>
            </a:pPr>
            <a:r>
              <a:rPr lang="en-US" sz="1800" b="1" dirty="0">
                <a:solidFill>
                  <a:srgbClr val="D69E2E"/>
                </a:solidFill>
              </a:rPr>
              <a:t>Amazon</a:t>
            </a:r>
          </a:p>
          <a:p>
            <a:pPr>
              <a:buNone/>
            </a:pPr>
            <a:r>
              <a:rPr lang="en-US" sz="1400" dirty="0">
                <a:solidFill>
                  <a:srgbClr val="2D3748"/>
                </a:solidFill>
              </a:rPr>
              <a:t>Product recommendations and demand forecasting</a:t>
            </a:r>
          </a:p>
        </p:txBody>
      </p:sp>
      <p:sp>
        <p:nvSpPr>
          <p:cNvPr id="25" name="Ex5"/>
          <p:cNvSpPr/>
          <p:nvPr/>
        </p:nvSpPr>
        <p:spPr>
          <a:xfrm>
            <a:off x="7315200" y="365760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B5D8"/>
            </a:solidFill>
          </a:ln>
          <a:effectLst>
            <a:outerShdw blurRad="40000" dist="20000" dir="5400000" algn="ctr" rotWithShape="0">
              <a:srgbClr val="000000">
                <a:alpha val="10000"/>
              </a:srgbClr>
            </a:outerShdw>
          </a:effectLst>
        </p:spPr>
        <p:txBody>
          <a:bodyPr wrap="square" lIns="137160" tIns="91440" rIns="137160" bIns="91440" anchor="ctr"/>
          <a:lstStyle/>
          <a:p>
            <a:pPr>
              <a:buNone/>
            </a:pPr>
            <a:r>
              <a:rPr lang="en-US" sz="1800" b="1" dirty="0">
                <a:solidFill>
                  <a:srgbClr val="00B5D8"/>
                </a:solidFill>
              </a:rPr>
              <a:t>Healthcare</a:t>
            </a:r>
          </a:p>
          <a:p>
            <a:pPr>
              <a:buNone/>
            </a:pPr>
            <a:r>
              <a:rPr lang="en-US" sz="1400" dirty="0">
                <a:solidFill>
                  <a:srgbClr val="2D3748"/>
                </a:solidFill>
              </a:rPr>
              <a:t>Early disease detection from medical images</a:t>
            </a:r>
          </a:p>
        </p:txBody>
      </p:sp>
    </p:spTree>
    <p:extLst>
      <p:ext uri="{BB962C8B-B14F-4D97-AF65-F5344CB8AC3E}">
        <p14:creationId xmlns:p14="http://schemas.microsoft.com/office/powerpoint/2010/main" val="1806327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838200" y="3657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>
              <a:buNone/>
            </a:pPr>
            <a:r>
              <a:rPr lang="en-US" sz="3200" b="1" dirty="0">
                <a:solidFill>
                  <a:srgbClr val="1B2A4A"/>
                </a:solidFill>
                <a:latin typeface="Raleway"/>
              </a:rPr>
              <a:t>Key ML Algorithms</a:t>
            </a:r>
          </a:p>
        </p:txBody>
      </p:sp>
      <p:sp>
        <p:nvSpPr>
          <p:cNvPr id="20" name="Algo0"/>
          <p:cNvSpPr/>
          <p:nvPr/>
        </p:nvSpPr>
        <p:spPr>
          <a:xfrm>
            <a:off x="457200" y="137160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B6CB0"/>
            </a:solidFill>
          </a:ln>
          <a:effectLst>
            <a:outerShdw blurRad="38100" dist="12700" dir="5400000" algn="ctr" rotWithShape="0">
              <a:srgbClr val="000000">
                <a:alpha val="10000"/>
              </a:srgbClr>
            </a:outerShdw>
          </a:effectLst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en-US" sz="1800" b="1" dirty="0">
                <a:solidFill>
                  <a:srgbClr val="2B6CB0"/>
                </a:solidFill>
                <a:latin typeface="Raleway"/>
              </a:rPr>
              <a:t>Linear Regression</a:t>
            </a:r>
          </a:p>
          <a:p>
            <a:pPr algn="ctr">
              <a:buNone/>
            </a:pPr>
            <a:r>
              <a:rPr lang="en-US" sz="1400" dirty="0">
                <a:solidFill>
                  <a:srgbClr val="2D3748"/>
                </a:solidFill>
                <a:latin typeface="Open Sans"/>
              </a:rPr>
              <a:t>Predicts continuous values by fitting a straight line to data points</a:t>
            </a:r>
          </a:p>
        </p:txBody>
      </p:sp>
      <p:sp>
        <p:nvSpPr>
          <p:cNvPr id="21" name="Algo1"/>
          <p:cNvSpPr/>
          <p:nvPr/>
        </p:nvSpPr>
        <p:spPr>
          <a:xfrm>
            <a:off x="3886200" y="137160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8A169"/>
            </a:solidFill>
          </a:ln>
          <a:effectLst>
            <a:outerShdw blurRad="38100" dist="12700" dir="5400000" algn="ctr" rotWithShape="0">
              <a:srgbClr val="000000">
                <a:alpha val="10000"/>
              </a:srgbClr>
            </a:outerShdw>
          </a:effectLst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en-US" sz="1800" b="1" dirty="0">
                <a:solidFill>
                  <a:srgbClr val="38A169"/>
                </a:solidFill>
                <a:latin typeface="Raleway"/>
              </a:rPr>
              <a:t>Decision Trees</a:t>
            </a:r>
          </a:p>
          <a:p>
            <a:pPr algn="ctr">
              <a:buNone/>
            </a:pPr>
            <a:r>
              <a:rPr lang="en-US" sz="1400" dirty="0">
                <a:solidFill>
                  <a:srgbClr val="2D3748"/>
                </a:solidFill>
                <a:latin typeface="Open Sans"/>
              </a:rPr>
              <a:t>Makes decisions by splitting data into branches based on feature values</a:t>
            </a:r>
          </a:p>
        </p:txBody>
      </p:sp>
      <p:sp>
        <p:nvSpPr>
          <p:cNvPr id="22" name="Algo2"/>
          <p:cNvSpPr/>
          <p:nvPr/>
        </p:nvSpPr>
        <p:spPr>
          <a:xfrm>
            <a:off x="7315200" y="137160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05AD5"/>
            </a:solidFill>
          </a:ln>
          <a:effectLst>
            <a:outerShdw blurRad="38100" dist="12700" dir="5400000" algn="ctr" rotWithShape="0">
              <a:srgbClr val="000000">
                <a:alpha val="10000"/>
              </a:srgbClr>
            </a:outerShdw>
          </a:effectLst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en-US" sz="1800" b="1" dirty="0">
                <a:solidFill>
                  <a:srgbClr val="805AD5"/>
                </a:solidFill>
                <a:latin typeface="Raleway"/>
              </a:rPr>
              <a:t>Random Forest</a:t>
            </a:r>
          </a:p>
          <a:p>
            <a:pPr algn="ctr">
              <a:buNone/>
            </a:pPr>
            <a:r>
              <a:rPr lang="en-US" sz="1400" dirty="0">
                <a:solidFill>
                  <a:srgbClr val="2D3748"/>
                </a:solidFill>
                <a:latin typeface="Open Sans"/>
              </a:rPr>
              <a:t>Ensemble of many decision trees that vote on the final prediction</a:t>
            </a:r>
          </a:p>
        </p:txBody>
      </p:sp>
      <p:sp>
        <p:nvSpPr>
          <p:cNvPr id="23" name="Algo3"/>
          <p:cNvSpPr/>
          <p:nvPr/>
        </p:nvSpPr>
        <p:spPr>
          <a:xfrm>
            <a:off x="457200" y="320040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69E2E"/>
            </a:solidFill>
          </a:ln>
          <a:effectLst>
            <a:outerShdw blurRad="38100" dist="12700" dir="5400000" algn="ctr" rotWithShape="0">
              <a:srgbClr val="000000">
                <a:alpha val="10000"/>
              </a:srgbClr>
            </a:outerShdw>
          </a:effectLst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en-US" sz="1800" b="1" dirty="0">
                <a:solidFill>
                  <a:srgbClr val="D69E2E"/>
                </a:solidFill>
                <a:latin typeface="Raleway"/>
              </a:rPr>
              <a:t>K-Nearest Neighbors</a:t>
            </a:r>
          </a:p>
          <a:p>
            <a:pPr algn="ctr">
              <a:buNone/>
            </a:pPr>
            <a:r>
              <a:rPr lang="en-US" sz="1400" dirty="0">
                <a:solidFill>
                  <a:srgbClr val="2D3748"/>
                </a:solidFill>
                <a:latin typeface="Open Sans"/>
              </a:rPr>
              <a:t>Classifies based on the majority class of nearest data points</a:t>
            </a:r>
          </a:p>
        </p:txBody>
      </p:sp>
      <p:sp>
        <p:nvSpPr>
          <p:cNvPr id="24" name="Algo4"/>
          <p:cNvSpPr/>
          <p:nvPr/>
        </p:nvSpPr>
        <p:spPr>
          <a:xfrm>
            <a:off x="3886200" y="320040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53E3E"/>
            </a:solidFill>
          </a:ln>
          <a:effectLst>
            <a:outerShdw blurRad="38100" dist="12700" dir="5400000" algn="ctr" rotWithShape="0">
              <a:srgbClr val="000000">
                <a:alpha val="10000"/>
              </a:srgbClr>
            </a:outerShdw>
          </a:effectLst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en-US" sz="1800" b="1" dirty="0">
                <a:solidFill>
                  <a:srgbClr val="E53E3E"/>
                </a:solidFill>
                <a:latin typeface="Raleway"/>
              </a:rPr>
              <a:t>Support Vector Machines</a:t>
            </a:r>
          </a:p>
          <a:p>
            <a:pPr algn="ctr">
              <a:buNone/>
            </a:pPr>
            <a:r>
              <a:rPr lang="en-US" sz="1400" dirty="0">
                <a:solidFill>
                  <a:srgbClr val="2D3748"/>
                </a:solidFill>
                <a:latin typeface="Open Sans"/>
              </a:rPr>
              <a:t>Finds the optimal boundary that separates classes</a:t>
            </a:r>
          </a:p>
        </p:txBody>
      </p:sp>
      <p:sp>
        <p:nvSpPr>
          <p:cNvPr id="25" name="Algo5"/>
          <p:cNvSpPr/>
          <p:nvPr/>
        </p:nvSpPr>
        <p:spPr>
          <a:xfrm>
            <a:off x="7315200" y="320040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B5D8"/>
            </a:solidFill>
          </a:ln>
          <a:effectLst>
            <a:outerShdw blurRad="38100" dist="12700" dir="5400000" algn="ctr" rotWithShape="0">
              <a:srgbClr val="000000">
                <a:alpha val="10000"/>
              </a:srgbClr>
            </a:outerShdw>
          </a:effectLst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en-US" sz="1800" b="1" dirty="0">
                <a:solidFill>
                  <a:srgbClr val="00B5D8"/>
                </a:solidFill>
                <a:latin typeface="Raleway"/>
              </a:rPr>
              <a:t>Neural Networks</a:t>
            </a:r>
          </a:p>
          <a:p>
            <a:pPr algn="ctr">
              <a:buNone/>
            </a:pPr>
            <a:r>
              <a:rPr lang="en-US" sz="1400" dirty="0">
                <a:solidFill>
                  <a:srgbClr val="2D3748"/>
                </a:solidFill>
                <a:latin typeface="Open Sans"/>
              </a:rPr>
              <a:t>Interconnected layers of nodes inspired by the human brain</a:t>
            </a:r>
          </a:p>
        </p:txBody>
      </p:sp>
    </p:spTree>
    <p:extLst>
      <p:ext uri="{BB962C8B-B14F-4D97-AF65-F5344CB8AC3E}">
        <p14:creationId xmlns:p14="http://schemas.microsoft.com/office/powerpoint/2010/main" val="1085058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Title"/>
          <p:cNvSpPr/>
          <p:nvPr/>
        </p:nvSpPr>
        <p:spPr>
          <a:xfrm>
            <a:off x="914400" y="182880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>
              <a:buNone/>
            </a:pPr>
            <a:r>
              <a:rPr lang="en-US" sz="4000" b="1" dirty="0">
                <a:solidFill>
                  <a:srgbClr val="1B2A4A"/>
                </a:solidFill>
                <a:latin typeface="Raleway"/>
              </a:rPr>
              <a:t>Deep Learning</a:t>
            </a:r>
          </a:p>
        </p:txBody>
      </p:sp>
      <p:sp>
        <p:nvSpPr>
          <p:cNvPr id="11" name="SectionSub"/>
          <p:cNvSpPr/>
          <p:nvPr/>
        </p:nvSpPr>
        <p:spPr>
          <a:xfrm>
            <a:off x="914400" y="2998177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en-US" sz="2000" dirty="0">
                <a:solidFill>
                  <a:srgbClr val="4A5568"/>
                </a:solidFill>
                <a:latin typeface="Open Sans"/>
              </a:rPr>
              <a:t>Taking Machine Learning to the Next Level with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3030863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838200" y="3657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>
              <a:buNone/>
            </a:pPr>
            <a:r>
              <a:rPr lang="en-US" sz="3200" b="1" dirty="0">
                <a:solidFill>
                  <a:srgbClr val="1B2A4A"/>
                </a:solidFill>
                <a:latin typeface="Raleway"/>
              </a:rPr>
              <a:t>What is Deep Learning?</a:t>
            </a:r>
          </a:p>
        </p:txBody>
      </p:sp>
      <p:sp>
        <p:nvSpPr>
          <p:cNvPr id="11" name="LeftCol"/>
          <p:cNvSpPr/>
          <p:nvPr/>
        </p:nvSpPr>
        <p:spPr>
          <a:xfrm>
            <a:off x="457200" y="13716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1800" b="1" dirty="0">
                <a:solidFill>
                  <a:srgbClr val="2B6CB0"/>
                </a:solidFill>
                <a:latin typeface="Raleway"/>
              </a:rPr>
              <a:t>Definition</a:t>
            </a:r>
          </a:p>
          <a:p>
            <a:pPr marL="457200" indent="-457200">
              <a:buFont typeface="Arial"/>
              <a:buChar char="•"/>
            </a:pPr>
            <a:r>
              <a:rPr lang="en-US" sz="1600" dirty="0">
                <a:solidFill>
                  <a:srgbClr val="2D3748"/>
                </a:solidFill>
                <a:latin typeface="Open Sans"/>
              </a:rPr>
              <a:t>A subset of ML that uses neural networks with many layers</a:t>
            </a:r>
          </a:p>
          <a:p>
            <a:pPr marL="457200" indent="-457200">
              <a:buFont typeface="Arial"/>
              <a:buChar char="•"/>
            </a:pPr>
            <a:r>
              <a:rPr lang="en-US" sz="1600" dirty="0">
                <a:solidFill>
                  <a:srgbClr val="2D3748"/>
                </a:solidFill>
                <a:latin typeface="Open Sans"/>
              </a:rPr>
              <a:t>Inspired by the structure of the human brain</a:t>
            </a:r>
          </a:p>
          <a:p>
            <a:pPr marL="457200" indent="-457200">
              <a:buFont typeface="Arial"/>
              <a:buChar char="•"/>
            </a:pPr>
            <a:r>
              <a:rPr lang="en-US" sz="1600" dirty="0">
                <a:solidFill>
                  <a:srgbClr val="2D3748"/>
                </a:solidFill>
                <a:latin typeface="Open Sans"/>
              </a:rPr>
              <a:t>Automatically discovers features from raw data</a:t>
            </a:r>
          </a:p>
          <a:p>
            <a:pPr marL="457200" indent="-457200">
              <a:buFont typeface="Arial"/>
              <a:buChar char="•"/>
            </a:pPr>
            <a:r>
              <a:rPr lang="en-US" sz="1600" dirty="0">
                <a:solidFill>
                  <a:srgbClr val="2D3748"/>
                </a:solidFill>
                <a:latin typeface="Open Sans"/>
              </a:rPr>
              <a:t>"Deep" refers to multiple hidden layers in the network</a:t>
            </a:r>
          </a:p>
        </p:txBody>
      </p:sp>
      <p:sp>
        <p:nvSpPr>
          <p:cNvPr id="12" name="RightCol"/>
          <p:cNvSpPr/>
          <p:nvPr/>
        </p:nvSpPr>
        <p:spPr>
          <a:xfrm>
            <a:off x="6248400" y="13716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1800" b="1" dirty="0">
                <a:solidFill>
                  <a:srgbClr val="38A169"/>
                </a:solidFill>
                <a:latin typeface="Raleway"/>
              </a:rPr>
              <a:t>Why Deep Learning?</a:t>
            </a:r>
          </a:p>
          <a:p>
            <a:pPr marL="457200" indent="-457200">
              <a:buFont typeface="Arial"/>
              <a:buChar char="•"/>
            </a:pPr>
            <a:r>
              <a:rPr lang="en-US" sz="1600" dirty="0">
                <a:solidFill>
                  <a:srgbClr val="2D3748"/>
                </a:solidFill>
                <a:latin typeface="Open Sans"/>
              </a:rPr>
              <a:t>Handles massive datasets effectively</a:t>
            </a:r>
          </a:p>
          <a:p>
            <a:pPr marL="457200" indent="-457200">
              <a:buFont typeface="Arial"/>
              <a:buChar char="•"/>
            </a:pPr>
            <a:r>
              <a:rPr lang="en-US" sz="1600" dirty="0">
                <a:solidFill>
                  <a:srgbClr val="2D3748"/>
                </a:solidFill>
                <a:latin typeface="Open Sans"/>
              </a:rPr>
              <a:t>Excels at unstructured data (images, text, audio)</a:t>
            </a:r>
          </a:p>
          <a:p>
            <a:pPr marL="457200" indent="-457200">
              <a:buFont typeface="Arial"/>
              <a:buChar char="•"/>
            </a:pPr>
            <a:r>
              <a:rPr lang="en-US" sz="1600" dirty="0">
                <a:solidFill>
                  <a:srgbClr val="2D3748"/>
                </a:solidFill>
                <a:latin typeface="Open Sans"/>
              </a:rPr>
              <a:t>Powered by GPUs and cloud computing</a:t>
            </a:r>
          </a:p>
          <a:p>
            <a:pPr marL="457200" indent="-457200">
              <a:buFont typeface="Arial"/>
              <a:buChar char="•"/>
            </a:pPr>
            <a:r>
              <a:rPr lang="en-US" sz="1600" dirty="0">
                <a:solidFill>
                  <a:srgbClr val="2D3748"/>
                </a:solidFill>
                <a:latin typeface="Open Sans"/>
              </a:rPr>
              <a:t>State-of-the-art in most AI benchmarks</a:t>
            </a:r>
          </a:p>
        </p:txBody>
      </p:sp>
    </p:spTree>
    <p:extLst>
      <p:ext uri="{BB962C8B-B14F-4D97-AF65-F5344CB8AC3E}">
        <p14:creationId xmlns:p14="http://schemas.microsoft.com/office/powerpoint/2010/main" val="547401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53CAE-4C47-FFAE-E6EA-779ECFDD5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Neural Networks Work</a:t>
            </a:r>
          </a:p>
        </p:txBody>
      </p:sp>
      <p:sp>
        <p:nvSpPr>
          <p:cNvPr id="30" name="N0_0"/>
          <p:cNvSpPr/>
          <p:nvPr/>
        </p:nvSpPr>
        <p:spPr>
          <a:xfrm>
            <a:off x="1143000" y="2514600"/>
            <a:ext cx="457200" cy="457200"/>
          </a:xfrm>
          <a:prstGeom prst="ellipse">
            <a:avLst/>
          </a:prstGeom>
          <a:solidFill>
            <a:srgbClr val="2B6CB0"/>
          </a:solidFill>
          <a:ln>
            <a:noFill/>
          </a:ln>
          <a:effectLst>
            <a:outerShdw blurRad="25400" dist="12700" dir="5400000" algn="ctr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N0_1"/>
          <p:cNvSpPr/>
          <p:nvPr/>
        </p:nvSpPr>
        <p:spPr>
          <a:xfrm>
            <a:off x="1143000" y="3200400"/>
            <a:ext cx="457200" cy="457200"/>
          </a:xfrm>
          <a:prstGeom prst="ellipse">
            <a:avLst/>
          </a:prstGeom>
          <a:solidFill>
            <a:srgbClr val="2B6CB0"/>
          </a:solidFill>
          <a:ln>
            <a:noFill/>
          </a:ln>
          <a:effectLst>
            <a:outerShdw blurRad="25400" dist="12700" dir="5400000" algn="ctr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N0_2"/>
          <p:cNvSpPr/>
          <p:nvPr/>
        </p:nvSpPr>
        <p:spPr>
          <a:xfrm>
            <a:off x="1143000" y="3886200"/>
            <a:ext cx="457200" cy="457200"/>
          </a:xfrm>
          <a:prstGeom prst="ellipse">
            <a:avLst/>
          </a:prstGeom>
          <a:solidFill>
            <a:srgbClr val="2B6CB0"/>
          </a:solidFill>
          <a:ln>
            <a:noFill/>
          </a:ln>
          <a:effectLst>
            <a:outerShdw blurRad="25400" dist="12700" dir="5400000" algn="ctr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LLbl0"/>
          <p:cNvSpPr/>
          <p:nvPr/>
        </p:nvSpPr>
        <p:spPr>
          <a:xfrm>
            <a:off x="685800" y="54102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400" b="1" dirty="0">
                <a:solidFill>
                  <a:srgbClr val="2B6CB0"/>
                </a:solidFill>
              </a:rPr>
              <a:t>Input
Layer</a:t>
            </a:r>
          </a:p>
        </p:txBody>
      </p:sp>
      <p:sp>
        <p:nvSpPr>
          <p:cNvPr id="34" name="N1_0"/>
          <p:cNvSpPr/>
          <p:nvPr/>
        </p:nvSpPr>
        <p:spPr>
          <a:xfrm>
            <a:off x="4191000" y="2171700"/>
            <a:ext cx="457200" cy="457200"/>
          </a:xfrm>
          <a:prstGeom prst="ellipse">
            <a:avLst/>
          </a:prstGeom>
          <a:solidFill>
            <a:srgbClr val="805AD5"/>
          </a:solidFill>
          <a:ln>
            <a:noFill/>
          </a:ln>
          <a:effectLst>
            <a:outerShdw blurRad="25400" dist="12700" dir="5400000" algn="ctr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N1_1"/>
          <p:cNvSpPr/>
          <p:nvPr/>
        </p:nvSpPr>
        <p:spPr>
          <a:xfrm>
            <a:off x="4191000" y="2857500"/>
            <a:ext cx="457200" cy="457200"/>
          </a:xfrm>
          <a:prstGeom prst="ellipse">
            <a:avLst/>
          </a:prstGeom>
          <a:solidFill>
            <a:srgbClr val="805AD5"/>
          </a:solidFill>
          <a:ln>
            <a:noFill/>
          </a:ln>
          <a:effectLst>
            <a:outerShdw blurRad="25400" dist="12700" dir="5400000" algn="ctr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N1_2"/>
          <p:cNvSpPr/>
          <p:nvPr/>
        </p:nvSpPr>
        <p:spPr>
          <a:xfrm>
            <a:off x="4191000" y="3543300"/>
            <a:ext cx="457200" cy="457200"/>
          </a:xfrm>
          <a:prstGeom prst="ellipse">
            <a:avLst/>
          </a:prstGeom>
          <a:solidFill>
            <a:srgbClr val="805AD5"/>
          </a:solidFill>
          <a:ln>
            <a:noFill/>
          </a:ln>
          <a:effectLst>
            <a:outerShdw blurRad="25400" dist="12700" dir="5400000" algn="ctr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N1_3"/>
          <p:cNvSpPr/>
          <p:nvPr/>
        </p:nvSpPr>
        <p:spPr>
          <a:xfrm>
            <a:off x="4191000" y="4229100"/>
            <a:ext cx="457200" cy="457200"/>
          </a:xfrm>
          <a:prstGeom prst="ellipse">
            <a:avLst/>
          </a:prstGeom>
          <a:solidFill>
            <a:srgbClr val="805AD5"/>
          </a:solidFill>
          <a:ln>
            <a:noFill/>
          </a:ln>
          <a:effectLst>
            <a:outerShdw blurRad="25400" dist="12700" dir="5400000" algn="ctr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LLbl1"/>
          <p:cNvSpPr/>
          <p:nvPr/>
        </p:nvSpPr>
        <p:spPr>
          <a:xfrm>
            <a:off x="3733800" y="54102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400" b="1" dirty="0">
                <a:solidFill>
                  <a:srgbClr val="805AD5"/>
                </a:solidFill>
              </a:rPr>
              <a:t>Hidden
Layer 1</a:t>
            </a:r>
          </a:p>
        </p:txBody>
      </p:sp>
      <p:sp>
        <p:nvSpPr>
          <p:cNvPr id="39" name="N2_0"/>
          <p:cNvSpPr/>
          <p:nvPr/>
        </p:nvSpPr>
        <p:spPr>
          <a:xfrm>
            <a:off x="7239000" y="2171700"/>
            <a:ext cx="457200" cy="457200"/>
          </a:xfrm>
          <a:prstGeom prst="ellipse">
            <a:avLst/>
          </a:prstGeom>
          <a:solidFill>
            <a:srgbClr val="805AD5"/>
          </a:solidFill>
          <a:ln>
            <a:noFill/>
          </a:ln>
          <a:effectLst>
            <a:outerShdw blurRad="25400" dist="12700" dir="5400000" algn="ctr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N2_1"/>
          <p:cNvSpPr/>
          <p:nvPr/>
        </p:nvSpPr>
        <p:spPr>
          <a:xfrm>
            <a:off x="7239000" y="2857500"/>
            <a:ext cx="457200" cy="457200"/>
          </a:xfrm>
          <a:prstGeom prst="ellipse">
            <a:avLst/>
          </a:prstGeom>
          <a:solidFill>
            <a:srgbClr val="805AD5"/>
          </a:solidFill>
          <a:ln>
            <a:noFill/>
          </a:ln>
          <a:effectLst>
            <a:outerShdw blurRad="25400" dist="12700" dir="5400000" algn="ctr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N2_2"/>
          <p:cNvSpPr/>
          <p:nvPr/>
        </p:nvSpPr>
        <p:spPr>
          <a:xfrm>
            <a:off x="7239000" y="3543300"/>
            <a:ext cx="457200" cy="457200"/>
          </a:xfrm>
          <a:prstGeom prst="ellipse">
            <a:avLst/>
          </a:prstGeom>
          <a:solidFill>
            <a:srgbClr val="805AD5"/>
          </a:solidFill>
          <a:ln>
            <a:noFill/>
          </a:ln>
          <a:effectLst>
            <a:outerShdw blurRad="25400" dist="12700" dir="5400000" algn="ctr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N2_3"/>
          <p:cNvSpPr/>
          <p:nvPr/>
        </p:nvSpPr>
        <p:spPr>
          <a:xfrm>
            <a:off x="7239000" y="4229100"/>
            <a:ext cx="457200" cy="457200"/>
          </a:xfrm>
          <a:prstGeom prst="ellipse">
            <a:avLst/>
          </a:prstGeom>
          <a:solidFill>
            <a:srgbClr val="805AD5"/>
          </a:solidFill>
          <a:ln>
            <a:noFill/>
          </a:ln>
          <a:effectLst>
            <a:outerShdw blurRad="25400" dist="12700" dir="5400000" algn="ctr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LLbl2"/>
          <p:cNvSpPr/>
          <p:nvPr/>
        </p:nvSpPr>
        <p:spPr>
          <a:xfrm>
            <a:off x="6781800" y="54102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400" b="1" dirty="0">
                <a:solidFill>
                  <a:srgbClr val="805AD5"/>
                </a:solidFill>
              </a:rPr>
              <a:t>Hidden
Layer 2</a:t>
            </a:r>
          </a:p>
        </p:txBody>
      </p:sp>
      <p:sp>
        <p:nvSpPr>
          <p:cNvPr id="44" name="N3_0"/>
          <p:cNvSpPr/>
          <p:nvPr/>
        </p:nvSpPr>
        <p:spPr>
          <a:xfrm>
            <a:off x="10287000" y="2857500"/>
            <a:ext cx="457200" cy="457200"/>
          </a:xfrm>
          <a:prstGeom prst="ellipse">
            <a:avLst/>
          </a:prstGeom>
          <a:solidFill>
            <a:srgbClr val="38A169"/>
          </a:solidFill>
          <a:ln>
            <a:noFill/>
          </a:ln>
          <a:effectLst>
            <a:outerShdw blurRad="25400" dist="12700" dir="5400000" algn="ctr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N3_1"/>
          <p:cNvSpPr/>
          <p:nvPr/>
        </p:nvSpPr>
        <p:spPr>
          <a:xfrm>
            <a:off x="10287000" y="3543300"/>
            <a:ext cx="457200" cy="457200"/>
          </a:xfrm>
          <a:prstGeom prst="ellipse">
            <a:avLst/>
          </a:prstGeom>
          <a:solidFill>
            <a:srgbClr val="38A169"/>
          </a:solidFill>
          <a:ln>
            <a:noFill/>
          </a:ln>
          <a:effectLst>
            <a:outerShdw blurRad="25400" dist="12700" dir="5400000" algn="ctr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LLbl3"/>
          <p:cNvSpPr/>
          <p:nvPr/>
        </p:nvSpPr>
        <p:spPr>
          <a:xfrm>
            <a:off x="9829800" y="54102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400" b="1" dirty="0">
                <a:solidFill>
                  <a:srgbClr val="38A169"/>
                </a:solidFill>
              </a:rPr>
              <a:t>Output
Layer</a:t>
            </a:r>
          </a:p>
        </p:txBody>
      </p:sp>
      <p:sp>
        <p:nvSpPr>
          <p:cNvPr id="47" name="Conn"/>
          <p:cNvSpPr/>
          <p:nvPr/>
        </p:nvSpPr>
        <p:spPr>
          <a:xfrm flipV="1">
            <a:off x="1600200" y="2400300"/>
            <a:ext cx="2590800" cy="3429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Conn"/>
          <p:cNvSpPr/>
          <p:nvPr/>
        </p:nvSpPr>
        <p:spPr>
          <a:xfrm>
            <a:off x="1600200" y="2743200"/>
            <a:ext cx="2590800" cy="3429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9" name="Conn"/>
          <p:cNvSpPr/>
          <p:nvPr/>
        </p:nvSpPr>
        <p:spPr>
          <a:xfrm>
            <a:off x="1600200" y="2743200"/>
            <a:ext cx="2590800" cy="10287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Conn"/>
          <p:cNvSpPr/>
          <p:nvPr/>
        </p:nvSpPr>
        <p:spPr>
          <a:xfrm>
            <a:off x="1600200" y="2743200"/>
            <a:ext cx="2590800" cy="17145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Conn"/>
          <p:cNvSpPr/>
          <p:nvPr/>
        </p:nvSpPr>
        <p:spPr>
          <a:xfrm flipV="1">
            <a:off x="1600200" y="2400300"/>
            <a:ext cx="2590800" cy="10287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Conn"/>
          <p:cNvSpPr/>
          <p:nvPr/>
        </p:nvSpPr>
        <p:spPr>
          <a:xfrm flipV="1">
            <a:off x="1600200" y="3086100"/>
            <a:ext cx="2590800" cy="3429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Conn"/>
          <p:cNvSpPr/>
          <p:nvPr/>
        </p:nvSpPr>
        <p:spPr>
          <a:xfrm>
            <a:off x="1600200" y="3429000"/>
            <a:ext cx="2590800" cy="3429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Conn"/>
          <p:cNvSpPr/>
          <p:nvPr/>
        </p:nvSpPr>
        <p:spPr>
          <a:xfrm>
            <a:off x="1600200" y="3429000"/>
            <a:ext cx="2590800" cy="10287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Conn"/>
          <p:cNvSpPr/>
          <p:nvPr/>
        </p:nvSpPr>
        <p:spPr>
          <a:xfrm flipV="1">
            <a:off x="1600200" y="2400300"/>
            <a:ext cx="2590800" cy="17145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Conn"/>
          <p:cNvSpPr/>
          <p:nvPr/>
        </p:nvSpPr>
        <p:spPr>
          <a:xfrm flipV="1">
            <a:off x="1600200" y="3086100"/>
            <a:ext cx="2590800" cy="10287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Conn"/>
          <p:cNvSpPr/>
          <p:nvPr/>
        </p:nvSpPr>
        <p:spPr>
          <a:xfrm flipV="1">
            <a:off x="1600200" y="3771900"/>
            <a:ext cx="2590800" cy="3429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Conn"/>
          <p:cNvSpPr/>
          <p:nvPr/>
        </p:nvSpPr>
        <p:spPr>
          <a:xfrm>
            <a:off x="1600200" y="4114800"/>
            <a:ext cx="2590800" cy="3429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Conn"/>
          <p:cNvSpPr/>
          <p:nvPr/>
        </p:nvSpPr>
        <p:spPr>
          <a:xfrm>
            <a:off x="4648200" y="2400300"/>
            <a:ext cx="2590800" cy="1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Conn"/>
          <p:cNvSpPr/>
          <p:nvPr/>
        </p:nvSpPr>
        <p:spPr>
          <a:xfrm>
            <a:off x="4648200" y="2400300"/>
            <a:ext cx="2590800" cy="6858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Conn"/>
          <p:cNvSpPr/>
          <p:nvPr/>
        </p:nvSpPr>
        <p:spPr>
          <a:xfrm>
            <a:off x="4648200" y="2400300"/>
            <a:ext cx="2590800" cy="13716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Conn"/>
          <p:cNvSpPr/>
          <p:nvPr/>
        </p:nvSpPr>
        <p:spPr>
          <a:xfrm>
            <a:off x="4648200" y="2400300"/>
            <a:ext cx="2590800" cy="20574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Conn"/>
          <p:cNvSpPr/>
          <p:nvPr/>
        </p:nvSpPr>
        <p:spPr>
          <a:xfrm flipV="1">
            <a:off x="4648200" y="2400300"/>
            <a:ext cx="2590800" cy="6858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" name="Conn"/>
          <p:cNvSpPr/>
          <p:nvPr/>
        </p:nvSpPr>
        <p:spPr>
          <a:xfrm>
            <a:off x="4648200" y="3086100"/>
            <a:ext cx="2590800" cy="1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Conn"/>
          <p:cNvSpPr/>
          <p:nvPr/>
        </p:nvSpPr>
        <p:spPr>
          <a:xfrm>
            <a:off x="4648200" y="3086100"/>
            <a:ext cx="2590800" cy="6858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6" name="Conn"/>
          <p:cNvSpPr/>
          <p:nvPr/>
        </p:nvSpPr>
        <p:spPr>
          <a:xfrm>
            <a:off x="4648200" y="3086100"/>
            <a:ext cx="2590800" cy="13716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Conn"/>
          <p:cNvSpPr/>
          <p:nvPr/>
        </p:nvSpPr>
        <p:spPr>
          <a:xfrm flipV="1">
            <a:off x="4648200" y="2400300"/>
            <a:ext cx="2590800" cy="13716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Conn"/>
          <p:cNvSpPr/>
          <p:nvPr/>
        </p:nvSpPr>
        <p:spPr>
          <a:xfrm flipV="1">
            <a:off x="4648200" y="3086100"/>
            <a:ext cx="2590800" cy="6858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Conn"/>
          <p:cNvSpPr/>
          <p:nvPr/>
        </p:nvSpPr>
        <p:spPr>
          <a:xfrm>
            <a:off x="4648200" y="3771900"/>
            <a:ext cx="2590800" cy="1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" name="Conn"/>
          <p:cNvSpPr/>
          <p:nvPr/>
        </p:nvSpPr>
        <p:spPr>
          <a:xfrm>
            <a:off x="4648200" y="3771900"/>
            <a:ext cx="2590800" cy="6858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Conn"/>
          <p:cNvSpPr/>
          <p:nvPr/>
        </p:nvSpPr>
        <p:spPr>
          <a:xfrm flipV="1">
            <a:off x="4648200" y="2400300"/>
            <a:ext cx="2590800" cy="20574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Conn"/>
          <p:cNvSpPr/>
          <p:nvPr/>
        </p:nvSpPr>
        <p:spPr>
          <a:xfrm flipV="1">
            <a:off x="4648200" y="3086100"/>
            <a:ext cx="2590800" cy="13716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Conn"/>
          <p:cNvSpPr/>
          <p:nvPr/>
        </p:nvSpPr>
        <p:spPr>
          <a:xfrm flipV="1">
            <a:off x="4648200" y="3771900"/>
            <a:ext cx="2590800" cy="6858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4" name="Conn"/>
          <p:cNvSpPr/>
          <p:nvPr/>
        </p:nvSpPr>
        <p:spPr>
          <a:xfrm>
            <a:off x="4648200" y="4457700"/>
            <a:ext cx="2590800" cy="1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Conn"/>
          <p:cNvSpPr/>
          <p:nvPr/>
        </p:nvSpPr>
        <p:spPr>
          <a:xfrm>
            <a:off x="7696200" y="2400300"/>
            <a:ext cx="2590800" cy="6858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6" name="Conn"/>
          <p:cNvSpPr/>
          <p:nvPr/>
        </p:nvSpPr>
        <p:spPr>
          <a:xfrm>
            <a:off x="7696200" y="2400300"/>
            <a:ext cx="2590800" cy="13716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Conn"/>
          <p:cNvSpPr/>
          <p:nvPr/>
        </p:nvSpPr>
        <p:spPr>
          <a:xfrm>
            <a:off x="7696200" y="3086100"/>
            <a:ext cx="2590800" cy="1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Conn"/>
          <p:cNvSpPr/>
          <p:nvPr/>
        </p:nvSpPr>
        <p:spPr>
          <a:xfrm>
            <a:off x="7696200" y="3086100"/>
            <a:ext cx="2590800" cy="6858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9" name="Conn"/>
          <p:cNvSpPr/>
          <p:nvPr/>
        </p:nvSpPr>
        <p:spPr>
          <a:xfrm flipV="1">
            <a:off x="7696200" y="3086100"/>
            <a:ext cx="2590800" cy="6858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0" name="Conn"/>
          <p:cNvSpPr/>
          <p:nvPr/>
        </p:nvSpPr>
        <p:spPr>
          <a:xfrm>
            <a:off x="7696200" y="3771900"/>
            <a:ext cx="2590800" cy="1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Conn"/>
          <p:cNvSpPr/>
          <p:nvPr/>
        </p:nvSpPr>
        <p:spPr>
          <a:xfrm flipV="1">
            <a:off x="7696200" y="3086100"/>
            <a:ext cx="2590800" cy="13716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2" name="Conn"/>
          <p:cNvSpPr/>
          <p:nvPr/>
        </p:nvSpPr>
        <p:spPr>
          <a:xfrm flipV="1">
            <a:off x="7696200" y="3771900"/>
            <a:ext cx="2590800" cy="685800"/>
          </a:xfrm>
          <a:prstGeom prst="line">
            <a:avLst/>
          </a:prstGeom>
          <a:ln w="6350">
            <a:solidFill>
              <a:srgbClr val="CBD5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48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ED36B-3F58-5872-49D1-349D44A60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Neural Networks</a:t>
            </a:r>
          </a:p>
        </p:txBody>
      </p:sp>
      <p:sp>
        <p:nvSpPr>
          <p:cNvPr id="20" name="NN0"/>
          <p:cNvSpPr/>
          <p:nvPr/>
        </p:nvSpPr>
        <p:spPr>
          <a:xfrm>
            <a:off x="457200" y="1676400"/>
            <a:ext cx="25908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txBody>
          <a:bodyPr wrap="square" lIns="109728" tIns="109728" rIns="109728" bIns="91440" anchor="t"/>
          <a:lstStyle/>
          <a:p>
            <a:pPr algn="ctr">
              <a:buNone/>
            </a:pPr>
            <a:r>
              <a:rPr lang="en-US" sz="2400" b="1" dirty="0">
                <a:solidFill>
                  <a:srgbClr val="2B6CB0"/>
                </a:solidFill>
              </a:rPr>
              <a:t>CNN</a:t>
            </a:r>
          </a:p>
          <a:p>
            <a:pPr algn="ctr">
              <a:buNone/>
            </a:pPr>
            <a:r>
              <a:rPr lang="en-US" sz="1200" i="1" dirty="0">
                <a:solidFill>
                  <a:srgbClr val="718096"/>
                </a:solidFill>
              </a:rPr>
              <a:t>Convolutional Neural Network</a:t>
            </a:r>
          </a:p>
          <a:p>
            <a:pPr algn="l">
              <a:buNone/>
            </a:pPr>
            <a:r>
              <a:rPr lang="en-US" sz="1400" dirty="0">
                <a:solidFill>
                  <a:srgbClr val="2D3748"/>
                </a:solidFill>
              </a:rPr>
              <a:t>Specialized for image and video processing. Uses filters to detect patterns like edges, shapes, and objects.</a:t>
            </a:r>
          </a:p>
          <a:p>
            <a:pPr algn="l">
              <a:buNone/>
            </a:pPr>
            <a:r>
              <a:rPr lang="en-US" sz="1400" b="1" dirty="0">
                <a:solidFill>
                  <a:srgbClr val="2B6CB0"/>
                </a:solidFill>
              </a:rPr>
              <a:t>Use Cases:</a:t>
            </a:r>
          </a:p>
          <a:p>
            <a:pPr algn="l">
              <a:buNone/>
            </a:pPr>
            <a:r>
              <a:rPr lang="en-US" sz="1400" dirty="0">
                <a:solidFill>
                  <a:srgbClr val="2D3748"/>
                </a:solidFill>
              </a:rPr>
              <a:t>Image Recognition, Medical Imaging, Video Analysis</a:t>
            </a:r>
          </a:p>
        </p:txBody>
      </p:sp>
      <p:sp>
        <p:nvSpPr>
          <p:cNvPr id="21" name="NN1"/>
          <p:cNvSpPr/>
          <p:nvPr/>
        </p:nvSpPr>
        <p:spPr>
          <a:xfrm>
            <a:off x="3230880" y="1676400"/>
            <a:ext cx="25908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05AD5"/>
            </a:solidFill>
          </a:ln>
        </p:spPr>
        <p:txBody>
          <a:bodyPr wrap="square" lIns="109728" tIns="109728" rIns="109728" bIns="91440" anchor="t"/>
          <a:lstStyle/>
          <a:p>
            <a:pPr algn="ctr">
              <a:buNone/>
            </a:pPr>
            <a:r>
              <a:rPr lang="en-US" sz="2400" b="1" dirty="0">
                <a:solidFill>
                  <a:srgbClr val="805AD5"/>
                </a:solidFill>
              </a:rPr>
              <a:t>RNN</a:t>
            </a:r>
          </a:p>
          <a:p>
            <a:pPr algn="ctr">
              <a:buNone/>
            </a:pPr>
            <a:r>
              <a:rPr lang="en-US" sz="1200" i="1" dirty="0">
                <a:solidFill>
                  <a:srgbClr val="718096"/>
                </a:solidFill>
              </a:rPr>
              <a:t>Recurrent Neural Network</a:t>
            </a:r>
          </a:p>
          <a:p>
            <a:pPr algn="l">
              <a:buNone/>
            </a:pPr>
            <a:r>
              <a:rPr lang="en-US" sz="1400" dirty="0">
                <a:solidFill>
                  <a:srgbClr val="2D3748"/>
                </a:solidFill>
              </a:rPr>
              <a:t>Processes sequential data by maintaining memory of previous inputs. Ideal for time-series data.</a:t>
            </a:r>
          </a:p>
          <a:p>
            <a:pPr algn="l">
              <a:buNone/>
            </a:pPr>
            <a:r>
              <a:rPr lang="en-US" sz="1400" b="1" dirty="0">
                <a:solidFill>
                  <a:srgbClr val="805AD5"/>
                </a:solidFill>
              </a:rPr>
              <a:t>Use Cases:</a:t>
            </a:r>
          </a:p>
          <a:p>
            <a:pPr algn="l">
              <a:buNone/>
            </a:pPr>
            <a:r>
              <a:rPr lang="en-US" sz="1400" dirty="0">
                <a:solidFill>
                  <a:srgbClr val="2D3748"/>
                </a:solidFill>
              </a:rPr>
              <a:t>Language Translation, Speech Recognition, Stock Prediction</a:t>
            </a:r>
          </a:p>
        </p:txBody>
      </p:sp>
      <p:sp>
        <p:nvSpPr>
          <p:cNvPr id="22" name="NN2"/>
          <p:cNvSpPr/>
          <p:nvPr/>
        </p:nvSpPr>
        <p:spPr>
          <a:xfrm>
            <a:off x="6004560" y="1676400"/>
            <a:ext cx="25908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8A169"/>
            </a:solidFill>
          </a:ln>
        </p:spPr>
        <p:txBody>
          <a:bodyPr wrap="square" lIns="109728" tIns="109728" rIns="109728" bIns="91440" anchor="t"/>
          <a:lstStyle/>
          <a:p>
            <a:pPr algn="ctr">
              <a:buNone/>
            </a:pPr>
            <a:r>
              <a:rPr lang="en-US" sz="2400" b="1" dirty="0">
                <a:solidFill>
                  <a:srgbClr val="38A169"/>
                </a:solidFill>
              </a:rPr>
              <a:t>Transformer</a:t>
            </a:r>
          </a:p>
          <a:p>
            <a:pPr algn="ctr">
              <a:buNone/>
            </a:pPr>
            <a:r>
              <a:rPr lang="en-US" sz="1200" i="1" dirty="0">
                <a:solidFill>
                  <a:srgbClr val="718096"/>
                </a:solidFill>
              </a:rPr>
              <a:t>Attention-Based Architecture</a:t>
            </a:r>
          </a:p>
          <a:p>
            <a:pPr algn="l">
              <a:buNone/>
            </a:pPr>
            <a:r>
              <a:rPr lang="en-US" sz="1400" dirty="0">
                <a:solidFill>
                  <a:srgbClr val="2D3748"/>
                </a:solidFill>
              </a:rPr>
              <a:t>Uses self-attention to process entire sequences at once. Powers modern LLMs like GPT and BERT.</a:t>
            </a:r>
          </a:p>
          <a:p>
            <a:pPr algn="l">
              <a:buNone/>
            </a:pPr>
            <a:r>
              <a:rPr lang="en-US" sz="1400" b="1" dirty="0">
                <a:solidFill>
                  <a:srgbClr val="38A169"/>
                </a:solidFill>
              </a:rPr>
              <a:t>Use Cases:</a:t>
            </a:r>
          </a:p>
          <a:p>
            <a:pPr algn="l">
              <a:buNone/>
            </a:pPr>
            <a:r>
              <a:rPr lang="en-US" sz="1400" dirty="0">
                <a:solidFill>
                  <a:srgbClr val="2D3748"/>
                </a:solidFill>
              </a:rPr>
              <a:t>ChatGPT, Google Translate, GitHub Copilot</a:t>
            </a:r>
          </a:p>
        </p:txBody>
      </p:sp>
      <p:sp>
        <p:nvSpPr>
          <p:cNvPr id="23" name="NN3"/>
          <p:cNvSpPr/>
          <p:nvPr/>
        </p:nvSpPr>
        <p:spPr>
          <a:xfrm>
            <a:off x="8778240" y="1676400"/>
            <a:ext cx="25908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3E3E"/>
            </a:solidFill>
          </a:ln>
        </p:spPr>
        <p:txBody>
          <a:bodyPr wrap="square" lIns="109728" tIns="109728" rIns="109728" bIns="91440" anchor="t"/>
          <a:lstStyle/>
          <a:p>
            <a:pPr algn="ctr">
              <a:buNone/>
            </a:pPr>
            <a:r>
              <a:rPr lang="en-US" sz="2400" b="1" dirty="0">
                <a:solidFill>
                  <a:srgbClr val="E53E3E"/>
                </a:solidFill>
              </a:rPr>
              <a:t>GAN</a:t>
            </a:r>
          </a:p>
          <a:p>
            <a:pPr algn="ctr">
              <a:buNone/>
            </a:pPr>
            <a:r>
              <a:rPr lang="en-US" sz="1200" i="1" dirty="0">
                <a:solidFill>
                  <a:srgbClr val="718096"/>
                </a:solidFill>
              </a:rPr>
              <a:t>Generative Adversarial Network</a:t>
            </a:r>
          </a:p>
          <a:p>
            <a:pPr algn="l">
              <a:buNone/>
            </a:pPr>
            <a:r>
              <a:rPr lang="en-US" sz="1400" dirty="0">
                <a:solidFill>
                  <a:srgbClr val="2D3748"/>
                </a:solidFill>
              </a:rPr>
              <a:t>Two networks compete - one generates, one discriminates. Creates realistic synthetic data.</a:t>
            </a:r>
          </a:p>
          <a:p>
            <a:pPr algn="l">
              <a:buNone/>
            </a:pPr>
            <a:r>
              <a:rPr lang="en-US" sz="1400" b="1" dirty="0">
                <a:solidFill>
                  <a:srgbClr val="E53E3E"/>
                </a:solidFill>
              </a:rPr>
              <a:t>Use Cases:</a:t>
            </a:r>
          </a:p>
          <a:p>
            <a:pPr algn="l">
              <a:buNone/>
            </a:pPr>
            <a:r>
              <a:rPr lang="en-US" sz="1400" dirty="0">
                <a:solidFill>
                  <a:srgbClr val="2D3748"/>
                </a:solidFill>
              </a:rPr>
              <a:t>Image Generation, Deepfakes, Art Creation</a:t>
            </a:r>
          </a:p>
        </p:txBody>
      </p:sp>
    </p:spTree>
    <p:extLst>
      <p:ext uri="{BB962C8B-B14F-4D97-AF65-F5344CB8AC3E}">
        <p14:creationId xmlns:p14="http://schemas.microsoft.com/office/powerpoint/2010/main" val="164920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A0EAC-F879-A6D4-18CE-D226E5FBB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Deep Learning Applications</a:t>
            </a:r>
          </a:p>
        </p:txBody>
      </p:sp>
      <p:sp>
        <p:nvSpPr>
          <p:cNvPr id="20" name="AppCircle0"/>
          <p:cNvSpPr/>
          <p:nvPr/>
        </p:nvSpPr>
        <p:spPr>
          <a:xfrm>
            <a:off x="548640" y="2057400"/>
            <a:ext cx="457200" cy="457200"/>
          </a:xfrm>
          <a:prstGeom prst="ellipse">
            <a:avLst/>
          </a:prstGeom>
          <a:solidFill>
            <a:srgbClr val="2B6CB0">
              <a:alpha val="15000"/>
            </a:srgbClr>
          </a:solidFill>
          <a:ln w="19050">
            <a:solidFill>
              <a:srgbClr val="2B6CB0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600" b="1" dirty="0">
                <a:solidFill>
                  <a:srgbClr val="2B6CB0"/>
                </a:solidFill>
              </a:rPr>
              <a:t>1</a:t>
            </a:r>
          </a:p>
        </p:txBody>
      </p:sp>
      <p:sp>
        <p:nvSpPr>
          <p:cNvPr id="21" name="AppText0"/>
          <p:cNvSpPr/>
          <p:nvPr/>
        </p:nvSpPr>
        <p:spPr>
          <a:xfrm>
            <a:off x="1097280" y="1965960"/>
            <a:ext cx="246888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en-US" sz="1600" b="1" dirty="0">
                <a:solidFill>
                  <a:srgbClr val="2B6CB0"/>
                </a:solidFill>
              </a:rPr>
              <a:t>Computer Vision</a:t>
            </a:r>
          </a:p>
          <a:p>
            <a:pPr>
              <a:buNone/>
            </a:pPr>
            <a:r>
              <a:rPr lang="en-US" sz="1400" dirty="0">
                <a:solidFill>
                  <a:srgbClr val="2D3748"/>
                </a:solidFill>
              </a:rPr>
              <a:t>Facial recognition, object detection, autonomous vehicles</a:t>
            </a:r>
          </a:p>
        </p:txBody>
      </p:sp>
      <p:sp>
        <p:nvSpPr>
          <p:cNvPr id="22" name="AppCircle1"/>
          <p:cNvSpPr/>
          <p:nvPr/>
        </p:nvSpPr>
        <p:spPr>
          <a:xfrm>
            <a:off x="3977640" y="2057400"/>
            <a:ext cx="457200" cy="457200"/>
          </a:xfrm>
          <a:prstGeom prst="ellipse">
            <a:avLst/>
          </a:prstGeom>
          <a:solidFill>
            <a:srgbClr val="38A169">
              <a:alpha val="15000"/>
            </a:srgbClr>
          </a:solidFill>
          <a:ln w="19050">
            <a:solidFill>
              <a:srgbClr val="38A169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600" b="1" dirty="0">
                <a:solidFill>
                  <a:srgbClr val="38A169"/>
                </a:solidFill>
              </a:rPr>
              <a:t>2</a:t>
            </a:r>
          </a:p>
        </p:txBody>
      </p:sp>
      <p:sp>
        <p:nvSpPr>
          <p:cNvPr id="23" name="AppText1"/>
          <p:cNvSpPr/>
          <p:nvPr/>
        </p:nvSpPr>
        <p:spPr>
          <a:xfrm>
            <a:off x="4526280" y="1965960"/>
            <a:ext cx="246888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en-US" sz="1600" b="1" dirty="0">
                <a:solidFill>
                  <a:srgbClr val="38A169"/>
                </a:solidFill>
              </a:rPr>
              <a:t>Natural Language Processing</a:t>
            </a:r>
          </a:p>
          <a:p>
            <a:pPr>
              <a:buNone/>
            </a:pPr>
            <a:r>
              <a:rPr lang="en-US" sz="1400" dirty="0">
                <a:solidFill>
                  <a:srgbClr val="2D3748"/>
                </a:solidFill>
              </a:rPr>
              <a:t>ChatGPT, translation, sentiment analysis, summarization</a:t>
            </a:r>
          </a:p>
        </p:txBody>
      </p:sp>
      <p:sp>
        <p:nvSpPr>
          <p:cNvPr id="24" name="AppCircle2"/>
          <p:cNvSpPr/>
          <p:nvPr/>
        </p:nvSpPr>
        <p:spPr>
          <a:xfrm>
            <a:off x="7406640" y="2057400"/>
            <a:ext cx="457200" cy="457200"/>
          </a:xfrm>
          <a:prstGeom prst="ellipse">
            <a:avLst/>
          </a:prstGeom>
          <a:solidFill>
            <a:srgbClr val="805AD5">
              <a:alpha val="15000"/>
            </a:srgbClr>
          </a:solidFill>
          <a:ln w="19050">
            <a:solidFill>
              <a:srgbClr val="805AD5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600" b="1" dirty="0">
                <a:solidFill>
                  <a:srgbClr val="805AD5"/>
                </a:solidFill>
              </a:rPr>
              <a:t>3</a:t>
            </a:r>
          </a:p>
        </p:txBody>
      </p:sp>
      <p:sp>
        <p:nvSpPr>
          <p:cNvPr id="25" name="AppText2"/>
          <p:cNvSpPr/>
          <p:nvPr/>
        </p:nvSpPr>
        <p:spPr>
          <a:xfrm>
            <a:off x="7955280" y="1965960"/>
            <a:ext cx="246888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en-US" sz="1600" b="1" dirty="0">
                <a:solidFill>
                  <a:srgbClr val="805AD5"/>
                </a:solidFill>
              </a:rPr>
              <a:t>Self-Driving Cars</a:t>
            </a:r>
          </a:p>
          <a:p>
            <a:pPr>
              <a:buNone/>
            </a:pPr>
            <a:r>
              <a:rPr lang="en-US" sz="1400" dirty="0">
                <a:solidFill>
                  <a:srgbClr val="2D3748"/>
                </a:solidFill>
              </a:rPr>
              <a:t>Real-time decision making from sensor and camera data</a:t>
            </a:r>
          </a:p>
        </p:txBody>
      </p:sp>
      <p:sp>
        <p:nvSpPr>
          <p:cNvPr id="26" name="AppCircle3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E53E3E">
              <a:alpha val="15000"/>
            </a:srgbClr>
          </a:solidFill>
          <a:ln w="19050">
            <a:solidFill>
              <a:srgbClr val="E53E3E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600" b="1" dirty="0">
                <a:solidFill>
                  <a:srgbClr val="E53E3E"/>
                </a:solidFill>
              </a:rPr>
              <a:t>4</a:t>
            </a:r>
          </a:p>
        </p:txBody>
      </p:sp>
      <p:sp>
        <p:nvSpPr>
          <p:cNvPr id="27" name="AppText3"/>
          <p:cNvSpPr/>
          <p:nvPr/>
        </p:nvSpPr>
        <p:spPr>
          <a:xfrm>
            <a:off x="1097280" y="3794760"/>
            <a:ext cx="246888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en-US" sz="1600" b="1" dirty="0">
                <a:solidFill>
                  <a:srgbClr val="E53E3E"/>
                </a:solidFill>
              </a:rPr>
              <a:t>Healthcare</a:t>
            </a:r>
          </a:p>
          <a:p>
            <a:pPr>
              <a:buNone/>
            </a:pPr>
            <a:r>
              <a:rPr lang="en-US" sz="1400" dirty="0">
                <a:solidFill>
                  <a:srgbClr val="2D3748"/>
                </a:solidFill>
              </a:rPr>
              <a:t>Cancer detection, drug discovery, medical image analysis</a:t>
            </a:r>
          </a:p>
        </p:txBody>
      </p:sp>
      <p:sp>
        <p:nvSpPr>
          <p:cNvPr id="28" name="AppCircle4"/>
          <p:cNvSpPr/>
          <p:nvPr/>
        </p:nvSpPr>
        <p:spPr>
          <a:xfrm>
            <a:off x="3977640" y="3886200"/>
            <a:ext cx="457200" cy="457200"/>
          </a:xfrm>
          <a:prstGeom prst="ellipse">
            <a:avLst/>
          </a:prstGeom>
          <a:solidFill>
            <a:srgbClr val="D69E2E">
              <a:alpha val="15000"/>
            </a:srgbClr>
          </a:solidFill>
          <a:ln w="19050">
            <a:solidFill>
              <a:srgbClr val="D69E2E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600" b="1" dirty="0">
                <a:solidFill>
                  <a:srgbClr val="D69E2E"/>
                </a:solidFill>
              </a:rPr>
              <a:t>5</a:t>
            </a:r>
          </a:p>
        </p:txBody>
      </p:sp>
      <p:sp>
        <p:nvSpPr>
          <p:cNvPr id="29" name="AppText4"/>
          <p:cNvSpPr/>
          <p:nvPr/>
        </p:nvSpPr>
        <p:spPr>
          <a:xfrm>
            <a:off x="4526280" y="3794760"/>
            <a:ext cx="246888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en-US" sz="1600" b="1" dirty="0">
                <a:solidFill>
                  <a:srgbClr val="D69E2E"/>
                </a:solidFill>
              </a:rPr>
              <a:t>Creative AI</a:t>
            </a:r>
          </a:p>
          <a:p>
            <a:pPr>
              <a:buNone/>
            </a:pPr>
            <a:r>
              <a:rPr lang="en-US" sz="1400" dirty="0">
                <a:solidFill>
                  <a:srgbClr val="2D3748"/>
                </a:solidFill>
              </a:rPr>
              <a:t>Art generation (DALL-E), music composition, video creation</a:t>
            </a:r>
          </a:p>
        </p:txBody>
      </p:sp>
      <p:sp>
        <p:nvSpPr>
          <p:cNvPr id="30" name="AppCircle5"/>
          <p:cNvSpPr/>
          <p:nvPr/>
        </p:nvSpPr>
        <p:spPr>
          <a:xfrm>
            <a:off x="7406640" y="3886200"/>
            <a:ext cx="457200" cy="457200"/>
          </a:xfrm>
          <a:prstGeom prst="ellipse">
            <a:avLst/>
          </a:prstGeom>
          <a:solidFill>
            <a:srgbClr val="00B5D8">
              <a:alpha val="15000"/>
            </a:srgbClr>
          </a:solidFill>
          <a:ln w="19050">
            <a:solidFill>
              <a:srgbClr val="00B5D8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600" b="1" dirty="0">
                <a:solidFill>
                  <a:srgbClr val="00B5D8"/>
                </a:solidFill>
              </a:rPr>
              <a:t>6</a:t>
            </a:r>
          </a:p>
        </p:txBody>
      </p:sp>
      <p:sp>
        <p:nvSpPr>
          <p:cNvPr id="31" name="AppText5"/>
          <p:cNvSpPr/>
          <p:nvPr/>
        </p:nvSpPr>
        <p:spPr>
          <a:xfrm>
            <a:off x="7955280" y="3794760"/>
            <a:ext cx="246888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en-US" sz="1600" b="1" dirty="0">
                <a:solidFill>
                  <a:srgbClr val="00B5D8"/>
                </a:solidFill>
              </a:rPr>
              <a:t>Voice Assistants</a:t>
            </a:r>
          </a:p>
          <a:p>
            <a:pPr>
              <a:buNone/>
            </a:pPr>
            <a:r>
              <a:rPr lang="en-US" sz="1400" dirty="0">
                <a:solidFill>
                  <a:srgbClr val="2D3748"/>
                </a:solidFill>
              </a:rPr>
              <a:t>Siri, Alexa, Google Assistant - speech recognition and synthesis</a:t>
            </a:r>
          </a:p>
        </p:txBody>
      </p:sp>
    </p:spTree>
    <p:extLst>
      <p:ext uri="{BB962C8B-B14F-4D97-AF65-F5344CB8AC3E}">
        <p14:creationId xmlns:p14="http://schemas.microsoft.com/office/powerpoint/2010/main" val="1900828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C8558-3807-58B1-5E1B-FAC6A991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vs ML vs Deep Learning</a:t>
            </a:r>
          </a:p>
        </p:txBody>
      </p:sp>
      <p:sp>
        <p:nvSpPr>
          <p:cNvPr id="20" name="AICircle"/>
          <p:cNvSpPr/>
          <p:nvPr/>
        </p:nvSpPr>
        <p:spPr>
          <a:xfrm>
            <a:off x="914400" y="1371600"/>
            <a:ext cx="4572000" cy="4572000"/>
          </a:xfrm>
          <a:prstGeom prst="ellipse">
            <a:avLst/>
          </a:prstGeom>
          <a:solidFill>
            <a:srgbClr val="2B6CB0">
              <a:alpha val="15000"/>
            </a:srgbClr>
          </a:solidFill>
          <a:ln w="25400">
            <a:solidFill>
              <a:srgbClr val="2B6CB0"/>
            </a:solidFill>
          </a:ln>
        </p:spPr>
        <p:txBody>
          <a:bodyPr wrap="square" tIns="182880" anchor="t"/>
          <a:lstStyle/>
          <a:p>
            <a:pPr algn="ctr"/>
            <a:r>
              <a:rPr lang="en-US" sz="2000" b="1" dirty="0">
                <a:solidFill>
                  <a:srgbClr val="2B6CB0"/>
                </a:solidFill>
              </a:rPr>
              <a:t>Artificial Intelligence</a:t>
            </a:r>
          </a:p>
        </p:txBody>
      </p:sp>
      <p:sp>
        <p:nvSpPr>
          <p:cNvPr id="21" name="MLCircle"/>
          <p:cNvSpPr/>
          <p:nvPr/>
        </p:nvSpPr>
        <p:spPr>
          <a:xfrm>
            <a:off x="1676400" y="2590800"/>
            <a:ext cx="3048000" cy="3048000"/>
          </a:xfrm>
          <a:prstGeom prst="ellipse">
            <a:avLst/>
          </a:prstGeom>
          <a:solidFill>
            <a:srgbClr val="805AD5">
              <a:alpha val="15000"/>
            </a:srgbClr>
          </a:solidFill>
          <a:ln w="25400">
            <a:solidFill>
              <a:srgbClr val="805AD5"/>
            </a:solidFill>
          </a:ln>
        </p:spPr>
        <p:txBody>
          <a:bodyPr wrap="square" tIns="182880" anchor="t"/>
          <a:lstStyle/>
          <a:p>
            <a:pPr algn="ctr"/>
            <a:r>
              <a:rPr lang="en-US" sz="1800" b="1" dirty="0">
                <a:solidFill>
                  <a:srgbClr val="805AD5"/>
                </a:solidFill>
              </a:rPr>
              <a:t>Machine Learning</a:t>
            </a:r>
          </a:p>
        </p:txBody>
      </p:sp>
      <p:sp>
        <p:nvSpPr>
          <p:cNvPr id="22" name="DLCircle"/>
          <p:cNvSpPr/>
          <p:nvPr/>
        </p:nvSpPr>
        <p:spPr>
          <a:xfrm>
            <a:off x="2438400" y="3810000"/>
            <a:ext cx="1524000" cy="1524000"/>
          </a:xfrm>
          <a:prstGeom prst="ellipse">
            <a:avLst/>
          </a:prstGeom>
          <a:solidFill>
            <a:srgbClr val="38A169">
              <a:alpha val="20000"/>
            </a:srgbClr>
          </a:solidFill>
          <a:ln w="25400">
            <a:solidFill>
              <a:srgbClr val="38A169"/>
            </a:solidFill>
          </a:ln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38A169"/>
                </a:solidFill>
              </a:rPr>
              <a:t>Deep Learning</a:t>
            </a:r>
          </a:p>
        </p:txBody>
      </p:sp>
      <p:sp>
        <p:nvSpPr>
          <p:cNvPr id="23" name="CompText"/>
          <p:cNvSpPr/>
          <p:nvPr/>
        </p:nvSpPr>
        <p:spPr>
          <a:xfrm>
            <a:off x="6400800" y="1600200"/>
            <a:ext cx="53340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1600" b="1" dirty="0">
                <a:solidFill>
                  <a:srgbClr val="2B6CB0"/>
                </a:solidFill>
              </a:rPr>
              <a:t>AI (Broadest)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Any machine that mimics human intelligence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Includes rule-based systems, expert systems</a:t>
            </a:r>
          </a:p>
          <a:p>
            <a:pPr>
              <a:buNone/>
            </a:pPr>
            <a:r>
              <a:rPr lang="en-US" sz="1600" b="1" dirty="0">
                <a:solidFill>
                  <a:srgbClr val="805AD5"/>
                </a:solidFill>
              </a:rPr>
              <a:t>ML (Subset of AI)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Learns patterns from data automatically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Needs structured/feature-engineered data</a:t>
            </a:r>
          </a:p>
          <a:p>
            <a:pPr>
              <a:buNone/>
            </a:pPr>
            <a:r>
              <a:rPr lang="en-US" sz="1600" b="1" dirty="0">
                <a:solidFill>
                  <a:srgbClr val="38A169"/>
                </a:solidFill>
              </a:rPr>
              <a:t>Deep Learning (Subset of ML)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Uses neural networks with many layers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Learns features directly from raw data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748"/>
                </a:solidFill>
              </a:rPr>
              <a:t>Requires massive data and compute power</a:t>
            </a:r>
          </a:p>
        </p:txBody>
      </p:sp>
    </p:spTree>
    <p:extLst>
      <p:ext uri="{BB962C8B-B14F-4D97-AF65-F5344CB8AC3E}">
        <p14:creationId xmlns:p14="http://schemas.microsoft.com/office/powerpoint/2010/main" val="4091604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B3BBB-165A-05F5-DDAC-A1C551FD3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Tools &amp; Frameworks</a:t>
            </a:r>
          </a:p>
        </p:txBody>
      </p:sp>
      <p:sp>
        <p:nvSpPr>
          <p:cNvPr id="20" name="Tool0"/>
          <p:cNvSpPr/>
          <p:nvPr/>
        </p:nvSpPr>
        <p:spPr>
          <a:xfrm>
            <a:off x="457200" y="182880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E53E3E">
              <a:alpha val="8000"/>
            </a:srgbClr>
          </a:solidFill>
          <a:ln w="19050">
            <a:solidFill>
              <a:srgbClr val="E53E3E"/>
            </a:solidFill>
          </a:ln>
        </p:spPr>
        <p:txBody>
          <a:bodyPr wrap="square" lIns="137160" tIns="91440" rIns="137160" bIns="91440" anchor="ctr"/>
          <a:lstStyle/>
          <a:p>
            <a:pPr>
              <a:buNone/>
            </a:pPr>
            <a:r>
              <a:rPr lang="en-US" sz="1800" b="1" dirty="0">
                <a:solidFill>
                  <a:srgbClr val="E53E3E"/>
                </a:solidFill>
              </a:rPr>
              <a:t>TensorFlow</a:t>
            </a:r>
            <a:r>
              <a:rPr lang="en-US" sz="1400" dirty="0">
                <a:solidFill>
                  <a:srgbClr val="718096"/>
                </a:solidFill>
              </a:rPr>
              <a:t>  by Google</a:t>
            </a:r>
          </a:p>
          <a:p>
            <a:pPr>
              <a:buNone/>
            </a:pPr>
            <a:r>
              <a:rPr lang="en-US" sz="1400" dirty="0">
                <a:solidFill>
                  <a:srgbClr val="2D3748"/>
                </a:solidFill>
              </a:rPr>
              <a:t>Most popular DL framework. Production-ready, scalable.</a:t>
            </a:r>
          </a:p>
        </p:txBody>
      </p:sp>
      <p:sp>
        <p:nvSpPr>
          <p:cNvPr id="21" name="Tool1"/>
          <p:cNvSpPr/>
          <p:nvPr/>
        </p:nvSpPr>
        <p:spPr>
          <a:xfrm>
            <a:off x="3886200" y="182880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805AD5">
              <a:alpha val="8000"/>
            </a:srgbClr>
          </a:solidFill>
          <a:ln w="19050">
            <a:solidFill>
              <a:srgbClr val="805AD5"/>
            </a:solidFill>
          </a:ln>
        </p:spPr>
        <p:txBody>
          <a:bodyPr wrap="square" lIns="137160" tIns="91440" rIns="137160" bIns="91440" anchor="ctr"/>
          <a:lstStyle/>
          <a:p>
            <a:pPr>
              <a:buNone/>
            </a:pPr>
            <a:r>
              <a:rPr lang="en-US" sz="1800" b="1" dirty="0">
                <a:solidFill>
                  <a:srgbClr val="805AD5"/>
                </a:solidFill>
              </a:rPr>
              <a:t>PyTorch</a:t>
            </a:r>
            <a:r>
              <a:rPr lang="en-US" sz="1400" dirty="0">
                <a:solidFill>
                  <a:srgbClr val="718096"/>
                </a:solidFill>
              </a:rPr>
              <a:t>  by Meta</a:t>
            </a:r>
          </a:p>
          <a:p>
            <a:pPr>
              <a:buNone/>
            </a:pPr>
            <a:r>
              <a:rPr lang="en-US" sz="1400" dirty="0">
                <a:solidFill>
                  <a:srgbClr val="2D3748"/>
                </a:solidFill>
              </a:rPr>
              <a:t>Flexible, Pythonic. Preferred by researchers.</a:t>
            </a:r>
          </a:p>
        </p:txBody>
      </p:sp>
      <p:sp>
        <p:nvSpPr>
          <p:cNvPr id="22" name="Tool2"/>
          <p:cNvSpPr/>
          <p:nvPr/>
        </p:nvSpPr>
        <p:spPr>
          <a:xfrm>
            <a:off x="7315200" y="182880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2B6CB0">
              <a:alpha val="8000"/>
            </a:srgbClr>
          </a:solidFill>
          <a:ln w="19050">
            <a:solidFill>
              <a:srgbClr val="2B6CB0"/>
            </a:solidFill>
          </a:ln>
        </p:spPr>
        <p:txBody>
          <a:bodyPr wrap="square" lIns="137160" tIns="91440" rIns="137160" bIns="91440" anchor="ctr"/>
          <a:lstStyle/>
          <a:p>
            <a:pPr>
              <a:buNone/>
            </a:pPr>
            <a:r>
              <a:rPr lang="en-US" sz="1800" b="1" dirty="0">
                <a:solidFill>
                  <a:srgbClr val="2B6CB0"/>
                </a:solidFill>
              </a:rPr>
              <a:t>Scikit-learn</a:t>
            </a:r>
            <a:r>
              <a:rPr lang="en-US" sz="1400" dirty="0">
                <a:solidFill>
                  <a:srgbClr val="718096"/>
                </a:solidFill>
              </a:rPr>
              <a:t>  by Open Source</a:t>
            </a:r>
          </a:p>
          <a:p>
            <a:pPr>
              <a:buNone/>
            </a:pPr>
            <a:r>
              <a:rPr lang="en-US" sz="1400" dirty="0">
                <a:solidFill>
                  <a:srgbClr val="2D3748"/>
                </a:solidFill>
              </a:rPr>
              <a:t>Best for classical ML algorithms. Easy to use.</a:t>
            </a:r>
          </a:p>
        </p:txBody>
      </p:sp>
      <p:sp>
        <p:nvSpPr>
          <p:cNvPr id="23" name="Tool3"/>
          <p:cNvSpPr/>
          <p:nvPr/>
        </p:nvSpPr>
        <p:spPr>
          <a:xfrm>
            <a:off x="457200" y="365760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38A169">
              <a:alpha val="8000"/>
            </a:srgbClr>
          </a:solidFill>
          <a:ln w="19050">
            <a:solidFill>
              <a:srgbClr val="38A169"/>
            </a:solidFill>
          </a:ln>
        </p:spPr>
        <p:txBody>
          <a:bodyPr wrap="square" lIns="137160" tIns="91440" rIns="137160" bIns="91440" anchor="ctr"/>
          <a:lstStyle/>
          <a:p>
            <a:pPr>
              <a:buNone/>
            </a:pPr>
            <a:r>
              <a:rPr lang="en-US" sz="1800" b="1" dirty="0">
                <a:solidFill>
                  <a:srgbClr val="38A169"/>
                </a:solidFill>
              </a:rPr>
              <a:t>Keras</a:t>
            </a:r>
            <a:r>
              <a:rPr lang="en-US" sz="1400" dirty="0">
                <a:solidFill>
                  <a:srgbClr val="718096"/>
                </a:solidFill>
              </a:rPr>
              <a:t>  by Google</a:t>
            </a:r>
          </a:p>
          <a:p>
            <a:pPr>
              <a:buNone/>
            </a:pPr>
            <a:r>
              <a:rPr lang="en-US" sz="1400" dirty="0">
                <a:solidFill>
                  <a:srgbClr val="2D3748"/>
                </a:solidFill>
              </a:rPr>
              <a:t>High-level API on top of TensorFlow. Beginner-friendly.</a:t>
            </a:r>
          </a:p>
        </p:txBody>
      </p:sp>
      <p:sp>
        <p:nvSpPr>
          <p:cNvPr id="24" name="Tool4"/>
          <p:cNvSpPr/>
          <p:nvPr/>
        </p:nvSpPr>
        <p:spPr>
          <a:xfrm>
            <a:off x="3886200" y="365760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D69E2E">
              <a:alpha val="8000"/>
            </a:srgbClr>
          </a:solidFill>
          <a:ln w="19050">
            <a:solidFill>
              <a:srgbClr val="D69E2E"/>
            </a:solidFill>
          </a:ln>
        </p:spPr>
        <p:txBody>
          <a:bodyPr wrap="square" lIns="137160" tIns="91440" rIns="137160" bIns="91440" anchor="ctr"/>
          <a:lstStyle/>
          <a:p>
            <a:pPr>
              <a:buNone/>
            </a:pPr>
            <a:r>
              <a:rPr lang="en-US" sz="1800" b="1" dirty="0">
                <a:solidFill>
                  <a:srgbClr val="D69E2E"/>
                </a:solidFill>
              </a:rPr>
              <a:t>Hugging Face</a:t>
            </a:r>
            <a:r>
              <a:rPr lang="en-US" sz="1400" dirty="0">
                <a:solidFill>
                  <a:srgbClr val="718096"/>
                </a:solidFill>
              </a:rPr>
              <a:t>  by Community</a:t>
            </a:r>
          </a:p>
          <a:p>
            <a:pPr>
              <a:buNone/>
            </a:pPr>
            <a:r>
              <a:rPr lang="en-US" sz="1400" dirty="0">
                <a:solidFill>
                  <a:srgbClr val="2D3748"/>
                </a:solidFill>
              </a:rPr>
              <a:t>Pre-trained models hub. NLP and LLM central.</a:t>
            </a:r>
          </a:p>
        </p:txBody>
      </p:sp>
      <p:sp>
        <p:nvSpPr>
          <p:cNvPr id="25" name="Tool5"/>
          <p:cNvSpPr/>
          <p:nvPr/>
        </p:nvSpPr>
        <p:spPr>
          <a:xfrm>
            <a:off x="7315200" y="365760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00B5D8">
              <a:alpha val="8000"/>
            </a:srgbClr>
          </a:solidFill>
          <a:ln w="19050">
            <a:solidFill>
              <a:srgbClr val="00B5D8"/>
            </a:solidFill>
          </a:ln>
        </p:spPr>
        <p:txBody>
          <a:bodyPr wrap="square" lIns="137160" tIns="91440" rIns="137160" bIns="91440" anchor="ctr"/>
          <a:lstStyle/>
          <a:p>
            <a:pPr>
              <a:buNone/>
            </a:pPr>
            <a:r>
              <a:rPr lang="en-US" sz="1800" b="1" dirty="0">
                <a:solidFill>
                  <a:srgbClr val="00B5D8"/>
                </a:solidFill>
              </a:rPr>
              <a:t>OpenCV</a:t>
            </a:r>
            <a:r>
              <a:rPr lang="en-US" sz="1400" dirty="0">
                <a:solidFill>
                  <a:srgbClr val="718096"/>
                </a:solidFill>
              </a:rPr>
              <a:t>  by Intel</a:t>
            </a:r>
          </a:p>
          <a:p>
            <a:pPr>
              <a:buNone/>
            </a:pPr>
            <a:r>
              <a:rPr lang="en-US" sz="1400" dirty="0">
                <a:solidFill>
                  <a:srgbClr val="2D3748"/>
                </a:solidFill>
              </a:rPr>
              <a:t>Computer vision library. Image and video processing.</a:t>
            </a:r>
          </a:p>
        </p:txBody>
      </p:sp>
    </p:spTree>
    <p:extLst>
      <p:ext uri="{BB962C8B-B14F-4D97-AF65-F5344CB8AC3E}">
        <p14:creationId xmlns:p14="http://schemas.microsoft.com/office/powerpoint/2010/main" val="456831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DACF2-2B54-7F4F-8531-DFCA0661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 &amp; Limitations</a:t>
            </a:r>
          </a:p>
        </p:txBody>
      </p:sp>
      <p:sp>
        <p:nvSpPr>
          <p:cNvPr id="20" name="ChIcon0"/>
          <p:cNvSpPr/>
          <p:nvPr/>
        </p:nvSpPr>
        <p:spPr>
          <a:xfrm>
            <a:off x="457200" y="1996439"/>
            <a:ext cx="457200" cy="4572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ChText0"/>
          <p:cNvSpPr/>
          <p:nvPr/>
        </p:nvSpPr>
        <p:spPr>
          <a:xfrm>
            <a:off x="1005840" y="1905000"/>
            <a:ext cx="469392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en-US" sz="1600" b="1" dirty="0">
                <a:solidFill>
                  <a:srgbClr val="2B6CB0"/>
                </a:solidFill>
                <a:latin typeface="Raleway"/>
              </a:rPr>
              <a:t>Data Requirements</a:t>
            </a:r>
          </a:p>
          <a:p>
            <a:pPr>
              <a:buNone/>
            </a:pPr>
            <a:r>
              <a:rPr lang="en-US" sz="1400" dirty="0">
                <a:solidFill>
                  <a:srgbClr val="2D3748"/>
                </a:solidFill>
                <a:latin typeface="Open Sans"/>
              </a:rPr>
              <a:t>Deep learning needs massive labeled datasets. Collecting and annotating quality data is expensive and time-consuming.</a:t>
            </a:r>
          </a:p>
        </p:txBody>
      </p:sp>
      <p:sp>
        <p:nvSpPr>
          <p:cNvPr id="22" name="ChIcon1"/>
          <p:cNvSpPr/>
          <p:nvPr/>
        </p:nvSpPr>
        <p:spPr>
          <a:xfrm>
            <a:off x="6096000" y="1996439"/>
            <a:ext cx="457200" cy="457200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ChText1"/>
          <p:cNvSpPr/>
          <p:nvPr/>
        </p:nvSpPr>
        <p:spPr>
          <a:xfrm>
            <a:off x="6644640" y="1905000"/>
            <a:ext cx="469392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en-US" sz="1600" b="1" dirty="0">
                <a:solidFill>
                  <a:srgbClr val="E53E3E"/>
                </a:solidFill>
                <a:latin typeface="Raleway"/>
              </a:rPr>
              <a:t>Bias &amp; Fairness</a:t>
            </a:r>
          </a:p>
          <a:p>
            <a:pPr>
              <a:buNone/>
            </a:pPr>
            <a:r>
              <a:rPr lang="en-US" sz="1400" dirty="0">
                <a:solidFill>
                  <a:srgbClr val="2D3748"/>
                </a:solidFill>
                <a:latin typeface="Open Sans"/>
              </a:rPr>
              <a:t>Models can inherit and amplify biases present in training data, leading to unfair or discriminatory outcomes.</a:t>
            </a:r>
          </a:p>
        </p:txBody>
      </p:sp>
      <p:sp>
        <p:nvSpPr>
          <p:cNvPr id="24" name="ChIcon2"/>
          <p:cNvSpPr/>
          <p:nvPr/>
        </p:nvSpPr>
        <p:spPr>
          <a:xfrm>
            <a:off x="457200" y="3596640"/>
            <a:ext cx="457200" cy="457200"/>
          </a:xfrm>
          <a:prstGeom prst="ellipse">
            <a:avLst/>
          </a:prstGeom>
          <a:solidFill>
            <a:srgbClr val="805AD5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ChText2"/>
          <p:cNvSpPr/>
          <p:nvPr/>
        </p:nvSpPr>
        <p:spPr>
          <a:xfrm>
            <a:off x="1005840" y="3505200"/>
            <a:ext cx="469392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en-US" sz="1600" b="1" dirty="0">
                <a:solidFill>
                  <a:srgbClr val="805AD5"/>
                </a:solidFill>
                <a:latin typeface="Raleway"/>
              </a:rPr>
              <a:t>Interpretability</a:t>
            </a:r>
          </a:p>
          <a:p>
            <a:pPr>
              <a:buNone/>
            </a:pPr>
            <a:r>
              <a:rPr lang="en-US" sz="1400" dirty="0">
                <a:solidFill>
                  <a:srgbClr val="2D3748"/>
                </a:solidFill>
                <a:latin typeface="Open Sans"/>
              </a:rPr>
              <a:t>Neural networks are often "black boxes" - hard to explain why they made a specific decision.</a:t>
            </a:r>
          </a:p>
        </p:txBody>
      </p:sp>
      <p:sp>
        <p:nvSpPr>
          <p:cNvPr id="26" name="ChIcon3"/>
          <p:cNvSpPr/>
          <p:nvPr/>
        </p:nvSpPr>
        <p:spPr>
          <a:xfrm>
            <a:off x="6096000" y="3596640"/>
            <a:ext cx="457200" cy="4572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ChText3"/>
          <p:cNvSpPr/>
          <p:nvPr/>
        </p:nvSpPr>
        <p:spPr>
          <a:xfrm>
            <a:off x="6644640" y="3505200"/>
            <a:ext cx="469392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en-US" sz="1600" b="1" dirty="0">
                <a:solidFill>
                  <a:srgbClr val="D69E2E"/>
                </a:solidFill>
                <a:latin typeface="Raleway"/>
              </a:rPr>
              <a:t>Compute Costs</a:t>
            </a:r>
          </a:p>
          <a:p>
            <a:pPr>
              <a:buNone/>
            </a:pPr>
            <a:r>
              <a:rPr lang="en-US" sz="1400" dirty="0">
                <a:solidFill>
                  <a:srgbClr val="2D3748"/>
                </a:solidFill>
                <a:latin typeface="Open Sans"/>
              </a:rPr>
              <a:t>Training large models requires expensive GPU clusters and significant energy consumption.</a:t>
            </a:r>
          </a:p>
        </p:txBody>
      </p:sp>
      <p:sp>
        <p:nvSpPr>
          <p:cNvPr id="28" name="ChIcon4"/>
          <p:cNvSpPr/>
          <p:nvPr/>
        </p:nvSpPr>
        <p:spPr>
          <a:xfrm>
            <a:off x="457200" y="5196840"/>
            <a:ext cx="457200" cy="457200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ChText4"/>
          <p:cNvSpPr/>
          <p:nvPr/>
        </p:nvSpPr>
        <p:spPr>
          <a:xfrm>
            <a:off x="1005840" y="5105400"/>
            <a:ext cx="469392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en-US" sz="1600" b="1" dirty="0">
                <a:solidFill>
                  <a:srgbClr val="E53E3E"/>
                </a:solidFill>
                <a:latin typeface="Raleway"/>
              </a:rPr>
              <a:t>Security Risks</a:t>
            </a:r>
          </a:p>
          <a:p>
            <a:pPr>
              <a:buNone/>
            </a:pPr>
            <a:r>
              <a:rPr lang="en-US" sz="1400" dirty="0">
                <a:solidFill>
                  <a:srgbClr val="2D3748"/>
                </a:solidFill>
                <a:latin typeface="Open Sans"/>
              </a:rPr>
              <a:t>Adversarial attacks can fool AI models. Deepfakes and misinformation are growing concerns.</a:t>
            </a:r>
          </a:p>
        </p:txBody>
      </p:sp>
      <p:sp>
        <p:nvSpPr>
          <p:cNvPr id="30" name="ChIcon5"/>
          <p:cNvSpPr/>
          <p:nvPr/>
        </p:nvSpPr>
        <p:spPr>
          <a:xfrm>
            <a:off x="6096000" y="5196840"/>
            <a:ext cx="457200" cy="45720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ChText5"/>
          <p:cNvSpPr/>
          <p:nvPr/>
        </p:nvSpPr>
        <p:spPr>
          <a:xfrm>
            <a:off x="6644640" y="5105400"/>
            <a:ext cx="469392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en-US" sz="1600" b="1" dirty="0">
                <a:solidFill>
                  <a:srgbClr val="38A169"/>
                </a:solidFill>
                <a:latin typeface="Raleway"/>
              </a:rPr>
              <a:t>Ethical Concerns</a:t>
            </a:r>
          </a:p>
          <a:p>
            <a:pPr>
              <a:buNone/>
            </a:pPr>
            <a:r>
              <a:rPr lang="en-US" sz="1400" dirty="0">
                <a:solidFill>
                  <a:srgbClr val="2D3748"/>
                </a:solidFill>
                <a:latin typeface="Open Sans"/>
              </a:rPr>
              <a:t>Job displacement, surveillance, privacy violations, and autonomous weapons raise serious ethical questions.</a:t>
            </a:r>
          </a:p>
        </p:txBody>
      </p:sp>
    </p:spTree>
    <p:extLst>
      <p:ext uri="{BB962C8B-B14F-4D97-AF65-F5344CB8AC3E}">
        <p14:creationId xmlns:p14="http://schemas.microsoft.com/office/powerpoint/2010/main" val="154340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FAC99-3B7B-0E7C-AF63-CEA54E05A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Future of AI</a:t>
            </a:r>
          </a:p>
        </p:txBody>
      </p:sp>
      <p:sp>
        <p:nvSpPr>
          <p:cNvPr id="20" name="Future0"/>
          <p:cNvSpPr/>
          <p:nvPr/>
        </p:nvSpPr>
        <p:spPr>
          <a:xfrm>
            <a:off x="457200" y="187960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B6CB0"/>
            </a:solidFill>
          </a:ln>
          <a:effectLst>
            <a:outerShdw blurRad="38100" dist="12700" dir="5400000" algn="ctr" rotWithShape="0">
              <a:srgbClr val="000000">
                <a:alpha val="10000"/>
              </a:srgbClr>
            </a:outerShdw>
          </a:effectLst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en-US" sz="1800" b="1" dirty="0">
                <a:solidFill>
                  <a:srgbClr val="2B6CB0"/>
                </a:solidFill>
                <a:latin typeface="Raleway"/>
              </a:rPr>
              <a:t>Generative AI</a:t>
            </a:r>
          </a:p>
          <a:p>
            <a:pPr algn="ctr">
              <a:buNone/>
            </a:pPr>
            <a:r>
              <a:rPr lang="en-US" sz="1400" dirty="0">
                <a:solidFill>
                  <a:srgbClr val="2D3748"/>
                </a:solidFill>
                <a:latin typeface="Open Sans"/>
              </a:rPr>
              <a:t>AI creating text, images, code, and video. LLMs like GPT and Claude are transforming every industry.</a:t>
            </a:r>
          </a:p>
        </p:txBody>
      </p:sp>
      <p:sp>
        <p:nvSpPr>
          <p:cNvPr id="21" name="Future1"/>
          <p:cNvSpPr/>
          <p:nvPr/>
        </p:nvSpPr>
        <p:spPr>
          <a:xfrm>
            <a:off x="3886200" y="187960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05AD5"/>
            </a:solidFill>
          </a:ln>
          <a:effectLst>
            <a:outerShdw blurRad="38100" dist="12700" dir="5400000" algn="ctr" rotWithShape="0">
              <a:srgbClr val="000000">
                <a:alpha val="10000"/>
              </a:srgbClr>
            </a:outerShdw>
          </a:effectLst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en-US" sz="1800" b="1" dirty="0">
                <a:solidFill>
                  <a:srgbClr val="805AD5"/>
                </a:solidFill>
                <a:latin typeface="Raleway"/>
              </a:rPr>
              <a:t>AI Agents</a:t>
            </a:r>
          </a:p>
          <a:p>
            <a:pPr algn="ctr">
              <a:buNone/>
            </a:pPr>
            <a:r>
              <a:rPr lang="en-US" sz="1400" dirty="0">
                <a:solidFill>
                  <a:srgbClr val="2D3748"/>
                </a:solidFill>
                <a:latin typeface="Open Sans"/>
              </a:rPr>
              <a:t>Autonomous systems that can plan, reason, and take actions to accomplish complex goals.</a:t>
            </a:r>
          </a:p>
        </p:txBody>
      </p:sp>
      <p:sp>
        <p:nvSpPr>
          <p:cNvPr id="22" name="Future2"/>
          <p:cNvSpPr/>
          <p:nvPr/>
        </p:nvSpPr>
        <p:spPr>
          <a:xfrm>
            <a:off x="7315200" y="187960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8A169"/>
            </a:solidFill>
          </a:ln>
          <a:effectLst>
            <a:outerShdw blurRad="38100" dist="12700" dir="5400000" algn="ctr" rotWithShape="0">
              <a:srgbClr val="000000">
                <a:alpha val="10000"/>
              </a:srgbClr>
            </a:outerShdw>
          </a:effectLst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en-US" sz="1800" b="1" dirty="0">
                <a:solidFill>
                  <a:srgbClr val="38A169"/>
                </a:solidFill>
                <a:latin typeface="Raleway"/>
              </a:rPr>
              <a:t>Multimodal AI</a:t>
            </a:r>
          </a:p>
          <a:p>
            <a:pPr algn="ctr">
              <a:buNone/>
            </a:pPr>
            <a:r>
              <a:rPr lang="en-US" sz="1400" dirty="0">
                <a:solidFill>
                  <a:srgbClr val="2D3748"/>
                </a:solidFill>
                <a:latin typeface="Open Sans"/>
              </a:rPr>
              <a:t>Models that understand and generate across text, images, audio, and video simultaneously.</a:t>
            </a:r>
          </a:p>
        </p:txBody>
      </p:sp>
      <p:sp>
        <p:nvSpPr>
          <p:cNvPr id="23" name="Future3"/>
          <p:cNvSpPr/>
          <p:nvPr/>
        </p:nvSpPr>
        <p:spPr>
          <a:xfrm>
            <a:off x="457200" y="393700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B5D8"/>
            </a:solidFill>
          </a:ln>
          <a:effectLst>
            <a:outerShdw blurRad="38100" dist="12700" dir="5400000" algn="ctr" rotWithShape="0">
              <a:srgbClr val="000000">
                <a:alpha val="10000"/>
              </a:srgbClr>
            </a:outerShdw>
          </a:effectLst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en-US" sz="1800" b="1" dirty="0">
                <a:solidFill>
                  <a:srgbClr val="00B5D8"/>
                </a:solidFill>
                <a:latin typeface="Raleway"/>
              </a:rPr>
              <a:t>Edge AI</a:t>
            </a:r>
          </a:p>
          <a:p>
            <a:pPr algn="ctr">
              <a:buNone/>
            </a:pPr>
            <a:r>
              <a:rPr lang="en-US" sz="1400" dirty="0">
                <a:solidFill>
                  <a:srgbClr val="2D3748"/>
                </a:solidFill>
                <a:latin typeface="Open Sans"/>
              </a:rPr>
              <a:t>Running AI models on devices (phones, cars, IoT) rather than in the cloud for speed and privacy.</a:t>
            </a:r>
          </a:p>
        </p:txBody>
      </p:sp>
      <p:sp>
        <p:nvSpPr>
          <p:cNvPr id="24" name="Future4"/>
          <p:cNvSpPr/>
          <p:nvPr/>
        </p:nvSpPr>
        <p:spPr>
          <a:xfrm>
            <a:off x="3886200" y="393700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69E2E"/>
            </a:solidFill>
          </a:ln>
          <a:effectLst>
            <a:outerShdw blurRad="38100" dist="12700" dir="5400000" algn="ctr" rotWithShape="0">
              <a:srgbClr val="000000">
                <a:alpha val="10000"/>
              </a:srgbClr>
            </a:outerShdw>
          </a:effectLst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en-US" sz="1800" b="1" dirty="0">
                <a:solidFill>
                  <a:srgbClr val="D69E2E"/>
                </a:solidFill>
                <a:latin typeface="Raleway"/>
              </a:rPr>
              <a:t>AI in Science</a:t>
            </a:r>
          </a:p>
          <a:p>
            <a:pPr algn="ctr">
              <a:buNone/>
            </a:pPr>
            <a:r>
              <a:rPr lang="en-US" sz="1400" dirty="0">
                <a:solidFill>
                  <a:srgbClr val="2D3748"/>
                </a:solidFill>
                <a:latin typeface="Open Sans"/>
              </a:rPr>
              <a:t>Accelerating drug discovery, climate modeling, materials science, and fundamental research.</a:t>
            </a:r>
          </a:p>
        </p:txBody>
      </p:sp>
      <p:sp>
        <p:nvSpPr>
          <p:cNvPr id="25" name="Future5"/>
          <p:cNvSpPr/>
          <p:nvPr/>
        </p:nvSpPr>
        <p:spPr>
          <a:xfrm>
            <a:off x="7315200" y="393700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53E3E"/>
            </a:solidFill>
          </a:ln>
          <a:effectLst>
            <a:outerShdw blurRad="38100" dist="12700" dir="5400000" algn="ctr" rotWithShape="0">
              <a:srgbClr val="000000">
                <a:alpha val="10000"/>
              </a:srgbClr>
            </a:outerShdw>
          </a:effectLst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en-US" sz="1800" b="1" dirty="0">
                <a:solidFill>
                  <a:srgbClr val="E53E3E"/>
                </a:solidFill>
                <a:latin typeface="Raleway"/>
              </a:rPr>
              <a:t>Responsible AI</a:t>
            </a:r>
          </a:p>
          <a:p>
            <a:pPr algn="ctr">
              <a:buNone/>
            </a:pPr>
            <a:r>
              <a:rPr lang="en-US" sz="1400" dirty="0">
                <a:solidFill>
                  <a:srgbClr val="2D3748"/>
                </a:solidFill>
                <a:latin typeface="Open Sans"/>
              </a:rPr>
              <a:t>Growing focus on safety, alignment, regulation, and ensuring AI benefits humanity.</a:t>
            </a:r>
          </a:p>
        </p:txBody>
      </p:sp>
    </p:spTree>
    <p:extLst>
      <p:ext uri="{BB962C8B-B14F-4D97-AF65-F5344CB8AC3E}">
        <p14:creationId xmlns:p14="http://schemas.microsoft.com/office/powerpoint/2010/main" val="530432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74AFB-E0F3-BB00-BA93-E466DCCB5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D00E9-DD6D-DEB0-E667-954A752AE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1156826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8500616622]">
  <a:themeElements>
    <a:clrScheme name="AI Clean Light">
      <a:dk1>
        <a:srgbClr val="1B2A4A"/>
      </a:dk1>
      <a:lt1>
        <a:srgbClr val="FFFFFF"/>
      </a:lt1>
      <a:dk2>
        <a:srgbClr val="2D3748"/>
      </a:dk2>
      <a:lt2>
        <a:srgbClr val="F0F4F8"/>
      </a:lt2>
      <a:accent1>
        <a:srgbClr val="2B6CB0"/>
      </a:accent1>
      <a:accent2>
        <a:srgbClr val="38A169"/>
      </a:accent2>
      <a:accent3>
        <a:srgbClr val="D69E2E"/>
      </a:accent3>
      <a:accent4>
        <a:srgbClr val="E53E3E"/>
      </a:accent4>
      <a:accent5>
        <a:srgbClr val="805AD5"/>
      </a:accent5>
      <a:accent6>
        <a:srgbClr val="00B5D8"/>
      </a:accent6>
      <a:hlink>
        <a:srgbClr val="467886"/>
      </a:hlink>
      <a:folHlink>
        <a:srgbClr val="96607D"/>
      </a:folHlink>
    </a:clrScheme>
    <a:fontScheme name="AI Deck Fonts">
      <a:majorFont>
        <a:latin typeface="Ralew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4447C29-F269-5745-AAFB-C2DA7091B81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8a050bce-fbe3-4e6f-9c9c-71203428330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1271</TotalTime>
  <Words>1166</Words>
  <Application>Microsoft Macintosh PowerPoint</Application>
  <PresentationFormat>Widescreen</PresentationFormat>
  <Paragraphs>201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Open Sans</vt:lpstr>
      <vt:lpstr>Raleway</vt:lpstr>
      <vt:lpstr>Office Theme [1778500616622]</vt:lpstr>
      <vt:lpstr>Artificial Intelligence, Machine Learning &amp; Deep Learning</vt:lpstr>
      <vt:lpstr>Agenda</vt:lpstr>
      <vt:lpstr>What is Artificial Intelligence?</vt:lpstr>
      <vt:lpstr>AI Timeline - Key Milestones</vt:lpstr>
      <vt:lpstr>Types of Artificial Intelligence</vt:lpstr>
      <vt:lpstr>PowerPoint Presentation</vt:lpstr>
      <vt:lpstr>How Machine Learning Works</vt:lpstr>
      <vt:lpstr>Types of Machine Learning</vt:lpstr>
      <vt:lpstr>ML in Action - Real-World Examples</vt:lpstr>
      <vt:lpstr>PowerPoint Presentation</vt:lpstr>
      <vt:lpstr>PowerPoint Presentation</vt:lpstr>
      <vt:lpstr>PowerPoint Presentation</vt:lpstr>
      <vt:lpstr>How Neural Networks Work</vt:lpstr>
      <vt:lpstr>Types of Neural Networks</vt:lpstr>
      <vt:lpstr>Deep Learning Applications</vt:lpstr>
      <vt:lpstr>AI vs ML vs Deep Learning</vt:lpstr>
      <vt:lpstr>Tools &amp; Frameworks</vt:lpstr>
      <vt:lpstr>Challenges &amp; Limitations</vt:lpstr>
      <vt:lpstr>The Future of AI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Ramanuj Das</dc:creator>
  <cp:lastModifiedBy>Ramanuj Das</cp:lastModifiedBy>
  <cp:revision>6</cp:revision>
  <dcterms:created xsi:type="dcterms:W3CDTF">2026-05-11T11:43:54Z</dcterms:created>
  <dcterms:modified xsi:type="dcterms:W3CDTF">2026-05-14T09:20:19Z</dcterms:modified>
</cp:coreProperties>
</file>