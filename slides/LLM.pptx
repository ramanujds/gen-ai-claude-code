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9"/>
  </p:notesMasterIdLst>
  <p:sldIdLst>
    <p:sldId id="259" r:id="rId2"/>
    <p:sldId id="264" r:id="rId3"/>
    <p:sldId id="292" r:id="rId4"/>
    <p:sldId id="293" r:id="rId5"/>
    <p:sldId id="294" r:id="rId6"/>
    <p:sldId id="318" r:id="rId7"/>
    <p:sldId id="317" r:id="rId8"/>
    <p:sldId id="319" r:id="rId9"/>
    <p:sldId id="284" r:id="rId10"/>
    <p:sldId id="320" r:id="rId11"/>
    <p:sldId id="301" r:id="rId12"/>
    <p:sldId id="300" r:id="rId13"/>
    <p:sldId id="302" r:id="rId14"/>
    <p:sldId id="304" r:id="rId15"/>
    <p:sldId id="311" r:id="rId16"/>
    <p:sldId id="312" r:id="rId17"/>
    <p:sldId id="31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34"/>
    <p:restoredTop sz="94795"/>
  </p:normalViewPr>
  <p:slideViewPr>
    <p:cSldViewPr snapToGrid="0">
      <p:cViewPr varScale="1">
        <p:scale>
          <a:sx n="120" d="100"/>
          <a:sy n="120" d="100"/>
        </p:scale>
        <p:origin x="85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>
                <a:solidFill>
                  <a:srgbClr val="1B2A4A"/>
                </a:solidFill>
              </a:defRPr>
            </a:pPr>
            <a:r>
              <a:rPr lang="en-US" sz="1600" b="1" dirty="0">
                <a:solidFill>
                  <a:srgbClr val="1B2A4A"/>
                </a:solidFill>
              </a:rPr>
              <a:t>LLM Parameter Growth (Billions)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v>Parameters (B)</c:v>
          </c:tx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1B2A4A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GPT-3
(2020)</c:v>
              </c:pt>
              <c:pt idx="1">
                <c:v>GPT-4
(2023)</c:v>
              </c:pt>
              <c:pt idx="2">
                <c:v>Llama 3
(2024)</c:v>
              </c:pt>
              <c:pt idx="3">
                <c:v>DeepSeek V3
(2024)</c:v>
              </c:pt>
              <c:pt idx="4">
                <c:v>Llama 4
(2025)</c:v>
              </c:pt>
              <c:pt idx="5">
                <c:v>DeepSeek V4
(2026)</c:v>
              </c:pt>
              <c:pt idx="6">
                <c:v>Kimi K2.6
(2026)</c:v>
              </c:pt>
            </c:strLit>
          </c:cat>
          <c:val>
            <c:numLit>
              <c:formatCode>General</c:formatCode>
              <c:ptCount val="7"/>
              <c:pt idx="0">
                <c:v>175</c:v>
              </c:pt>
              <c:pt idx="1">
                <c:v>1800</c:v>
              </c:pt>
              <c:pt idx="2">
                <c:v>405</c:v>
              </c:pt>
              <c:pt idx="3">
                <c:v>671</c:v>
              </c:pt>
              <c:pt idx="4">
                <c:v>400</c:v>
              </c:pt>
              <c:pt idx="5">
                <c:v>1600</c:v>
              </c:pt>
              <c:pt idx="6">
                <c:v>1000</c:v>
              </c:pt>
            </c:numLit>
          </c:val>
          <c:extLst>
            <c:ext xmlns:c16="http://schemas.microsoft.com/office/drawing/2014/chart" uri="{C3380CC4-5D6E-409C-BE32-E72D297353CC}">
              <c16:uniqueId val="{00000000-5AEE-9E40-91CE-BFA750F49E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>
                <a:solidFill>
                  <a:srgbClr val="2D3E5F"/>
                </a:solidFill>
              </a:defRPr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plotVisOnly val="1"/>
    <c:dispBlanksAs val="zero"/>
    <c:showDLblsOverMax val="1"/>
  </c:chart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B920AB-C07B-3042-9AB3-E2F941533CCD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381E3B-F434-7147-B261-FF782FA23C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3735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381E3B-F434-7147-B261-FF782FA23C2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403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A3505-290F-7C53-1933-97622289F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59F0AA-A6DA-5941-0361-D836D4D66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671A85-D34D-6845-B837-08460E399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66EDC-D469-D5EF-FA4F-3DAC52721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2ADDF8-8596-5B90-FB8C-3E00EBAC6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796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88F0-AAE5-C96B-3007-069E49CE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0CB2CA-2221-6CC3-6CB8-FEBFF1323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7A89F1-235E-1BFA-0ED6-4E57878D3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A92C24-55B2-CFC7-1E22-098081764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C2CA26-4756-38A9-F93F-88B71697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932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2B65C-B459-7E95-AEC5-350C9FC5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E1E501-B222-A65F-E247-797928AC47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07094-88E5-DAFF-E9BA-FD34FB962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76231D-B6F9-CD63-7B67-86ECDFC30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E7F7EF-4D41-CBEE-7FE5-6C8C4ECB9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4512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B7C6-784E-8C7A-BAB2-890D2832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2D1BA-7B9D-EF16-F36B-CDFD5C3884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D67AE8-6116-EEE1-9C88-364E3FD83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01EE5C-A9C2-A88F-FC41-F4B336EA8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51EB3-6452-5CE1-A1AD-F2DA7D21B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DB7D4-E00C-95BE-A5A3-887543D4F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338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ABA1E-A543-A36F-7714-7491A686A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68EFBE-563B-448B-FA4D-FBFCF27FC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A8733-48E5-FB7C-F6CB-7D187AAA1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F4CB3A-A75B-BD78-BE86-2078C69B12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E68E85-0762-DF30-7898-2DE7B6BDE9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045E66-0D0F-D41C-B690-A24A0D94D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4A311C-E387-CBAE-2F7A-4C3BFF452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E610A6-D194-5C73-B64B-C96826D86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7057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D7390-0E07-FE40-B93E-355FC5B27B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872B05-2709-1AD9-8272-2301391FB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F5AA34-63AD-3961-5E5F-33C28DDDB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452EEC-3182-E7FE-E0A3-08C15628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67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F66833-4261-83F5-266F-13F015648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15DE1C-422F-56D4-F302-25CB413B6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20B1D2-DE3C-E15C-A178-57EE2800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41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434F5-DEB3-7326-5CBB-F474F621A6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EF3CF-526A-A2AC-0166-9F8B5BECD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9F4FEE-0856-D55B-F4FF-863B613D14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2E34C-3B33-F8DC-7E34-1D6F8D2D19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68A13-02C4-4F09-D8FE-FFB17DEEB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5B11C-D80B-0560-19C5-225F52FE0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2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C749EA-EED2-BC8D-F7F7-9F2F501D70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1CF9D8-C9F7-3A8E-ECA0-8357D07E4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03FD10-47FD-A2BC-5CC8-949DA9ACB6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0CC665-EC4D-06FF-F27E-936210DF5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7B64A3-FE95-07F7-B181-60ED16E58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D5F8F5-9C2E-2E51-D000-DC65512A4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3317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101D-806C-CC30-BD6C-BD5D07B83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0B153F-3E50-5B54-1011-FE5BD9BB00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0F5E0-71CF-B3ED-77FF-ECA67E959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0004B-B33E-A532-4530-28BD882EE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EC933-A576-7B60-1E13-276D29FA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179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4A3BBA2-20A3-FE33-5A2C-1656443761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496970-02EF-6EF2-F5C7-CB529FFA9A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13E1C-7F5E-271D-C257-983ABB4BE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9ABB-EA7F-E429-9FE4-4D48E0C1E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18E94F-EA87-5D52-0563-88EDC61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719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591F7A-A42F-7882-9C28-2CFD871D7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C3F5CA-9755-15F1-FC2B-3C388B990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D507E-5379-B80E-AAD1-D581E67FD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0A398D-DF11-9F43-AE75-A86467D37180}" type="datetimeFigureOut">
              <a:rPr lang="en-US" smtClean="0"/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5DAD8-562E-9301-D155-86C4D38B9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595A0-1D69-FBDC-1E1A-82EBF9B11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FC1864-BE26-5546-86F7-2F50EE0703D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TopAccent"/>
          <p:cNvSpPr/>
          <p:nvPr userDrawn="1"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01" name="BottomLine"/>
          <p:cNvSpPr/>
          <p:nvPr userDrawn="1"/>
        </p:nvSpPr>
        <p:spPr>
          <a:xfrm>
            <a:off x="457200" y="6629400"/>
            <a:ext cx="11277600" cy="36576"/>
          </a:xfrm>
          <a:prstGeom prst="rect">
            <a:avLst/>
          </a:prstGeom>
          <a:solidFill>
            <a:srgbClr val="0D9488">
              <a:alpha val="4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28556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B2A4A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E5F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E5F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E5F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E5F"/>
          </a:solidFill>
          <a:latin typeface="+mn-lt"/>
          <a:ea typeface="+mn-ea"/>
          <a:cs typeface="+mn-cs"/>
        </a:defRPr>
      </a:lvl9pPr>
    </p:bodyStyle>
    <p:otherStyle>
      <a:defPPr>
        <a:defRPr lang="en-US">
          <a:solidFill>
            <a:srgbClr val="2D3E5F"/>
          </a:solidFill>
        </a:defRPr>
      </a:defPPr>
      <a:lvl1pPr marL="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rgbClr val="2D3E5F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E2062-5A90-A500-6E7C-B4E15579B9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>
              <a:buNone/>
            </a:pPr>
            <a:r>
              <a:rPr lang="en-US" sz="4000" b="1" dirty="0">
                <a:solidFill>
                  <a:srgbClr val="1B2A4A"/>
                </a:solidFill>
              </a:rPr>
              <a:t>Understanding </a:t>
            </a:r>
            <a:r>
              <a:rPr lang="en-US" sz="4000" b="1" dirty="0">
                <a:solidFill>
                  <a:srgbClr val="0D9488"/>
                </a:solidFill>
              </a:rPr>
              <a:t>LLMs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5B997-16FE-B6F0-2023-24138C24F8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buNone/>
            </a:pPr>
            <a:r>
              <a:rPr lang="en-US" sz="2000" dirty="0">
                <a:solidFill>
                  <a:srgbClr val="2D3E5F"/>
                </a:solidFill>
              </a:rPr>
              <a:t>Large Language Models</a:t>
            </a:r>
          </a:p>
          <a:p>
            <a:pPr algn="ctr">
              <a:buNone/>
            </a:pPr>
            <a:r>
              <a:rPr lang="en-US" sz="1600" dirty="0">
                <a:solidFill>
                  <a:srgbClr val="0D9488"/>
                </a:solidFill>
              </a:rPr>
              <a:t>How they work, what they can do, and where they're headed</a:t>
            </a:r>
          </a:p>
        </p:txBody>
      </p:sp>
    </p:spTree>
    <p:extLst>
      <p:ext uri="{BB962C8B-B14F-4D97-AF65-F5344CB8AC3E}">
        <p14:creationId xmlns:p14="http://schemas.microsoft.com/office/powerpoint/2010/main" val="2405619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39252-7E40-6BB6-9F0B-1E509531B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What are LLMs?</a:t>
            </a:r>
          </a:p>
        </p:txBody>
      </p:sp>
      <p:sp>
        <p:nvSpPr>
          <p:cNvPr id="10" name="DefBox"/>
          <p:cNvSpPr/>
          <p:nvPr/>
        </p:nvSpPr>
        <p:spPr>
          <a:xfrm>
            <a:off x="635000" y="1778000"/>
            <a:ext cx="10922000" cy="889000"/>
          </a:xfrm>
          <a:prstGeom prst="roundRect">
            <a:avLst>
              <a:gd name="adj" fmla="val 8000"/>
            </a:avLst>
          </a:prstGeom>
          <a:solidFill>
            <a:srgbClr val="0D9488">
              <a:alpha val="12000"/>
            </a:srgbClr>
          </a:solidFill>
          <a:ln>
            <a:solidFill>
              <a:srgbClr val="0D9488">
                <a:alpha val="40000"/>
              </a:srgbClr>
            </a:solidFill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n-US" sz="1600" dirty="0">
                <a:solidFill>
                  <a:srgbClr val="1B2A4A"/>
                </a:solidFill>
              </a:rPr>
              <a:t>A Large Language Model is an AI system trained on </a:t>
            </a:r>
            <a:r>
              <a:rPr lang="en-US" sz="1600" b="1" dirty="0">
                <a:solidFill>
                  <a:srgbClr val="0D9488"/>
                </a:solidFill>
              </a:rPr>
              <a:t>massive amounts of text</a:t>
            </a:r>
            <a:r>
              <a:rPr lang="en-US" sz="1600" dirty="0">
                <a:solidFill>
                  <a:srgbClr val="1B2A4A"/>
                </a:solidFill>
              </a:rPr>
              <a:t> to understand and generate human language.</a:t>
            </a:r>
          </a:p>
        </p:txBody>
      </p:sp>
      <p:sp>
        <p:nvSpPr>
          <p:cNvPr id="20" name="Pillar1Bg"/>
          <p:cNvSpPr/>
          <p:nvPr/>
        </p:nvSpPr>
        <p:spPr>
          <a:xfrm>
            <a:off x="698500" y="3753395"/>
            <a:ext cx="3429000" cy="21510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  <a:effectLst>
            <a:outerShdw blurRad="38100" dist="12700" dir="5400000" algn="t">
              <a:srgbClr val="000000">
                <a:alpha val="8000"/>
              </a:srgbClr>
            </a:outerShdw>
          </a:effectLst>
        </p:spPr>
        <p:txBody>
          <a:bodyPr wrap="square" lIns="91440" tIns="457200" rIns="91440" bIns="45720" anchor="t"/>
          <a:lstStyle/>
          <a:p>
            <a:pPr algn="ctr">
              <a:buNone/>
            </a:pPr>
            <a:r>
              <a:rPr lang="en-US" sz="2000" b="1" dirty="0">
                <a:solidFill>
                  <a:srgbClr val="0D9488"/>
                </a:solidFill>
              </a:rPr>
              <a:t>"Large"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Billions of parameters learned from terabytes of text data from books, websites, and code</a:t>
            </a:r>
          </a:p>
        </p:txBody>
      </p:sp>
      <p:sp>
        <p:nvSpPr>
          <p:cNvPr id="30" name="Pillar2Bg"/>
          <p:cNvSpPr/>
          <p:nvPr/>
        </p:nvSpPr>
        <p:spPr>
          <a:xfrm>
            <a:off x="4381500" y="3753395"/>
            <a:ext cx="3429000" cy="21510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  <a:effectLst>
            <a:outerShdw blurRad="38100" dist="12700" dir="5400000" algn="t">
              <a:srgbClr val="000000">
                <a:alpha val="8000"/>
              </a:srgbClr>
            </a:outerShdw>
          </a:effectLst>
        </p:spPr>
        <p:txBody>
          <a:bodyPr wrap="square" lIns="91440" tIns="457200" rIns="91440" bIns="45720" anchor="t"/>
          <a:lstStyle/>
          <a:p>
            <a:pPr algn="ctr">
              <a:buNone/>
            </a:pPr>
            <a:r>
              <a:rPr lang="en-US" sz="2000" b="1" dirty="0">
                <a:solidFill>
                  <a:srgbClr val="F59E0B"/>
                </a:solidFill>
              </a:rPr>
              <a:t>"Language"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Specializes in human language: reading, writing, translating, summarizing, and reasoning</a:t>
            </a:r>
          </a:p>
        </p:txBody>
      </p:sp>
      <p:sp>
        <p:nvSpPr>
          <p:cNvPr id="40" name="Pillar3Bg"/>
          <p:cNvSpPr/>
          <p:nvPr/>
        </p:nvSpPr>
        <p:spPr>
          <a:xfrm>
            <a:off x="8064500" y="3753395"/>
            <a:ext cx="3429000" cy="215101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  <a:effectLst>
            <a:outerShdw blurRad="38100" dist="12700" dir="5400000" algn="t">
              <a:srgbClr val="000000">
                <a:alpha val="8000"/>
              </a:srgbClr>
            </a:outerShdw>
          </a:effectLst>
        </p:spPr>
        <p:txBody>
          <a:bodyPr wrap="square" lIns="91440" tIns="457200" rIns="91440" bIns="45720" anchor="t"/>
          <a:lstStyle/>
          <a:p>
            <a:pPr algn="ctr">
              <a:buNone/>
            </a:pPr>
            <a:r>
              <a:rPr lang="en-US" sz="2000" b="1" dirty="0">
                <a:solidFill>
                  <a:srgbClr val="6366F1"/>
                </a:solidFill>
              </a:rPr>
              <a:t>"Model"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A mathematical system that captures patterns and relationships to predict the next word</a:t>
            </a:r>
          </a:p>
        </p:txBody>
      </p:sp>
      <p:sp>
        <p:nvSpPr>
          <p:cNvPr id="50" name="ExampleBox"/>
          <p:cNvSpPr/>
          <p:nvPr/>
        </p:nvSpPr>
        <p:spPr>
          <a:xfrm>
            <a:off x="698500" y="6248400"/>
            <a:ext cx="10795000" cy="457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400" i="1" dirty="0">
                <a:solidFill>
                  <a:srgbClr val="0D9488"/>
                </a:solidFill>
              </a:rPr>
              <a:t>Think of it like autocomplete on steroids </a:t>
            </a:r>
            <a:r>
              <a:rPr lang="en-US" sz="1400" dirty="0">
                <a:solidFill>
                  <a:srgbClr val="2D3E5F"/>
                </a:solidFill>
              </a:rPr>
              <a:t>- predicting the next word, one at a time, with stunning accuracy.</a:t>
            </a:r>
          </a:p>
        </p:txBody>
      </p:sp>
      <p:pic>
        <p:nvPicPr>
          <p:cNvPr id="51" name="Graphic 51" descr="Brain icon representing Large in LL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93900" y="3048000"/>
            <a:ext cx="558800" cy="558800"/>
          </a:xfrm>
          <a:prstGeom prst="rect">
            <a:avLst/>
          </a:prstGeom>
        </p:spPr>
      </p:pic>
      <p:pic>
        <p:nvPicPr>
          <p:cNvPr id="52" name="Graphic 52" descr="Chat icon representing Language in LL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89600" y="3048000"/>
            <a:ext cx="558800" cy="558800"/>
          </a:xfrm>
          <a:prstGeom prst="rect">
            <a:avLst/>
          </a:prstGeom>
        </p:spPr>
      </p:pic>
      <p:pic>
        <p:nvPicPr>
          <p:cNvPr id="53" name="Graphic 53" descr="Gears icon representing Model in LLM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2600" y="3048000"/>
            <a:ext cx="558800" cy="5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905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E8EC2-F8D1-E52A-3AAD-FE38CA4C91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How LLMs Work: The Prediction Machine</a:t>
            </a:r>
          </a:p>
        </p:txBody>
      </p:sp>
      <p:sp>
        <p:nvSpPr>
          <p:cNvPr id="11" name="InputBox"/>
          <p:cNvSpPr/>
          <p:nvPr/>
        </p:nvSpPr>
        <p:spPr>
          <a:xfrm>
            <a:off x="635000" y="19685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0B7C72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Your Prompt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"The cat sat on the..."</a:t>
            </a:r>
          </a:p>
        </p:txBody>
      </p:sp>
      <p:sp>
        <p:nvSpPr>
          <p:cNvPr id="12" name="Arrow1"/>
          <p:cNvSpPr/>
          <p:nvPr/>
        </p:nvSpPr>
        <p:spPr>
          <a:xfrm>
            <a:off x="3302000" y="2286000"/>
            <a:ext cx="762000" cy="381000"/>
          </a:xfrm>
          <a:prstGeom prst="rightArrow">
            <a:avLst/>
          </a:prstGeom>
          <a:solidFill>
            <a:srgbClr val="0D9488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LLMBox"/>
          <p:cNvSpPr/>
          <p:nvPr/>
        </p:nvSpPr>
        <p:spPr>
          <a:xfrm>
            <a:off x="4191000" y="1778000"/>
            <a:ext cx="3810000" cy="13970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  <a:effectLst>
            <a:outerShdw blurRad="50800" dist="25400" dir="5400000">
              <a:srgbClr val="1B2A4A">
                <a:alpha val="25000"/>
              </a:srgbClr>
            </a:outerShdw>
          </a:effectLst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800" b="1" dirty="0">
                <a:solidFill>
                  <a:srgbClr val="0D9488"/>
                </a:solidFill>
              </a:rPr>
              <a:t>LLM</a:t>
            </a:r>
          </a:p>
          <a:p>
            <a:pPr algn="ctr">
              <a:buNone/>
            </a:pPr>
            <a:r>
              <a:rPr lang="en-US" sz="1400" dirty="0">
                <a:solidFill>
                  <a:srgbClr val="F7F5F0"/>
                </a:solidFill>
              </a:rPr>
              <a:t>Predicts the most likely</a:t>
            </a:r>
          </a:p>
          <a:p>
            <a:pPr algn="ctr">
              <a:buNone/>
            </a:pPr>
            <a:r>
              <a:rPr lang="en-US" sz="1400" dirty="0">
                <a:solidFill>
                  <a:srgbClr val="F7F5F0"/>
                </a:solidFill>
              </a:rPr>
              <a:t>next word, again and again</a:t>
            </a:r>
          </a:p>
        </p:txBody>
      </p:sp>
      <p:sp>
        <p:nvSpPr>
          <p:cNvPr id="14" name="Arrow2"/>
          <p:cNvSpPr/>
          <p:nvPr/>
        </p:nvSpPr>
        <p:spPr>
          <a:xfrm>
            <a:off x="8128000" y="2286000"/>
            <a:ext cx="762000" cy="381000"/>
          </a:xfrm>
          <a:prstGeom prst="rightArrow">
            <a:avLst/>
          </a:prstGeom>
          <a:solidFill>
            <a:srgbClr val="0D9488">
              <a:alpha val="60000"/>
            </a:srgbClr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5" name="OutputBox"/>
          <p:cNvSpPr/>
          <p:nvPr/>
        </p:nvSpPr>
        <p:spPr>
          <a:xfrm>
            <a:off x="9017000" y="1968500"/>
            <a:ext cx="2540000" cy="1016000"/>
          </a:xfrm>
          <a:prstGeom prst="roundRect">
            <a:avLst>
              <a:gd name="adj" fmla="val 10000"/>
            </a:avLst>
          </a:prstGeom>
          <a:solidFill>
            <a:srgbClr val="D97706"/>
          </a:solidFill>
          <a:ln>
            <a:noFill/>
          </a:ln>
        </p:spPr>
        <p:txBody>
          <a:bodyPr wrap="square" lIns="45720" tIns="36576" rIns="4572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Response</a:t>
            </a:r>
          </a:p>
          <a:p>
            <a:pPr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"...mat." </a:t>
            </a:r>
          </a:p>
        </p:txBody>
      </p:sp>
      <p:sp>
        <p:nvSpPr>
          <p:cNvPr id="16" name="Insight1"/>
          <p:cNvSpPr/>
          <p:nvPr/>
        </p:nvSpPr>
        <p:spPr>
          <a:xfrm>
            <a:off x="635000" y="3683000"/>
            <a:ext cx="5334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600" b="1" dirty="0">
                <a:solidFill>
                  <a:srgbClr val="0D9488"/>
                </a:solidFill>
              </a:rPr>
              <a:t>Not a Database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LLMs don't store facts - they learn patterns. Like how you can hum a song without memorizing every note.</a:t>
            </a:r>
          </a:p>
        </p:txBody>
      </p:sp>
      <p:sp>
        <p:nvSpPr>
          <p:cNvPr id="17" name="Insight2"/>
          <p:cNvSpPr/>
          <p:nvPr/>
        </p:nvSpPr>
        <p:spPr>
          <a:xfrm>
            <a:off x="6223000" y="3683000"/>
            <a:ext cx="5334000" cy="127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</p:spPr>
        <p:txBody>
          <a:bodyPr wrap="square" lIns="91440" tIns="45720" rIns="91440" bIns="45720" anchor="ctr"/>
          <a:lstStyle/>
          <a:p>
            <a:pPr>
              <a:buNone/>
            </a:pPr>
            <a:r>
              <a:rPr lang="en-US" sz="1600" b="1" dirty="0">
                <a:solidFill>
                  <a:srgbClr val="F59E0B"/>
                </a:solidFill>
              </a:rPr>
              <a:t>Probabilistic, Not Deterministic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The same prompt can give different answers. Temperature controls creativity vs. consistency.</a:t>
            </a:r>
          </a:p>
        </p:txBody>
      </p:sp>
      <p:sp>
        <p:nvSpPr>
          <p:cNvPr id="18" name="Analogy"/>
          <p:cNvSpPr/>
          <p:nvPr/>
        </p:nvSpPr>
        <p:spPr>
          <a:xfrm>
            <a:off x="635000" y="5207000"/>
            <a:ext cx="10922000" cy="1016000"/>
          </a:xfrm>
          <a:prstGeom prst="roundRect">
            <a:avLst>
              <a:gd name="adj" fmla="val 8000"/>
            </a:avLst>
          </a:prstGeom>
          <a:solidFill>
            <a:srgbClr val="6366F1">
              <a:alpha val="10000"/>
            </a:srgbClr>
          </a:solidFill>
          <a:ln>
            <a:solidFill>
              <a:srgbClr val="6366F1">
                <a:alpha val="30000"/>
              </a:srgbClr>
            </a:solidFill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500" b="1" dirty="0">
                <a:solidFill>
                  <a:srgbClr val="6366F1"/>
                </a:solidFill>
              </a:rPr>
              <a:t>Analogy: </a:t>
            </a:r>
            <a:r>
              <a:rPr lang="en-US" sz="1500" dirty="0">
                <a:solidFill>
                  <a:srgbClr val="2D3E5F"/>
                </a:solidFill>
              </a:rPr>
              <a:t>Imagine reading every book in the library, then being asked to write the next sentence of a new story. That's what an LLM does - billions of times per day.</a:t>
            </a:r>
          </a:p>
        </p:txBody>
      </p:sp>
    </p:spTree>
    <p:extLst>
      <p:ext uri="{BB962C8B-B14F-4D97-AF65-F5344CB8AC3E}">
        <p14:creationId xmlns:p14="http://schemas.microsoft.com/office/powerpoint/2010/main" val="37072352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D4962-051B-BEF9-CD44-C4B01FB6A4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How LLMs Are Trained</a:t>
            </a:r>
          </a:p>
        </p:txBody>
      </p:sp>
      <p:sp>
        <p:nvSpPr>
          <p:cNvPr id="10" name="Subtitle"/>
          <p:cNvSpPr/>
          <p:nvPr/>
        </p:nvSpPr>
        <p:spPr>
          <a:xfrm>
            <a:off x="838200" y="16510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>
              <a:buNone/>
            </a:pPr>
            <a:r>
              <a:rPr lang="en-US" sz="1500" i="1" dirty="0">
                <a:solidFill>
                  <a:srgbClr val="0D9488"/>
                </a:solidFill>
              </a:rPr>
              <a:t>Three stages from raw text to helpful assistant</a:t>
            </a:r>
          </a:p>
        </p:txBody>
      </p:sp>
      <p:sp>
        <p:nvSpPr>
          <p:cNvPr id="20" name="Stage1"/>
          <p:cNvSpPr/>
          <p:nvPr/>
        </p:nvSpPr>
        <p:spPr>
          <a:xfrm>
            <a:off x="635000" y="2222500"/>
            <a:ext cx="3556000" cy="889000"/>
          </a:xfrm>
          <a:prstGeom prst="homePlate">
            <a:avLst/>
          </a:prstGeom>
          <a:solidFill>
            <a:srgbClr val="0B7C72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1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Pre-Training</a:t>
            </a:r>
          </a:p>
        </p:txBody>
      </p:sp>
      <p:sp>
        <p:nvSpPr>
          <p:cNvPr id="21" name="Stage2"/>
          <p:cNvSpPr/>
          <p:nvPr/>
        </p:nvSpPr>
        <p:spPr>
          <a:xfrm>
            <a:off x="4318000" y="2222500"/>
            <a:ext cx="3556000" cy="889000"/>
          </a:xfrm>
          <a:prstGeom prst="homePlate">
            <a:avLst/>
          </a:prstGeom>
          <a:solidFill>
            <a:srgbClr val="D97706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2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Fine-Tuning</a:t>
            </a:r>
          </a:p>
        </p:txBody>
      </p:sp>
      <p:sp>
        <p:nvSpPr>
          <p:cNvPr id="22" name="Stage3"/>
          <p:cNvSpPr/>
          <p:nvPr/>
        </p:nvSpPr>
        <p:spPr>
          <a:xfrm>
            <a:off x="8001000" y="2222500"/>
            <a:ext cx="3556000" cy="889000"/>
          </a:xfrm>
          <a:prstGeom prst="homePlate">
            <a:avLst/>
          </a:prstGeom>
          <a:solidFill>
            <a:srgbClr val="4F46E5"/>
          </a:solidFill>
          <a:ln>
            <a:noFill/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Stage 3</a:t>
            </a:r>
          </a:p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RLHF</a:t>
            </a:r>
          </a:p>
        </p:txBody>
      </p:sp>
      <p:sp>
        <p:nvSpPr>
          <p:cNvPr id="30" name="Desc1"/>
          <p:cNvSpPr/>
          <p:nvPr/>
        </p:nvSpPr>
        <p:spPr>
          <a:xfrm>
            <a:off x="635000" y="3302000"/>
            <a:ext cx="3429000" cy="215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>
                <a:alpha val="30000"/>
              </a:srgbClr>
            </a:solidFill>
          </a:ln>
        </p:spPr>
        <p:txBody>
          <a:bodyPr wrap="square" lIns="72000" tIns="54000" rIns="72000" bIns="36000" anchor="t"/>
          <a:lstStyle/>
          <a:p>
            <a:pPr>
              <a:buNone/>
            </a:pPr>
            <a:r>
              <a:rPr lang="en-US" sz="1400" b="1" dirty="0">
                <a:solidFill>
                  <a:srgbClr val="0D9488"/>
                </a:solidFill>
              </a:rPr>
              <a:t>Learn everything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Reads trillions of words from books, Wikipedia, code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Learns grammar, facts, reasoning patterns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Most expensive stage (millions of $)</a:t>
            </a:r>
          </a:p>
        </p:txBody>
      </p:sp>
      <p:sp>
        <p:nvSpPr>
          <p:cNvPr id="31" name="Desc2"/>
          <p:cNvSpPr/>
          <p:nvPr/>
        </p:nvSpPr>
        <p:spPr>
          <a:xfrm>
            <a:off x="4381500" y="3302000"/>
            <a:ext cx="3429000" cy="215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>
                <a:alpha val="30000"/>
              </a:srgbClr>
            </a:solidFill>
          </a:ln>
        </p:spPr>
        <p:txBody>
          <a:bodyPr wrap="square" lIns="72000" tIns="54000" rIns="72000" bIns="36000" anchor="t"/>
          <a:lstStyle/>
          <a:p>
            <a:pPr>
              <a:buNone/>
            </a:pPr>
            <a:r>
              <a:rPr lang="en-US" sz="1400" b="1" dirty="0">
                <a:solidFill>
                  <a:srgbClr val="F59E0B"/>
                </a:solidFill>
              </a:rPr>
              <a:t>Specialize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Trained on Q&amp;A pairs and instructions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Learns to follow instructions and be helpful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Like an apprentice with a tutor</a:t>
            </a:r>
          </a:p>
        </p:txBody>
      </p:sp>
      <p:sp>
        <p:nvSpPr>
          <p:cNvPr id="32" name="Desc3"/>
          <p:cNvSpPr/>
          <p:nvPr/>
        </p:nvSpPr>
        <p:spPr>
          <a:xfrm>
            <a:off x="8128000" y="3302000"/>
            <a:ext cx="3429000" cy="2159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366F1">
                <a:alpha val="30000"/>
              </a:srgbClr>
            </a:solidFill>
          </a:ln>
        </p:spPr>
        <p:txBody>
          <a:bodyPr wrap="square" lIns="72000" tIns="54000" rIns="72000" bIns="36000" anchor="t"/>
          <a:lstStyle/>
          <a:p>
            <a:pPr>
              <a:buNone/>
            </a:pPr>
            <a:r>
              <a:rPr lang="en-US" sz="1400" b="1" dirty="0">
                <a:solidFill>
                  <a:srgbClr val="6366F1"/>
                </a:solidFill>
              </a:rPr>
              <a:t>Align with humans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Humans rate outputs as good/bad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Model learns to avoid harmful or unhelpful responses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The "secret sauce" of ChatGPT</a:t>
            </a:r>
          </a:p>
        </p:txBody>
      </p:sp>
      <p:sp>
        <p:nvSpPr>
          <p:cNvPr id="40" name="CostBox"/>
          <p:cNvSpPr/>
          <p:nvPr/>
        </p:nvSpPr>
        <p:spPr>
          <a:xfrm>
            <a:off x="635000" y="5715000"/>
            <a:ext cx="10922000" cy="584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>
            <a:noFill/>
          </a:ln>
        </p:spPr>
        <p:txBody>
          <a:bodyPr wrap="square" lIns="91440" tIns="0" rIns="91440" bIns="0" anchor="ctr"/>
          <a:lstStyle/>
          <a:p>
            <a:pPr algn="ctr">
              <a:buNone/>
            </a:pPr>
            <a:r>
              <a:rPr lang="en-US" sz="1400" dirty="0">
                <a:solidFill>
                  <a:srgbClr val="F59E0B"/>
                </a:solidFill>
              </a:rPr>
              <a:t>Training GPT-4 class models: </a:t>
            </a:r>
            <a:r>
              <a:rPr lang="en-US" sz="1400" b="1" dirty="0">
                <a:solidFill>
                  <a:srgbClr val="FFFFFF"/>
                </a:solidFill>
              </a:rPr>
              <a:t>$100M+</a:t>
            </a:r>
            <a:r>
              <a:rPr lang="en-US" sz="1400" dirty="0">
                <a:solidFill>
                  <a:srgbClr val="F7F5F0"/>
                </a:solidFill>
              </a:rPr>
              <a:t>  |  </a:t>
            </a:r>
            <a:r>
              <a:rPr lang="en-US" sz="1400" b="1" dirty="0">
                <a:solidFill>
                  <a:srgbClr val="FFFFFF"/>
                </a:solidFill>
              </a:rPr>
              <a:t>Months</a:t>
            </a:r>
            <a:r>
              <a:rPr lang="en-US" sz="1400" dirty="0">
                <a:solidFill>
                  <a:srgbClr val="F59E0B"/>
                </a:solidFill>
              </a:rPr>
              <a:t> of compute time  |  </a:t>
            </a:r>
            <a:r>
              <a:rPr lang="en-US" sz="1400" b="1" dirty="0">
                <a:solidFill>
                  <a:srgbClr val="FFFFFF"/>
                </a:solidFill>
              </a:rPr>
              <a:t>Thousands</a:t>
            </a:r>
            <a:r>
              <a:rPr lang="en-US" sz="1400" dirty="0">
                <a:solidFill>
                  <a:srgbClr val="F59E0B"/>
                </a:solidFill>
              </a:rPr>
              <a:t> of GPUs</a:t>
            </a:r>
          </a:p>
        </p:txBody>
      </p:sp>
    </p:spTree>
    <p:extLst>
      <p:ext uri="{BB962C8B-B14F-4D97-AF65-F5344CB8AC3E}">
        <p14:creationId xmlns:p14="http://schemas.microsoft.com/office/powerpoint/2010/main" val="37551524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621EA-565D-95CC-C560-C915B6932E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Tokens: The Building Blocks</a:t>
            </a:r>
          </a:p>
        </p:txBody>
      </p:sp>
      <p:sp>
        <p:nvSpPr>
          <p:cNvPr id="10" name="DefBox"/>
          <p:cNvSpPr/>
          <p:nvPr/>
        </p:nvSpPr>
        <p:spPr>
          <a:xfrm>
            <a:off x="635000" y="1714500"/>
            <a:ext cx="10922000" cy="698500"/>
          </a:xfrm>
          <a:prstGeom prst="roundRect">
            <a:avLst>
              <a:gd name="adj" fmla="val 10000"/>
            </a:avLst>
          </a:prstGeom>
          <a:solidFill>
            <a:srgbClr val="0D9488">
              <a:alpha val="12000"/>
            </a:srgbClr>
          </a:solidFill>
          <a:ln>
            <a:solidFill>
              <a:srgbClr val="0D9488">
                <a:alpha val="30000"/>
              </a:srgbClr>
            </a:solidFill>
          </a:ln>
        </p:spPr>
        <p:txBody>
          <a:bodyPr wrap="square" lIns="91440" tIns="36576" rIns="91440" bIns="36576" anchor="ctr"/>
          <a:lstStyle/>
          <a:p>
            <a:pPr algn="ctr">
              <a:buNone/>
            </a:pPr>
            <a:r>
              <a:rPr lang="en-US" sz="1500" dirty="0">
                <a:solidFill>
                  <a:srgbClr val="1B2A4A"/>
                </a:solidFill>
              </a:rPr>
              <a:t>Tokens are the smallest units LLMs process. A token </a:t>
            </a:r>
            <a:r>
              <a:rPr lang="en-US" sz="1500" b="1" dirty="0">
                <a:solidFill>
                  <a:srgbClr val="0D9488"/>
                </a:solidFill>
              </a:rPr>
              <a:t>≈ 3/4 of a word</a:t>
            </a:r>
            <a:r>
              <a:rPr lang="en-US" sz="1500" dirty="0">
                <a:solidFill>
                  <a:srgbClr val="1B2A4A"/>
                </a:solidFill>
              </a:rPr>
              <a:t> in English.</a:t>
            </a:r>
          </a:p>
        </p:txBody>
      </p:sp>
      <p:sp>
        <p:nvSpPr>
          <p:cNvPr id="11" name="VizLabel"/>
          <p:cNvSpPr/>
          <p:nvPr/>
        </p:nvSpPr>
        <p:spPr>
          <a:xfrm>
            <a:off x="635000" y="2603500"/>
            <a:ext cx="3810000" cy="355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Example: How "Unbelievable" is tokenized</a:t>
            </a:r>
          </a:p>
        </p:txBody>
      </p:sp>
      <p:sp>
        <p:nvSpPr>
          <p:cNvPr id="20" name="Token20"/>
          <p:cNvSpPr/>
          <p:nvPr/>
        </p:nvSpPr>
        <p:spPr>
          <a:xfrm>
            <a:off x="635000" y="3022600"/>
            <a:ext cx="1016000" cy="533400"/>
          </a:xfrm>
          <a:prstGeom prst="roundRect">
            <a:avLst>
              <a:gd name="adj" fmla="val 16000"/>
            </a:avLst>
          </a:prstGeom>
          <a:solidFill>
            <a:srgbClr val="0B7C72"/>
          </a:solidFill>
          <a:ln>
            <a:noFill/>
          </a:ln>
        </p:spPr>
        <p:txBody>
          <a:bodyPr wrap="square" lIns="36576" tIns="0" rIns="36576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Un</a:t>
            </a:r>
          </a:p>
        </p:txBody>
      </p:sp>
      <p:sp>
        <p:nvSpPr>
          <p:cNvPr id="21" name="Token21"/>
          <p:cNvSpPr/>
          <p:nvPr/>
        </p:nvSpPr>
        <p:spPr>
          <a:xfrm>
            <a:off x="1778000" y="3022600"/>
            <a:ext cx="1524000" cy="533400"/>
          </a:xfrm>
          <a:prstGeom prst="roundRect">
            <a:avLst>
              <a:gd name="adj" fmla="val 16000"/>
            </a:avLst>
          </a:prstGeom>
          <a:solidFill>
            <a:srgbClr val="D97706"/>
          </a:solidFill>
          <a:ln>
            <a:noFill/>
          </a:ln>
        </p:spPr>
        <p:txBody>
          <a:bodyPr wrap="square" lIns="36576" tIns="0" rIns="36576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believ</a:t>
            </a:r>
          </a:p>
        </p:txBody>
      </p:sp>
      <p:sp>
        <p:nvSpPr>
          <p:cNvPr id="22" name="Token22"/>
          <p:cNvSpPr/>
          <p:nvPr/>
        </p:nvSpPr>
        <p:spPr>
          <a:xfrm>
            <a:off x="3429000" y="3022600"/>
            <a:ext cx="1270000" cy="5334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>
            <a:noFill/>
          </a:ln>
        </p:spPr>
        <p:txBody>
          <a:bodyPr wrap="square" lIns="36576" tIns="0" rIns="36576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able</a:t>
            </a:r>
          </a:p>
        </p:txBody>
      </p:sp>
      <p:sp>
        <p:nvSpPr>
          <p:cNvPr id="40" name="FactsBox"/>
          <p:cNvSpPr/>
          <p:nvPr/>
        </p:nvSpPr>
        <p:spPr>
          <a:xfrm>
            <a:off x="6350000" y="2603500"/>
            <a:ext cx="5207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</p:spPr>
        <p:txBody>
          <a:bodyPr wrap="square" lIns="72000" tIns="45720" rIns="72000" bIns="36576" anchor="t"/>
          <a:lstStyle/>
          <a:p>
            <a:pPr>
              <a:buNone/>
            </a:pPr>
            <a:r>
              <a:rPr lang="en-US" sz="1400" b="1" dirty="0">
                <a:solidFill>
                  <a:srgbClr val="0D9488"/>
                </a:solidFill>
              </a:rPr>
              <a:t>Quick Reference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1 word ≈ 1.3 tokens on average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2D3E5F"/>
                </a:solidFill>
              </a:rPr>
              <a:t>A page of text ≈ 500-700 tokens</a:t>
            </a:r>
          </a:p>
        </p:txBody>
      </p:sp>
      <p:sp>
        <p:nvSpPr>
          <p:cNvPr id="50" name="ExamplesBox"/>
          <p:cNvSpPr/>
          <p:nvPr/>
        </p:nvSpPr>
        <p:spPr>
          <a:xfrm>
            <a:off x="635000" y="3937000"/>
            <a:ext cx="10922000" cy="1651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</p:spPr>
        <p:txBody>
          <a:bodyPr wrap="square" lIns="91440" tIns="54000" rIns="91440" bIns="36576" anchor="t"/>
          <a:lstStyle/>
          <a:p>
            <a:pPr>
              <a:buNone/>
            </a:pPr>
            <a:r>
              <a:rPr lang="en-US" sz="1600" b="1" dirty="0">
                <a:solidFill>
                  <a:srgbClr val="1B2A4A"/>
                </a:solidFill>
              </a:rPr>
              <a:t>Why Tokens Matter</a:t>
            </a:r>
          </a:p>
          <a:p>
            <a:pPr>
              <a:buFont typeface="Arial"/>
              <a:buChar char="•"/>
            </a:pPr>
            <a:r>
              <a:rPr lang="en-US" sz="1400" b="1" dirty="0">
                <a:solidFill>
                  <a:srgbClr val="0D9488"/>
                </a:solidFill>
              </a:rPr>
              <a:t>Pricing: </a:t>
            </a:r>
            <a:r>
              <a:rPr lang="en-US" sz="1400" dirty="0">
                <a:solidFill>
                  <a:srgbClr val="2D3E5F"/>
                </a:solidFill>
              </a:rPr>
              <a:t>APIs charge per token (e.g., $0.01 per 1K tokens) - more tokens = higher cost</a:t>
            </a:r>
          </a:p>
          <a:p>
            <a:pPr>
              <a:buFont typeface="Arial"/>
              <a:buChar char="•"/>
            </a:pPr>
            <a:r>
              <a:rPr lang="en-US" sz="1400" b="1" dirty="0">
                <a:solidFill>
                  <a:srgbClr val="F59E0B"/>
                </a:solidFill>
              </a:rPr>
              <a:t>Speed: </a:t>
            </a:r>
            <a:r>
              <a:rPr lang="en-US" sz="1400" dirty="0">
                <a:solidFill>
                  <a:srgbClr val="2D3E5F"/>
                </a:solidFill>
              </a:rPr>
              <a:t>LLMs generate tokens one at a time - that's why responses appear word by word</a:t>
            </a:r>
          </a:p>
          <a:p>
            <a:pPr>
              <a:buFont typeface="Arial"/>
              <a:buChar char="•"/>
            </a:pPr>
            <a:r>
              <a:rPr lang="en-US" sz="1400" b="1" dirty="0">
                <a:solidFill>
                  <a:srgbClr val="6366F1"/>
                </a:solidFill>
              </a:rPr>
              <a:t>Languages: </a:t>
            </a:r>
            <a:r>
              <a:rPr lang="en-US" sz="1400" dirty="0">
                <a:solidFill>
                  <a:srgbClr val="2D3E5F"/>
                </a:solidFill>
              </a:rPr>
              <a:t>Non-English text often uses more tokens per word (less efficient)</a:t>
            </a:r>
          </a:p>
        </p:txBody>
      </p:sp>
      <p:sp>
        <p:nvSpPr>
          <p:cNvPr id="60" name="FunFact"/>
          <p:cNvSpPr/>
          <p:nvPr/>
        </p:nvSpPr>
        <p:spPr>
          <a:xfrm>
            <a:off x="635000" y="5842000"/>
            <a:ext cx="10922000" cy="4826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400" i="1" dirty="0">
                <a:solidFill>
                  <a:srgbClr val="0D9488"/>
                </a:solidFill>
              </a:rPr>
              <a:t>Fun fact: The emoji 😀 is a single token, but "artificial intelligence" is 2 tokens!</a:t>
            </a:r>
          </a:p>
        </p:txBody>
      </p:sp>
    </p:spTree>
    <p:extLst>
      <p:ext uri="{BB962C8B-B14F-4D97-AF65-F5344CB8AC3E}">
        <p14:creationId xmlns:p14="http://schemas.microsoft.com/office/powerpoint/2010/main" val="36996341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357F5-5999-D87A-00D9-60789AB02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Context Windows: The LLM's Memory</a:t>
            </a:r>
          </a:p>
        </p:txBody>
      </p:sp>
      <p:sp>
        <p:nvSpPr>
          <p:cNvPr id="10" name="Analogy"/>
          <p:cNvSpPr/>
          <p:nvPr/>
        </p:nvSpPr>
        <p:spPr>
          <a:xfrm>
            <a:off x="635000" y="1714500"/>
            <a:ext cx="10922000" cy="635000"/>
          </a:xfrm>
          <a:prstGeom prst="roundRect">
            <a:avLst>
              <a:gd name="adj" fmla="val 12000"/>
            </a:avLst>
          </a:prstGeom>
          <a:solidFill>
            <a:srgbClr val="6366F1">
              <a:alpha val="10000"/>
            </a:srgbClr>
          </a:solidFill>
          <a:ln>
            <a:solidFill>
              <a:srgbClr val="6366F1">
                <a:alpha val="30000"/>
              </a:srgbClr>
            </a:solidFill>
          </a:ln>
        </p:spPr>
        <p:txBody>
          <a:bodyPr wrap="square" lIns="91440" rIns="91440" anchor="ctr"/>
          <a:lstStyle/>
          <a:p>
            <a:pPr algn="ctr">
              <a:buNone/>
            </a:pPr>
            <a:r>
              <a:rPr lang="en-US" sz="1500" dirty="0">
                <a:solidFill>
                  <a:srgbClr val="2D3E5F"/>
                </a:solidFill>
              </a:rPr>
              <a:t>How much text can a model process in a single request? Today's frontier: </a:t>
            </a:r>
            <a:r>
              <a:rPr lang="en-US" sz="1500" b="1" dirty="0">
                <a:solidFill>
                  <a:srgbClr val="6366F1"/>
                </a:solidFill>
              </a:rPr>
              <a:t>1M-2M tokens</a:t>
            </a:r>
            <a:r>
              <a:rPr lang="en-US" sz="1500" dirty="0">
                <a:solidFill>
                  <a:srgbClr val="2D3E5F"/>
                </a:solidFill>
              </a:rPr>
              <a:t> standard (up from 4K in 2023)</a:t>
            </a:r>
          </a:p>
        </p:txBody>
      </p:sp>
      <p:sp>
        <p:nvSpPr>
          <p:cNvPr id="20" name="BarLabel0"/>
          <p:cNvSpPr/>
          <p:nvPr/>
        </p:nvSpPr>
        <p:spPr>
          <a:xfrm>
            <a:off x="635000" y="26670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1B2A4A"/>
                </a:solidFill>
              </a:rPr>
              <a:t>GPT-5.5</a:t>
            </a:r>
          </a:p>
        </p:txBody>
      </p:sp>
      <p:sp>
        <p:nvSpPr>
          <p:cNvPr id="21" name="Bar0"/>
          <p:cNvSpPr/>
          <p:nvPr/>
        </p:nvSpPr>
        <p:spPr>
          <a:xfrm>
            <a:off x="2286000" y="2692400"/>
            <a:ext cx="2997200" cy="406400"/>
          </a:xfrm>
          <a:prstGeom prst="roundRect">
            <a:avLst>
              <a:gd name="adj" fmla="val 30000"/>
            </a:avLst>
          </a:prstGeom>
          <a:solidFill>
            <a:srgbClr val="0B7C72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1M tokens</a:t>
            </a:r>
          </a:p>
        </p:txBody>
      </p:sp>
      <p:sp>
        <p:nvSpPr>
          <p:cNvPr id="22" name="BarLabel1"/>
          <p:cNvSpPr/>
          <p:nvPr/>
        </p:nvSpPr>
        <p:spPr>
          <a:xfrm>
            <a:off x="635000" y="32258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1B2A4A"/>
                </a:solidFill>
              </a:rPr>
              <a:t>Claude 4.6</a:t>
            </a:r>
          </a:p>
        </p:txBody>
      </p:sp>
      <p:sp>
        <p:nvSpPr>
          <p:cNvPr id="23" name="Bar1"/>
          <p:cNvSpPr/>
          <p:nvPr/>
        </p:nvSpPr>
        <p:spPr>
          <a:xfrm>
            <a:off x="2286000" y="3251200"/>
            <a:ext cx="2997200" cy="406400"/>
          </a:xfrm>
          <a:prstGeom prst="roundRect">
            <a:avLst>
              <a:gd name="adj" fmla="val 30000"/>
            </a:avLst>
          </a:prstGeom>
          <a:solidFill>
            <a:srgbClr val="92400E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1M tokens</a:t>
            </a:r>
          </a:p>
        </p:txBody>
      </p:sp>
      <p:sp>
        <p:nvSpPr>
          <p:cNvPr id="24" name="BarLabel2"/>
          <p:cNvSpPr/>
          <p:nvPr/>
        </p:nvSpPr>
        <p:spPr>
          <a:xfrm>
            <a:off x="635000" y="37846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1B2A4A"/>
                </a:solidFill>
              </a:rPr>
              <a:t>Gemini 3.1</a:t>
            </a:r>
          </a:p>
        </p:txBody>
      </p:sp>
      <p:sp>
        <p:nvSpPr>
          <p:cNvPr id="25" name="Bar2"/>
          <p:cNvSpPr/>
          <p:nvPr/>
        </p:nvSpPr>
        <p:spPr>
          <a:xfrm>
            <a:off x="2286000" y="3810000"/>
            <a:ext cx="3302000" cy="40640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1M+ tokens</a:t>
            </a:r>
          </a:p>
        </p:txBody>
      </p:sp>
      <p:sp>
        <p:nvSpPr>
          <p:cNvPr id="26" name="BarLabel3"/>
          <p:cNvSpPr/>
          <p:nvPr/>
        </p:nvSpPr>
        <p:spPr>
          <a:xfrm>
            <a:off x="635000" y="4343400"/>
            <a:ext cx="152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36576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1B2A4A"/>
                </a:solidFill>
              </a:rPr>
              <a:t>Grok 4.20</a:t>
            </a:r>
          </a:p>
        </p:txBody>
      </p:sp>
      <p:sp>
        <p:nvSpPr>
          <p:cNvPr id="27" name="Bar3"/>
          <p:cNvSpPr/>
          <p:nvPr/>
        </p:nvSpPr>
        <p:spPr>
          <a:xfrm>
            <a:off x="2286000" y="4368800"/>
            <a:ext cx="6032500" cy="406400"/>
          </a:xfrm>
          <a:prstGeom prst="roundRect">
            <a:avLst>
              <a:gd name="adj" fmla="val 30000"/>
            </a:avLst>
          </a:prstGeom>
          <a:solidFill>
            <a:srgbClr val="C2185B"/>
          </a:solidFill>
          <a:ln>
            <a:noFill/>
          </a:ln>
        </p:spPr>
        <p:txBody>
          <a:bodyPr wrap="square" lIns="45720" tIns="0" rIns="45720" bIns="0" anchor="ctr"/>
          <a:lstStyle/>
          <a:p>
            <a:pPr algn="r">
              <a:buNone/>
            </a:pPr>
            <a:r>
              <a:rPr lang="en-US" sz="1400" b="1" dirty="0">
                <a:solidFill>
                  <a:srgbClr val="FFFFFF"/>
                </a:solidFill>
              </a:rPr>
              <a:t>2M tokens</a:t>
            </a:r>
          </a:p>
        </p:txBody>
      </p:sp>
      <p:sp>
        <p:nvSpPr>
          <p:cNvPr id="50" name="EquivBox"/>
          <p:cNvSpPr/>
          <p:nvPr/>
        </p:nvSpPr>
        <p:spPr>
          <a:xfrm>
            <a:off x="8890000" y="2667000"/>
            <a:ext cx="2667000" cy="2032000"/>
          </a:xfrm>
          <a:prstGeom prst="roundRect">
            <a:avLst>
              <a:gd name="adj" fmla="val 6000"/>
            </a:avLst>
          </a:prstGeom>
          <a:solidFill>
            <a:srgbClr val="1B2A4A"/>
          </a:solidFill>
          <a:ln>
            <a:noFill/>
          </a:ln>
        </p:spPr>
        <p:txBody>
          <a:bodyPr wrap="square" lIns="54000" tIns="36576" rIns="54000" bIns="36576" anchor="ctr"/>
          <a:lstStyle/>
          <a:p>
            <a:pPr algn="ctr">
              <a:buNone/>
            </a:pPr>
            <a:r>
              <a:rPr lang="en-US" sz="1400" b="1" dirty="0">
                <a:solidFill>
                  <a:srgbClr val="F59E0B"/>
                </a:solidFill>
              </a:rPr>
              <a:t>What fits in 1M?</a:t>
            </a:r>
          </a:p>
          <a:p>
            <a:pPr algn="ctr">
              <a:buNone/>
            </a:pPr>
            <a:r>
              <a:rPr lang="en-US" sz="1400" dirty="0">
                <a:solidFill>
                  <a:srgbClr val="F7F5F0"/>
                </a:solidFill>
              </a:rPr>
              <a:t>≈ 1,400 pages of text</a:t>
            </a:r>
          </a:p>
          <a:p>
            <a:pPr algn="ctr">
              <a:buNone/>
            </a:pPr>
            <a:r>
              <a:rPr lang="en-US" sz="1400" dirty="0">
                <a:solidFill>
                  <a:srgbClr val="F7F5F0"/>
                </a:solidFill>
              </a:rPr>
              <a:t>≈ 8 full-length novels</a:t>
            </a:r>
          </a:p>
          <a:p>
            <a:pPr algn="ctr">
              <a:buNone/>
            </a:pPr>
            <a:r>
              <a:rPr lang="en-US" sz="1400" dirty="0">
                <a:solidFill>
                  <a:srgbClr val="F7F5F0"/>
                </a:solidFill>
              </a:rPr>
              <a:t>≈ an entire codebase</a:t>
            </a:r>
          </a:p>
        </p:txBody>
      </p:sp>
      <p:sp>
        <p:nvSpPr>
          <p:cNvPr id="60" name="ImplBox"/>
          <p:cNvSpPr/>
          <p:nvPr/>
        </p:nvSpPr>
        <p:spPr>
          <a:xfrm>
            <a:off x="635000" y="5080000"/>
            <a:ext cx="10922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BE8E0"/>
            </a:solidFill>
          </a:ln>
        </p:spPr>
        <p:txBody>
          <a:bodyPr wrap="square" lIns="91440" tIns="54000" rIns="91440" bIns="36576" anchor="t"/>
          <a:lstStyle/>
          <a:p>
            <a:pPr>
              <a:buNone/>
            </a:pPr>
            <a:r>
              <a:rPr lang="en-US" sz="1500" b="1" dirty="0">
                <a:solidFill>
                  <a:srgbClr val="1B2A4A"/>
                </a:solidFill>
              </a:rPr>
              <a:t>2026 Trend: </a:t>
            </a:r>
            <a:r>
              <a:rPr lang="en-US" sz="1500" dirty="0">
                <a:solidFill>
                  <a:srgbClr val="2D3E5F"/>
                </a:solidFill>
              </a:rPr>
              <a:t>Context windows have grown </a:t>
            </a:r>
            <a:r>
              <a:rPr lang="en-US" sz="1500" b="1" dirty="0">
                <a:solidFill>
                  <a:srgbClr val="EC4899"/>
                </a:solidFill>
              </a:rPr>
              <a:t>250x since 2023</a:t>
            </a:r>
            <a:r>
              <a:rPr lang="en-US" sz="1500" dirty="0">
                <a:solidFill>
                  <a:srgbClr val="2D3E5F"/>
                </a:solidFill>
              </a:rPr>
              <a:t>, but research shows the </a:t>
            </a:r>
            <a:r>
              <a:rPr lang="en-US" sz="1500" b="1" dirty="0">
                <a:solidFill>
                  <a:srgbClr val="6366F1"/>
                </a:solidFill>
              </a:rPr>
              <a:t>effective</a:t>
            </a:r>
            <a:r>
              <a:rPr lang="en-US" sz="1500" dirty="0">
                <a:solidFill>
                  <a:srgbClr val="2D3E5F"/>
                </a:solidFill>
              </a:rPr>
              <a:t> context is often much smaller. Quality of input matters more than window size.</a:t>
            </a:r>
          </a:p>
        </p:txBody>
      </p:sp>
    </p:spTree>
    <p:extLst>
      <p:ext uri="{BB962C8B-B14F-4D97-AF65-F5344CB8AC3E}">
        <p14:creationId xmlns:p14="http://schemas.microsoft.com/office/powerpoint/2010/main" val="1010538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6A8FC-3EE1-4689-43DB-9693FCED2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Key Limitations to Know</a:t>
            </a:r>
          </a:p>
        </p:txBody>
      </p:sp>
      <p:sp>
        <p:nvSpPr>
          <p:cNvPr id="10" name="Card0"/>
          <p:cNvSpPr/>
          <p:nvPr/>
        </p:nvSpPr>
        <p:spPr>
          <a:xfrm>
            <a:off x="635000" y="17780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4899">
                <a:alpha val="4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432000" tIns="54000" rIns="72000" bIns="36576" anchor="t"/>
          <a:lstStyle/>
          <a:p>
            <a:pPr>
              <a:buNone/>
            </a:pPr>
            <a:r>
              <a:rPr lang="en-US" sz="1800" b="1" dirty="0">
                <a:solidFill>
                  <a:srgbClr val="EC4899"/>
                </a:solidFill>
              </a:rPr>
              <a:t>Hallucinations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LLMs can confidently generate false information that sounds entirely plausible. Always verify critical facts.</a:t>
            </a:r>
          </a:p>
          <a:p>
            <a:pPr>
              <a:buNone/>
            </a:pPr>
            <a:r>
              <a:rPr lang="en-US" sz="1400" i="1" dirty="0">
                <a:solidFill>
                  <a:srgbClr val="EC4899"/>
                </a:solidFill>
              </a:rPr>
              <a:t>"The Eiffel Tower was built in 1910" - sounds right, but wrong!</a:t>
            </a:r>
          </a:p>
        </p:txBody>
      </p:sp>
      <p:sp>
        <p:nvSpPr>
          <p:cNvPr id="12" name="Card1"/>
          <p:cNvSpPr/>
          <p:nvPr/>
        </p:nvSpPr>
        <p:spPr>
          <a:xfrm>
            <a:off x="6223000" y="17780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>
                <a:alpha val="4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432000" tIns="54000" rIns="72000" bIns="36576" anchor="t"/>
          <a:lstStyle/>
          <a:p>
            <a:pPr>
              <a:buNone/>
            </a:pPr>
            <a:r>
              <a:rPr lang="en-US" sz="1800" b="1" dirty="0">
                <a:solidFill>
                  <a:srgbClr val="F59E0B"/>
                </a:solidFill>
              </a:rPr>
              <a:t>Knowledge Cutoff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Training data has a fixed end date. Web search helps, but models still can't verify real-time facts reliably.</a:t>
            </a:r>
          </a:p>
          <a:p>
            <a:pPr>
              <a:buNone/>
            </a:pPr>
            <a:r>
              <a:rPr lang="en-US" sz="1400" i="1" dirty="0">
                <a:solidFill>
                  <a:srgbClr val="F59E0B"/>
                </a:solidFill>
              </a:rPr>
              <a:t>Web search mitigates but doesn't eliminate this gap.</a:t>
            </a:r>
          </a:p>
        </p:txBody>
      </p:sp>
      <p:sp>
        <p:nvSpPr>
          <p:cNvPr id="14" name="Card2"/>
          <p:cNvSpPr/>
          <p:nvPr/>
        </p:nvSpPr>
        <p:spPr>
          <a:xfrm>
            <a:off x="635000" y="40640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366F1">
                <a:alpha val="4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432000" tIns="54000" rIns="72000" bIns="36576" anchor="t"/>
          <a:lstStyle/>
          <a:p>
            <a:pPr>
              <a:buNone/>
            </a:pPr>
            <a:r>
              <a:rPr lang="en-US" sz="1800" b="1" dirty="0">
                <a:solidFill>
                  <a:srgbClr val="6366F1"/>
                </a:solidFill>
              </a:rPr>
              <a:t>Bias in Data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Models inherit biases present in their training data, including cultural, gender, and political biases.</a:t>
            </a:r>
          </a:p>
          <a:p>
            <a:pPr>
              <a:buNone/>
            </a:pPr>
            <a:r>
              <a:rPr lang="en-US" sz="1400" i="1" dirty="0">
                <a:solidFill>
                  <a:srgbClr val="6366F1"/>
                </a:solidFill>
              </a:rPr>
              <a:t>Stereotypes from the internet can surface in responses.</a:t>
            </a:r>
          </a:p>
        </p:txBody>
      </p:sp>
      <p:sp>
        <p:nvSpPr>
          <p:cNvPr id="16" name="Card3"/>
          <p:cNvSpPr/>
          <p:nvPr/>
        </p:nvSpPr>
        <p:spPr>
          <a:xfrm>
            <a:off x="6223000" y="4064000"/>
            <a:ext cx="5334000" cy="203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>
                <a:alpha val="4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432000" tIns="54000" rIns="72000" bIns="36576" anchor="t"/>
          <a:lstStyle/>
          <a:p>
            <a:pPr>
              <a:buNone/>
            </a:pPr>
            <a:r>
              <a:rPr lang="en-US" sz="1800" b="1" dirty="0">
                <a:solidFill>
                  <a:srgbClr val="0D9488"/>
                </a:solidFill>
              </a:rPr>
              <a:t>Reasoning Gaps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Extended thinking &amp; reasoning models help, but LLMs still struggle with novel logic and multi-step math.</a:t>
            </a:r>
          </a:p>
          <a:p>
            <a:pPr>
              <a:buNone/>
            </a:pPr>
            <a:r>
              <a:rPr lang="en-US" sz="1400" i="1" dirty="0">
                <a:solidFill>
                  <a:srgbClr val="0D9488"/>
                </a:solidFill>
              </a:rPr>
              <a:t>91-94% on PhD-level tests - impressive, but not perfect.</a:t>
            </a:r>
          </a:p>
        </p:txBody>
      </p:sp>
      <p:sp>
        <p:nvSpPr>
          <p:cNvPr id="18" name="Takeaway"/>
          <p:cNvSpPr/>
          <p:nvPr/>
        </p:nvSpPr>
        <p:spPr>
          <a:xfrm>
            <a:off x="635000" y="6096000"/>
            <a:ext cx="10922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500" b="1" dirty="0">
                <a:solidFill>
                  <a:srgbClr val="1B2A4A"/>
                </a:solidFill>
              </a:rPr>
              <a:t>Golden rule: </a:t>
            </a:r>
            <a:r>
              <a:rPr lang="en-US" sz="1500" dirty="0">
                <a:solidFill>
                  <a:srgbClr val="2D3E5F"/>
                </a:solidFill>
              </a:rPr>
              <a:t>Use LLMs as a powerful </a:t>
            </a:r>
            <a:r>
              <a:rPr lang="en-US" sz="1500" b="1" dirty="0">
                <a:solidFill>
                  <a:srgbClr val="0D9488"/>
                </a:solidFill>
              </a:rPr>
              <a:t>co-pilot</a:t>
            </a:r>
            <a:r>
              <a:rPr lang="en-US" sz="1500" dirty="0">
                <a:solidFill>
                  <a:srgbClr val="2D3E5F"/>
                </a:solidFill>
              </a:rPr>
              <a:t>, not an </a:t>
            </a:r>
            <a:r>
              <a:rPr lang="en-US" sz="1500" b="1" dirty="0">
                <a:solidFill>
                  <a:srgbClr val="EC4899"/>
                </a:solidFill>
              </a:rPr>
              <a:t>autopilot</a:t>
            </a:r>
            <a:r>
              <a:rPr lang="en-US" sz="1500" dirty="0">
                <a:solidFill>
                  <a:srgbClr val="2D3E5F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9729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9CF2A-E7BF-A66E-4C67-B3C9475E3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Popular LLM Families</a:t>
            </a:r>
          </a:p>
        </p:txBody>
      </p:sp>
      <p:sp>
        <p:nvSpPr>
          <p:cNvPr id="10" name="FCard0"/>
          <p:cNvSpPr/>
          <p:nvPr/>
        </p:nvSpPr>
        <p:spPr>
          <a:xfrm>
            <a:off x="635000" y="2344057"/>
            <a:ext cx="2540000" cy="29246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>
                <a:alpha val="3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72000" tIns="270000" rIns="72000" bIns="36576" anchor="t"/>
          <a:lstStyle/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OpenAI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Strengths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Top intelligence score, native multimodal, web search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Flagship: </a:t>
            </a:r>
            <a:r>
              <a:rPr lang="en-US" sz="1400" dirty="0">
                <a:solidFill>
                  <a:srgbClr val="0D9488"/>
                </a:solidFill>
              </a:rPr>
              <a:t>GPT-5.5</a:t>
            </a:r>
          </a:p>
        </p:txBody>
      </p:sp>
      <p:sp>
        <p:nvSpPr>
          <p:cNvPr id="11" name="Header0"/>
          <p:cNvSpPr/>
          <p:nvPr/>
        </p:nvSpPr>
        <p:spPr>
          <a:xfrm>
            <a:off x="635000" y="17780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0B7C72"/>
          </a:solidFill>
          <a:ln>
            <a:noFill/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GPT Series</a:t>
            </a:r>
          </a:p>
        </p:txBody>
      </p:sp>
      <p:sp>
        <p:nvSpPr>
          <p:cNvPr id="12" name="FCard1"/>
          <p:cNvSpPr/>
          <p:nvPr/>
        </p:nvSpPr>
        <p:spPr>
          <a:xfrm>
            <a:off x="3429000" y="2344057"/>
            <a:ext cx="2540000" cy="29246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366F1">
                <a:alpha val="3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72000" tIns="270000" rIns="72000" bIns="36576" anchor="t"/>
          <a:lstStyle/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Anthropic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Strengths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Best coding (SWE-bench), 1M context, safety-first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Flagship: </a:t>
            </a:r>
            <a:r>
              <a:rPr lang="en-US" sz="1400" dirty="0">
                <a:solidFill>
                  <a:srgbClr val="6366F1"/>
                </a:solidFill>
              </a:rPr>
              <a:t>Opus 4.7 / Sonnet 4.6</a:t>
            </a:r>
          </a:p>
        </p:txBody>
      </p:sp>
      <p:sp>
        <p:nvSpPr>
          <p:cNvPr id="13" name="Header1"/>
          <p:cNvSpPr/>
          <p:nvPr/>
        </p:nvSpPr>
        <p:spPr>
          <a:xfrm>
            <a:off x="3429000" y="17780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4F46E5"/>
          </a:solidFill>
          <a:ln>
            <a:noFill/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Claude</a:t>
            </a:r>
          </a:p>
        </p:txBody>
      </p:sp>
      <p:sp>
        <p:nvSpPr>
          <p:cNvPr id="14" name="FCard2"/>
          <p:cNvSpPr/>
          <p:nvPr/>
        </p:nvSpPr>
        <p:spPr>
          <a:xfrm>
            <a:off x="6223000" y="2344057"/>
            <a:ext cx="2540000" cy="29246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>
                <a:alpha val="3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72000" tIns="270000" rIns="72000" bIns="36576" anchor="t"/>
          <a:lstStyle/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Google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Strengths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94.3% GPQA, multimodal, Google ecosystem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Flagship: </a:t>
            </a:r>
            <a:r>
              <a:rPr lang="en-US" sz="1400" dirty="0">
                <a:solidFill>
                  <a:srgbClr val="F59E0B"/>
                </a:solidFill>
              </a:rPr>
              <a:t>Gemini 3.1 Pro</a:t>
            </a:r>
          </a:p>
        </p:txBody>
      </p:sp>
      <p:sp>
        <p:nvSpPr>
          <p:cNvPr id="15" name="Header2"/>
          <p:cNvSpPr/>
          <p:nvPr/>
        </p:nvSpPr>
        <p:spPr>
          <a:xfrm>
            <a:off x="6223000" y="17780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92400E"/>
          </a:solidFill>
          <a:ln>
            <a:noFill/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Gemini</a:t>
            </a:r>
          </a:p>
        </p:txBody>
      </p:sp>
      <p:sp>
        <p:nvSpPr>
          <p:cNvPr id="16" name="FCard3"/>
          <p:cNvSpPr/>
          <p:nvPr/>
        </p:nvSpPr>
        <p:spPr>
          <a:xfrm>
            <a:off x="9017000" y="2344057"/>
            <a:ext cx="2540000" cy="2924629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4899">
                <a:alpha val="30000"/>
              </a:srgbClr>
            </a:solidFill>
          </a:ln>
          <a:effectLst>
            <a:outerShdw blurRad="25400" dist="12700" dir="5400000">
              <a:srgbClr val="000000">
                <a:alpha val="6000"/>
              </a:srgbClr>
            </a:outerShdw>
          </a:effectLst>
        </p:spPr>
        <p:txBody>
          <a:bodyPr wrap="square" lIns="72000" tIns="270000" rIns="72000" bIns="36576" anchor="t"/>
          <a:lstStyle/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Meta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Strengths</a:t>
            </a:r>
          </a:p>
          <a:p>
            <a:pPr>
              <a:buNone/>
            </a:pPr>
            <a:r>
              <a:rPr lang="en-US" sz="1400" dirty="0">
                <a:solidFill>
                  <a:srgbClr val="2D3E5F"/>
                </a:solidFill>
              </a:rPr>
              <a:t>Open-weight, massive community, customizable</a:t>
            </a:r>
          </a:p>
          <a:p>
            <a:pPr>
              <a:buNone/>
            </a:pPr>
            <a:r>
              <a:rPr lang="en-US" sz="1400" b="1" dirty="0">
                <a:solidFill>
                  <a:srgbClr val="1B2A4A"/>
                </a:solidFill>
              </a:rPr>
              <a:t>Flagship: </a:t>
            </a:r>
            <a:r>
              <a:rPr lang="en-US" sz="1400" dirty="0">
                <a:solidFill>
                  <a:srgbClr val="EC4899"/>
                </a:solidFill>
              </a:rPr>
              <a:t>Llama 4 Scout / Maverick</a:t>
            </a:r>
          </a:p>
        </p:txBody>
      </p:sp>
      <p:sp>
        <p:nvSpPr>
          <p:cNvPr id="17" name="Header3"/>
          <p:cNvSpPr/>
          <p:nvPr/>
        </p:nvSpPr>
        <p:spPr>
          <a:xfrm>
            <a:off x="9017000" y="1778000"/>
            <a:ext cx="2540000" cy="698500"/>
          </a:xfrm>
          <a:prstGeom prst="roundRect">
            <a:avLst>
              <a:gd name="adj" fmla="val 8000"/>
            </a:avLst>
          </a:prstGeom>
          <a:solidFill>
            <a:srgbClr val="C2185B"/>
          </a:solidFill>
          <a:ln>
            <a:noFill/>
          </a:ln>
        </p:spPr>
        <p:txBody>
          <a:bodyPr wrap="square" lIns="72000" tIns="0" rIns="7200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LLaMA</a:t>
            </a:r>
          </a:p>
        </p:txBody>
      </p:sp>
      <p:sp>
        <p:nvSpPr>
          <p:cNvPr id="18" name="BottomNote"/>
          <p:cNvSpPr/>
          <p:nvPr/>
        </p:nvSpPr>
        <p:spPr>
          <a:xfrm>
            <a:off x="635000" y="5588000"/>
            <a:ext cx="10922000" cy="7620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</p:spPr>
        <p:txBody>
          <a:bodyPr wrap="square" lIns="91440" rIns="91440" anchor="ctr"/>
          <a:lstStyle/>
          <a:p>
            <a:pPr algn="ctr">
              <a:buNone/>
            </a:pPr>
            <a:r>
              <a:rPr lang="en-US" sz="1500" dirty="0">
                <a:solidFill>
                  <a:srgbClr val="F59E0B"/>
                </a:solidFill>
              </a:rPr>
              <a:t>Also major in 2026: </a:t>
            </a:r>
            <a:r>
              <a:rPr lang="en-US" sz="1500" b="1" dirty="0">
                <a:solidFill>
                  <a:srgbClr val="FFFFFF"/>
                </a:solidFill>
              </a:rPr>
              <a:t>DeepSeek V4</a:t>
            </a:r>
            <a:r>
              <a:rPr lang="en-US" sz="1500" dirty="0">
                <a:solidFill>
                  <a:srgbClr val="F7F5F0"/>
                </a:solidFill>
              </a:rPr>
              <a:t> | </a:t>
            </a:r>
            <a:r>
              <a:rPr lang="en-US" sz="1500" b="1" dirty="0">
                <a:solidFill>
                  <a:srgbClr val="FFFFFF"/>
                </a:solidFill>
              </a:rPr>
              <a:t>Grok 4</a:t>
            </a:r>
            <a:r>
              <a:rPr lang="en-US" sz="1500" dirty="0">
                <a:solidFill>
                  <a:srgbClr val="F7F5F0"/>
                </a:solidFill>
              </a:rPr>
              <a:t> | </a:t>
            </a:r>
            <a:r>
              <a:rPr lang="en-US" sz="1500" b="1" dirty="0">
                <a:solidFill>
                  <a:srgbClr val="FFFFFF"/>
                </a:solidFill>
              </a:rPr>
              <a:t>Qwen 3.5</a:t>
            </a:r>
            <a:r>
              <a:rPr lang="en-US" sz="1500" dirty="0">
                <a:solidFill>
                  <a:srgbClr val="F7F5F0"/>
                </a:solidFill>
              </a:rPr>
              <a:t> | </a:t>
            </a:r>
            <a:r>
              <a:rPr lang="en-US" sz="1500" b="1" dirty="0">
                <a:solidFill>
                  <a:srgbClr val="FFFFFF"/>
                </a:solidFill>
              </a:rPr>
              <a:t>Mistral</a:t>
            </a:r>
            <a:r>
              <a:rPr lang="en-US" sz="1500" dirty="0">
                <a:solidFill>
                  <a:srgbClr val="F7F5F0"/>
                </a:solidFill>
              </a:rPr>
              <a:t> | </a:t>
            </a:r>
            <a:r>
              <a:rPr lang="en-US" sz="1500" b="1" dirty="0">
                <a:solidFill>
                  <a:srgbClr val="FFFFFF"/>
                </a:solidFill>
              </a:rPr>
              <a:t>Kimi K2.6</a:t>
            </a:r>
          </a:p>
        </p:txBody>
      </p:sp>
    </p:spTree>
    <p:extLst>
      <p:ext uri="{BB962C8B-B14F-4D97-AF65-F5344CB8AC3E}">
        <p14:creationId xmlns:p14="http://schemas.microsoft.com/office/powerpoint/2010/main" val="728989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1A714-16A2-8ED4-6D7C-354E370D9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Real-World Applications</a:t>
            </a:r>
          </a:p>
        </p:txBody>
      </p:sp>
      <p:pic>
        <p:nvPicPr>
          <p:cNvPr id="3" name="Graphic 3" descr="Cod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" y="1879600"/>
            <a:ext cx="457200" cy="457200"/>
          </a:xfrm>
          <a:prstGeom prst="rect">
            <a:avLst/>
          </a:prstGeom>
        </p:spPr>
      </p:pic>
      <p:pic>
        <p:nvPicPr>
          <p:cNvPr id="4" name="Graphic 4" descr="Writing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24400" y="1879600"/>
            <a:ext cx="457200" cy="457200"/>
          </a:xfrm>
          <a:prstGeom prst="rect">
            <a:avLst/>
          </a:prstGeom>
        </p:spPr>
      </p:pic>
      <p:pic>
        <p:nvPicPr>
          <p:cNvPr id="5" name="Graphic 5" descr="Search/research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7400" y="1879600"/>
            <a:ext cx="457200" cy="457200"/>
          </a:xfrm>
          <a:prstGeom prst="rect">
            <a:avLst/>
          </a:prstGeom>
        </p:spPr>
      </p:pic>
      <p:pic>
        <p:nvPicPr>
          <p:cNvPr id="6" name="Graphic 6" descr="Educatio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1400" y="3911600"/>
            <a:ext cx="457200" cy="457200"/>
          </a:xfrm>
          <a:prstGeom prst="rect">
            <a:avLst/>
          </a:prstGeom>
        </p:spPr>
      </p:pic>
      <p:pic>
        <p:nvPicPr>
          <p:cNvPr id="7" name="Graphic 7" descr="Customer servic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724400" y="3911600"/>
            <a:ext cx="457200" cy="457200"/>
          </a:xfrm>
          <a:prstGeom prst="rect">
            <a:avLst/>
          </a:prstGeom>
        </p:spPr>
      </p:pic>
      <p:pic>
        <p:nvPicPr>
          <p:cNvPr id="8" name="Graphic 8" descr="Healthcar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7400" y="3911600"/>
            <a:ext cx="457200" cy="457200"/>
          </a:xfrm>
          <a:prstGeom prst="rect">
            <a:avLst/>
          </a:prstGeom>
        </p:spPr>
      </p:pic>
      <p:sp>
        <p:nvSpPr>
          <p:cNvPr id="60" name="AppCard60"/>
          <p:cNvSpPr/>
          <p:nvPr/>
        </p:nvSpPr>
        <p:spPr>
          <a:xfrm>
            <a:off x="635000" y="2387600"/>
            <a:ext cx="330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</a:ln>
        </p:spPr>
        <p:txBody>
          <a:bodyPr wrap="square" lIns="72000" tIns="54000" rIns="72000" bIns="36576" anchor="t"/>
          <a:lstStyle/>
          <a:p>
            <a:pPr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Coding Assistance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GitHub Copilot, debugging, code review, documentation generation</a:t>
            </a:r>
          </a:p>
        </p:txBody>
      </p:sp>
      <p:sp>
        <p:nvSpPr>
          <p:cNvPr id="61" name="AppCard61"/>
          <p:cNvSpPr/>
          <p:nvPr/>
        </p:nvSpPr>
        <p:spPr>
          <a:xfrm>
            <a:off x="4318000" y="2387600"/>
            <a:ext cx="330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>
                <a:alpha val="20000"/>
              </a:srgbClr>
            </a:solidFill>
          </a:ln>
        </p:spPr>
        <p:txBody>
          <a:bodyPr wrap="square" lIns="72000" tIns="54000" rIns="72000" bIns="36576" anchor="t"/>
          <a:lstStyle/>
          <a:p>
            <a:pPr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Content Creation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Blog posts, marketing copy, translations, summarization</a:t>
            </a:r>
          </a:p>
        </p:txBody>
      </p:sp>
      <p:sp>
        <p:nvSpPr>
          <p:cNvPr id="62" name="AppCard62"/>
          <p:cNvSpPr/>
          <p:nvPr/>
        </p:nvSpPr>
        <p:spPr>
          <a:xfrm>
            <a:off x="8001000" y="2387600"/>
            <a:ext cx="330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366F1">
                <a:alpha val="20000"/>
              </a:srgbClr>
            </a:solidFill>
          </a:ln>
        </p:spPr>
        <p:txBody>
          <a:bodyPr wrap="square" lIns="72000" tIns="54000" rIns="72000" bIns="36576" anchor="t"/>
          <a:lstStyle/>
          <a:p>
            <a:pPr algn="ctr">
              <a:buNone/>
            </a:pPr>
            <a:r>
              <a:rPr lang="en-US" sz="1600" b="1" dirty="0">
                <a:solidFill>
                  <a:srgbClr val="6366F1"/>
                </a:solidFill>
              </a:rPr>
              <a:t>Research &amp; Analysis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Literature review, data analysis, report generation</a:t>
            </a:r>
          </a:p>
        </p:txBody>
      </p:sp>
      <p:sp>
        <p:nvSpPr>
          <p:cNvPr id="63" name="AppCard63"/>
          <p:cNvSpPr/>
          <p:nvPr/>
        </p:nvSpPr>
        <p:spPr>
          <a:xfrm>
            <a:off x="635000" y="4419600"/>
            <a:ext cx="330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4899">
                <a:alpha val="20000"/>
              </a:srgbClr>
            </a:solidFill>
          </a:ln>
        </p:spPr>
        <p:txBody>
          <a:bodyPr wrap="square" lIns="72000" tIns="54000" rIns="72000" bIns="36576" anchor="t"/>
          <a:lstStyle/>
          <a:p>
            <a:pPr algn="ctr">
              <a:buNone/>
            </a:pPr>
            <a:r>
              <a:rPr lang="en-US" sz="1600" b="1" dirty="0">
                <a:solidFill>
                  <a:srgbClr val="EC4899"/>
                </a:solidFill>
              </a:rPr>
              <a:t>Education &amp; Tutoring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Personalized learning, homework help, language practice</a:t>
            </a:r>
          </a:p>
        </p:txBody>
      </p:sp>
      <p:sp>
        <p:nvSpPr>
          <p:cNvPr id="64" name="AppCard64"/>
          <p:cNvSpPr/>
          <p:nvPr/>
        </p:nvSpPr>
        <p:spPr>
          <a:xfrm>
            <a:off x="4318000" y="4419600"/>
            <a:ext cx="330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>
                <a:alpha val="20000"/>
              </a:srgbClr>
            </a:solidFill>
          </a:ln>
        </p:spPr>
        <p:txBody>
          <a:bodyPr wrap="square" lIns="72000" tIns="54000" rIns="72000" bIns="36576" anchor="t"/>
          <a:lstStyle/>
          <a:p>
            <a:pPr algn="ctr">
              <a:buNone/>
            </a:pPr>
            <a:r>
              <a:rPr lang="en-US" sz="1600" b="1" dirty="0">
                <a:solidFill>
                  <a:srgbClr val="0D9488"/>
                </a:solidFill>
              </a:rPr>
              <a:t>Customer Support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Chatbots, ticket routing, FAQ automation, sentiment analysis</a:t>
            </a:r>
          </a:p>
        </p:txBody>
      </p:sp>
      <p:sp>
        <p:nvSpPr>
          <p:cNvPr id="65" name="AppCard65"/>
          <p:cNvSpPr/>
          <p:nvPr/>
        </p:nvSpPr>
        <p:spPr>
          <a:xfrm>
            <a:off x="8001000" y="4419600"/>
            <a:ext cx="3302000" cy="1397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>
                <a:alpha val="20000"/>
              </a:srgbClr>
            </a:solidFill>
          </a:ln>
        </p:spPr>
        <p:txBody>
          <a:bodyPr wrap="square" lIns="72000" tIns="54000" rIns="72000" bIns="36576" anchor="t"/>
          <a:lstStyle/>
          <a:p>
            <a:pPr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Healthcare</a:t>
            </a:r>
          </a:p>
          <a:p>
            <a:pPr algn="ctr">
              <a:buNone/>
            </a:pPr>
            <a:r>
              <a:rPr lang="en-US" sz="1400" dirty="0">
                <a:solidFill>
                  <a:srgbClr val="2D3E5F"/>
                </a:solidFill>
              </a:rPr>
              <a:t>Medical notes, drug interaction checks, patient triage assistance</a:t>
            </a:r>
          </a:p>
        </p:txBody>
      </p:sp>
      <p:sp>
        <p:nvSpPr>
          <p:cNvPr id="66" name="Insight"/>
          <p:cNvSpPr/>
          <p:nvPr/>
        </p:nvSpPr>
        <p:spPr>
          <a:xfrm>
            <a:off x="635000" y="6032500"/>
            <a:ext cx="10922000" cy="406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n-US" sz="1500" i="1" dirty="0">
                <a:solidFill>
                  <a:srgbClr val="0D9488"/>
                </a:solidFill>
              </a:rPr>
              <a:t>LLMs are becoming the "universal interface" between humans and information.</a:t>
            </a:r>
          </a:p>
        </p:txBody>
      </p:sp>
    </p:spTree>
    <p:extLst>
      <p:ext uri="{BB962C8B-B14F-4D97-AF65-F5344CB8AC3E}">
        <p14:creationId xmlns:p14="http://schemas.microsoft.com/office/powerpoint/2010/main" val="17364356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0A03E-4E46-FC86-7335-77414BFC5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The Scale Story</a:t>
            </a:r>
          </a:p>
        </p:txBody>
      </p:sp>
      <p:graphicFrame>
        <p:nvGraphicFramePr>
          <p:cNvPr id="101" name="Chart 1"/>
          <p:cNvGraphicFramePr/>
          <p:nvPr/>
        </p:nvGraphicFramePr>
        <p:xfrm>
          <a:off x="635000" y="1651000"/>
          <a:ext cx="7112000" cy="469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0" name="ScaleCallout"/>
          <p:cNvSpPr/>
          <p:nvPr/>
        </p:nvSpPr>
        <p:spPr>
          <a:xfrm>
            <a:off x="8001000" y="1778000"/>
            <a:ext cx="3556000" cy="444500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>
            <a:noFill/>
          </a:ln>
        </p:spPr>
        <p:txBody>
          <a:bodyPr wrap="square" lIns="72000" tIns="72000" rIns="72000" bIns="36576" anchor="t"/>
          <a:lstStyle/>
          <a:p>
            <a:pPr algn="ctr">
              <a:buNone/>
            </a:pPr>
            <a:r>
              <a:rPr lang="en-US" sz="1600" b="1" dirty="0">
                <a:solidFill>
                  <a:srgbClr val="F59E0B"/>
                </a:solidFill>
              </a:rPr>
              <a:t>2026 Insight</a:t>
            </a:r>
          </a:p>
          <a:p>
            <a:pPr>
              <a:buNone/>
            </a:pPr>
            <a:r>
              <a:rPr lang="en-US" sz="1400" dirty="0">
                <a:solidFill>
                  <a:srgbClr val="F7F5F0"/>
                </a:solidFill>
              </a:rPr>
              <a:t>The trend: </a:t>
            </a:r>
            <a:r>
              <a:rPr lang="en-US" sz="1400" b="1" dirty="0">
                <a:solidFill>
                  <a:srgbClr val="0D9488"/>
                </a:solidFill>
              </a:rPr>
              <a:t>MoE = more total params, fewer active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F7F5F0"/>
                </a:solidFill>
              </a:rPr>
              <a:t>DeepSeek V4: 1.6T total / 49B active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F7F5F0"/>
                </a:solidFill>
              </a:rPr>
              <a:t>Kimi K2.6: 1T total / 32B active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F7F5F0"/>
                </a:solidFill>
              </a:rPr>
              <a:t>Qwen 3.5: 397B total / 17B active</a:t>
            </a:r>
          </a:p>
          <a:p>
            <a:pPr>
              <a:buFont typeface="Arial"/>
              <a:buChar char="•"/>
            </a:pPr>
            <a:r>
              <a:rPr lang="en-US" sz="1400" dirty="0">
                <a:solidFill>
                  <a:srgbClr val="F7F5F0"/>
                </a:solidFill>
              </a:rPr>
              <a:t>359 models tracked on leaderboards</a:t>
            </a:r>
          </a:p>
        </p:txBody>
      </p:sp>
    </p:spTree>
    <p:extLst>
      <p:ext uri="{BB962C8B-B14F-4D97-AF65-F5344CB8AC3E}">
        <p14:creationId xmlns:p14="http://schemas.microsoft.com/office/powerpoint/2010/main" val="4281851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498DE-EB14-23C3-3AB4-224F9E89E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Prompt Engineering Tips</a:t>
            </a:r>
          </a:p>
        </p:txBody>
      </p:sp>
      <p:sp>
        <p:nvSpPr>
          <p:cNvPr id="10" name="TipCard0"/>
          <p:cNvSpPr/>
          <p:nvPr/>
        </p:nvSpPr>
        <p:spPr>
          <a:xfrm>
            <a:off x="635000" y="1714500"/>
            <a:ext cx="3556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>
                <a:alpha val="30000"/>
              </a:srgbClr>
            </a:solidFill>
          </a:ln>
        </p:spPr>
        <p:txBody>
          <a:bodyPr wrap="square" lIns="560000" tIns="54000" rIns="54000" bIns="36576" anchor="t"/>
          <a:lstStyle/>
          <a:p>
            <a:pPr>
              <a:buNone/>
            </a:pPr>
            <a:r>
              <a:rPr lang="en-US" sz="1600" b="1" dirty="0">
                <a:solidFill>
                  <a:srgbClr val="0D9488"/>
                </a:solidFill>
              </a:rPr>
              <a:t>Be Specific</a:t>
            </a:r>
          </a:p>
          <a:p>
            <a:pPr>
              <a:buNone/>
            </a:pPr>
            <a:r>
              <a:rPr lang="en-US" sz="1200" dirty="0">
                <a:solidFill>
                  <a:srgbClr val="2D3E5F"/>
                </a:solidFill>
              </a:rPr>
              <a:t>Instead of 'Write about dogs', try 'Write a 200-word blog intro about Golden Retriever training tips for first-time owners'</a:t>
            </a:r>
          </a:p>
        </p:txBody>
      </p:sp>
      <p:sp>
        <p:nvSpPr>
          <p:cNvPr id="11" name="Num0"/>
          <p:cNvSpPr/>
          <p:nvPr/>
        </p:nvSpPr>
        <p:spPr>
          <a:xfrm>
            <a:off x="736600" y="1816100"/>
            <a:ext cx="355600" cy="3556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ipCard1"/>
          <p:cNvSpPr/>
          <p:nvPr/>
        </p:nvSpPr>
        <p:spPr>
          <a:xfrm>
            <a:off x="4381500" y="1714500"/>
            <a:ext cx="3556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366F1">
                <a:alpha val="30000"/>
              </a:srgbClr>
            </a:solidFill>
          </a:ln>
        </p:spPr>
        <p:txBody>
          <a:bodyPr wrap="square" lIns="560000" tIns="54000" rIns="54000" bIns="36576" anchor="t"/>
          <a:lstStyle/>
          <a:p>
            <a:pPr>
              <a:buNone/>
            </a:pPr>
            <a:r>
              <a:rPr lang="en-US" sz="1600" b="1" dirty="0">
                <a:solidFill>
                  <a:srgbClr val="6366F1"/>
                </a:solidFill>
              </a:rPr>
              <a:t>Assign a Role</a:t>
            </a:r>
          </a:p>
          <a:p>
            <a:pPr>
              <a:buNone/>
            </a:pPr>
            <a:r>
              <a:rPr lang="en-US" sz="1200" dirty="0">
                <a:solidFill>
                  <a:srgbClr val="2D3E5F"/>
                </a:solidFill>
              </a:rPr>
              <a:t>"You are an experienced data scientist. Explain regression analysis to a marketing team with no stats background."</a:t>
            </a:r>
          </a:p>
        </p:txBody>
      </p:sp>
      <p:sp>
        <p:nvSpPr>
          <p:cNvPr id="13" name="Num1"/>
          <p:cNvSpPr/>
          <p:nvPr/>
        </p:nvSpPr>
        <p:spPr>
          <a:xfrm>
            <a:off x="4483100" y="1816100"/>
            <a:ext cx="355600" cy="3556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ipCard2"/>
          <p:cNvSpPr/>
          <p:nvPr/>
        </p:nvSpPr>
        <p:spPr>
          <a:xfrm>
            <a:off x="8128000" y="1714500"/>
            <a:ext cx="3556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59E0B">
                <a:alpha val="30000"/>
              </a:srgbClr>
            </a:solidFill>
          </a:ln>
        </p:spPr>
        <p:txBody>
          <a:bodyPr wrap="square" lIns="560000" tIns="54000" rIns="54000" bIns="36576" anchor="t"/>
          <a:lstStyle/>
          <a:p>
            <a:pPr>
              <a:buNone/>
            </a:pPr>
            <a:r>
              <a:rPr lang="en-US" sz="1600" b="1" dirty="0">
                <a:solidFill>
                  <a:srgbClr val="F59E0B"/>
                </a:solidFill>
              </a:rPr>
              <a:t>Give Examples</a:t>
            </a:r>
          </a:p>
          <a:p>
            <a:pPr>
              <a:buNone/>
            </a:pPr>
            <a:r>
              <a:rPr lang="en-US" sz="1200" dirty="0">
                <a:solidFill>
                  <a:srgbClr val="2D3E5F"/>
                </a:solidFill>
              </a:rPr>
              <a:t>Show the format you want. "Convert to bullet points like this: • Key point - detail"</a:t>
            </a:r>
          </a:p>
        </p:txBody>
      </p:sp>
      <p:sp>
        <p:nvSpPr>
          <p:cNvPr id="15" name="Num2"/>
          <p:cNvSpPr/>
          <p:nvPr/>
        </p:nvSpPr>
        <p:spPr>
          <a:xfrm>
            <a:off x="8229600" y="1816100"/>
            <a:ext cx="355600" cy="3556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ipCard3"/>
          <p:cNvSpPr/>
          <p:nvPr/>
        </p:nvSpPr>
        <p:spPr>
          <a:xfrm>
            <a:off x="635000" y="3175000"/>
            <a:ext cx="3556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C4899">
                <a:alpha val="30000"/>
              </a:srgbClr>
            </a:solidFill>
          </a:ln>
        </p:spPr>
        <p:txBody>
          <a:bodyPr wrap="square" lIns="560000" tIns="54000" rIns="54000" bIns="36576" anchor="t"/>
          <a:lstStyle/>
          <a:p>
            <a:pPr>
              <a:buNone/>
            </a:pPr>
            <a:r>
              <a:rPr lang="en-US" sz="1600" b="1" dirty="0">
                <a:solidFill>
                  <a:srgbClr val="EC4899"/>
                </a:solidFill>
              </a:rPr>
              <a:t>Break It Down</a:t>
            </a:r>
          </a:p>
          <a:p>
            <a:pPr>
              <a:buNone/>
            </a:pPr>
            <a:r>
              <a:rPr lang="en-US" sz="1200" dirty="0">
                <a:solidFill>
                  <a:srgbClr val="2D3E5F"/>
                </a:solidFill>
              </a:rPr>
              <a:t>Complex tasks work better step by step. "First outline, then draft section 1, then review for tone."</a:t>
            </a:r>
          </a:p>
        </p:txBody>
      </p:sp>
      <p:sp>
        <p:nvSpPr>
          <p:cNvPr id="17" name="Num3"/>
          <p:cNvSpPr/>
          <p:nvPr/>
        </p:nvSpPr>
        <p:spPr>
          <a:xfrm>
            <a:off x="736600" y="3276600"/>
            <a:ext cx="355600" cy="35560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ipCard4"/>
          <p:cNvSpPr/>
          <p:nvPr/>
        </p:nvSpPr>
        <p:spPr>
          <a:xfrm>
            <a:off x="4381500" y="3175000"/>
            <a:ext cx="3556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D9488">
                <a:alpha val="30000"/>
              </a:srgbClr>
            </a:solidFill>
          </a:ln>
        </p:spPr>
        <p:txBody>
          <a:bodyPr wrap="square" lIns="560000" tIns="54000" rIns="54000" bIns="36576" anchor="t"/>
          <a:lstStyle/>
          <a:p>
            <a:pPr>
              <a:buNone/>
            </a:pPr>
            <a:r>
              <a:rPr lang="en-US" sz="1600" b="1" dirty="0">
                <a:solidFill>
                  <a:srgbClr val="0D9488"/>
                </a:solidFill>
              </a:rPr>
              <a:t>Set Constraints</a:t>
            </a:r>
          </a:p>
          <a:p>
            <a:pPr>
              <a:buNone/>
            </a:pPr>
            <a:r>
              <a:rPr lang="en-US" sz="1200" dirty="0">
                <a:solidFill>
                  <a:srgbClr val="2D3E5F"/>
                </a:solidFill>
              </a:rPr>
              <a:t>"Respond in under 100 words. Use simple language. Avoid jargon. Format as a numbered list."</a:t>
            </a:r>
          </a:p>
        </p:txBody>
      </p:sp>
      <p:sp>
        <p:nvSpPr>
          <p:cNvPr id="19" name="Num4"/>
          <p:cNvSpPr/>
          <p:nvPr/>
        </p:nvSpPr>
        <p:spPr>
          <a:xfrm>
            <a:off x="4483100" y="3276600"/>
            <a:ext cx="355600" cy="3556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TipCard5"/>
          <p:cNvSpPr/>
          <p:nvPr/>
        </p:nvSpPr>
        <p:spPr>
          <a:xfrm>
            <a:off x="8128000" y="3175000"/>
            <a:ext cx="3556000" cy="127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6366F1">
                <a:alpha val="30000"/>
              </a:srgbClr>
            </a:solidFill>
          </a:ln>
        </p:spPr>
        <p:txBody>
          <a:bodyPr wrap="square" lIns="560000" tIns="54000" rIns="54000" bIns="36576" anchor="t"/>
          <a:lstStyle/>
          <a:p>
            <a:pPr>
              <a:buNone/>
            </a:pPr>
            <a:r>
              <a:rPr lang="en-US" sz="1600" b="1" dirty="0">
                <a:solidFill>
                  <a:srgbClr val="6366F1"/>
                </a:solidFill>
              </a:rPr>
              <a:t>Iterate &amp; Refine</a:t>
            </a:r>
          </a:p>
          <a:p>
            <a:pPr>
              <a:buNone/>
            </a:pPr>
            <a:r>
              <a:rPr lang="en-US" sz="1200" dirty="0">
                <a:solidFill>
                  <a:srgbClr val="2D3E5F"/>
                </a:solidFill>
              </a:rPr>
              <a:t>Treat it as a conversation. "Good, but make it more formal" or "Add specific data points."</a:t>
            </a:r>
          </a:p>
        </p:txBody>
      </p:sp>
      <p:sp>
        <p:nvSpPr>
          <p:cNvPr id="21" name="Num5"/>
          <p:cNvSpPr/>
          <p:nvPr/>
        </p:nvSpPr>
        <p:spPr>
          <a:xfrm>
            <a:off x="8229600" y="3276600"/>
            <a:ext cx="355600" cy="3556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2" name="ProTip"/>
          <p:cNvSpPr/>
          <p:nvPr/>
        </p:nvSpPr>
        <p:spPr>
          <a:xfrm>
            <a:off x="635000" y="4635500"/>
            <a:ext cx="10922000" cy="698500"/>
          </a:xfrm>
          <a:prstGeom prst="roundRect">
            <a:avLst>
              <a:gd name="adj" fmla="val 10000"/>
            </a:avLst>
          </a:prstGeom>
          <a:solidFill>
            <a:srgbClr val="0D9488">
              <a:alpha val="10000"/>
            </a:srgbClr>
          </a:solidFill>
          <a:ln w="12700">
            <a:solidFill>
              <a:srgbClr val="0D9488">
                <a:alpha val="30000"/>
              </a:srgbClr>
            </a:solidFill>
          </a:ln>
        </p:spPr>
        <p:txBody>
          <a:bodyPr wrap="square" lIns="91440" rIns="91440" anchor="ctr"/>
          <a:lstStyle/>
          <a:p>
            <a:pPr algn="ctr">
              <a:buNone/>
            </a:pPr>
            <a:r>
              <a:rPr lang="en-US" sz="1500" b="1" dirty="0">
                <a:solidFill>
                  <a:srgbClr val="0D9488"/>
                </a:solidFill>
              </a:rPr>
              <a:t>Pro Tip: </a:t>
            </a:r>
            <a:r>
              <a:rPr lang="en-US" sz="1500" dirty="0">
                <a:solidFill>
                  <a:srgbClr val="1B2A4A"/>
                </a:solidFill>
              </a:rPr>
              <a:t>The best prompt engineers don't write perfect prompts. They </a:t>
            </a:r>
            <a:r>
              <a:rPr lang="en-US" sz="1500" b="1" dirty="0">
                <a:solidFill>
                  <a:srgbClr val="0D9488"/>
                </a:solidFill>
              </a:rPr>
              <a:t>iterate quickly</a:t>
            </a:r>
            <a:r>
              <a:rPr lang="en-US" sz="1500" dirty="0">
                <a:solidFill>
                  <a:srgbClr val="1B2A4A"/>
                </a:solidFill>
              </a:rPr>
              <a:t>.</a:t>
            </a:r>
          </a:p>
        </p:txBody>
      </p:sp>
      <p:sp>
        <p:nvSpPr>
          <p:cNvPr id="23" name="ExBefore"/>
          <p:cNvSpPr/>
          <p:nvPr/>
        </p:nvSpPr>
        <p:spPr>
          <a:xfrm>
            <a:off x="635000" y="5524500"/>
            <a:ext cx="5334000" cy="889000"/>
          </a:xfrm>
          <a:prstGeom prst="roundRect">
            <a:avLst>
              <a:gd name="adj" fmla="val 5000"/>
            </a:avLst>
          </a:prstGeom>
          <a:solidFill>
            <a:srgbClr val="EC4899">
              <a:alpha val="8000"/>
            </a:srgbClr>
          </a:solidFill>
          <a:ln w="9525">
            <a:solidFill>
              <a:srgbClr val="EC4899">
                <a:alpha val="30000"/>
              </a:srgbClr>
            </a:solidFill>
          </a:ln>
        </p:spPr>
        <p:txBody>
          <a:bodyPr wrap="square" lIns="72000" rIns="72000" anchor="ctr"/>
          <a:lstStyle/>
          <a:p>
            <a:pPr>
              <a:buNone/>
            </a:pPr>
            <a:r>
              <a:rPr lang="en-US" sz="1400" b="1" dirty="0">
                <a:solidFill>
                  <a:srgbClr val="EC4899"/>
                </a:solidFill>
              </a:rPr>
              <a:t>❌ Weak: </a:t>
            </a:r>
            <a:r>
              <a:rPr lang="en-US" sz="1400" dirty="0">
                <a:solidFill>
                  <a:srgbClr val="2D3E5F"/>
                </a:solidFill>
              </a:rPr>
              <a:t>"Tell me about marketing"</a:t>
            </a:r>
          </a:p>
        </p:txBody>
      </p:sp>
      <p:sp>
        <p:nvSpPr>
          <p:cNvPr id="24" name="ExAfter"/>
          <p:cNvSpPr/>
          <p:nvPr/>
        </p:nvSpPr>
        <p:spPr>
          <a:xfrm>
            <a:off x="6223000" y="5524500"/>
            <a:ext cx="5334000" cy="889000"/>
          </a:xfrm>
          <a:prstGeom prst="roundRect">
            <a:avLst>
              <a:gd name="adj" fmla="val 5000"/>
            </a:avLst>
          </a:prstGeom>
          <a:solidFill>
            <a:srgbClr val="0D9488">
              <a:alpha val="8000"/>
            </a:srgbClr>
          </a:solidFill>
          <a:ln w="9525">
            <a:solidFill>
              <a:srgbClr val="0D9488">
                <a:alpha val="30000"/>
              </a:srgbClr>
            </a:solidFill>
          </a:ln>
        </p:spPr>
        <p:txBody>
          <a:bodyPr wrap="square" lIns="72000" rIns="72000" anchor="ctr"/>
          <a:lstStyle/>
          <a:p>
            <a:pPr>
              <a:buNone/>
            </a:pPr>
            <a:r>
              <a:rPr lang="en-US" sz="1400" b="1" dirty="0">
                <a:solidFill>
                  <a:srgbClr val="0D9488"/>
                </a:solidFill>
              </a:rPr>
              <a:t>✔ Strong: </a:t>
            </a:r>
            <a:r>
              <a:rPr lang="en-US" sz="1400" dirty="0">
                <a:solidFill>
                  <a:srgbClr val="2D3E5F"/>
                </a:solidFill>
              </a:rPr>
              <a:t>"As a CMO, draft 3 LinkedIn post ideas for our B2B SaaS launch"</a:t>
            </a:r>
          </a:p>
        </p:txBody>
      </p:sp>
    </p:spTree>
    <p:extLst>
      <p:ext uri="{BB962C8B-B14F-4D97-AF65-F5344CB8AC3E}">
        <p14:creationId xmlns:p14="http://schemas.microsoft.com/office/powerpoint/2010/main" val="18631583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A59BB-FA6A-8AA0-A792-49125CF7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/>
              <a:t>Key Takeaways</a:t>
            </a:r>
          </a:p>
        </p:txBody>
      </p:sp>
      <p:sp>
        <p:nvSpPr>
          <p:cNvPr id="10" name="TK0"/>
          <p:cNvSpPr/>
          <p:nvPr/>
        </p:nvSpPr>
        <p:spPr>
          <a:xfrm>
            <a:off x="635000" y="1714500"/>
            <a:ext cx="10922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>
                <a:alpha val="25000"/>
              </a:srgbClr>
            </a:solidFill>
          </a:ln>
        </p:spPr>
        <p:txBody>
          <a:bodyPr wrap="square" lIns="685800" tIns="36576" rIns="72000" bIns="36576" anchor="ctr"/>
          <a:lstStyle/>
          <a:p>
            <a:pPr>
              <a:buNone/>
            </a:pPr>
            <a:r>
              <a:rPr lang="en-US" sz="1600" b="1" dirty="0">
                <a:solidFill>
                  <a:srgbClr val="0D9488"/>
                </a:solidFill>
              </a:rPr>
              <a:t>LLMs predict the next word</a:t>
            </a:r>
            <a:r>
              <a:rPr lang="en-US" sz="1600" dirty="0">
                <a:solidFill>
                  <a:srgbClr val="2D3E5F"/>
                </a:solidFill>
              </a:rPr>
              <a:t>  —  </a:t>
            </a:r>
            <a:r>
              <a:rPr lang="en-US" sz="1400" dirty="0">
                <a:solidFill>
                  <a:srgbClr val="2D3E5F"/>
                </a:solidFill>
              </a:rPr>
              <a:t>They don't "think" or "understand" — they find patterns in massive datasets to generate plausible text.</a:t>
            </a:r>
          </a:p>
        </p:txBody>
      </p:sp>
      <p:sp>
        <p:nvSpPr>
          <p:cNvPr id="11" name="TKN0"/>
          <p:cNvSpPr/>
          <p:nvPr/>
        </p:nvSpPr>
        <p:spPr>
          <a:xfrm>
            <a:off x="762000" y="1841500"/>
            <a:ext cx="457200" cy="4572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TK1"/>
          <p:cNvSpPr/>
          <p:nvPr/>
        </p:nvSpPr>
        <p:spPr>
          <a:xfrm>
            <a:off x="635000" y="2552700"/>
            <a:ext cx="10922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366F1">
                <a:alpha val="25000"/>
              </a:srgbClr>
            </a:solidFill>
          </a:ln>
        </p:spPr>
        <p:txBody>
          <a:bodyPr wrap="square" lIns="685800" tIns="36576" rIns="72000" bIns="36576" anchor="ctr"/>
          <a:lstStyle/>
          <a:p>
            <a:pPr>
              <a:buNone/>
            </a:pPr>
            <a:r>
              <a:rPr lang="en-US" sz="1600" b="1" dirty="0">
                <a:solidFill>
                  <a:srgbClr val="6366F1"/>
                </a:solidFill>
              </a:rPr>
              <a:t>Scale matters, but so does quality</a:t>
            </a:r>
            <a:r>
              <a:rPr lang="en-US" sz="1600" dirty="0">
                <a:solidFill>
                  <a:srgbClr val="2D3E5F"/>
                </a:solidFill>
              </a:rPr>
              <a:t>  —  </a:t>
            </a:r>
            <a:r>
              <a:rPr lang="en-US" sz="1400" dirty="0">
                <a:solidFill>
                  <a:srgbClr val="2D3E5F"/>
                </a:solidFill>
              </a:rPr>
              <a:t>Bigger models opened new capabilities, but better data and training methods are the new frontier.</a:t>
            </a:r>
          </a:p>
        </p:txBody>
      </p:sp>
      <p:sp>
        <p:nvSpPr>
          <p:cNvPr id="13" name="TKN1"/>
          <p:cNvSpPr/>
          <p:nvPr/>
        </p:nvSpPr>
        <p:spPr>
          <a:xfrm>
            <a:off x="762000" y="26797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K2"/>
          <p:cNvSpPr/>
          <p:nvPr/>
        </p:nvSpPr>
        <p:spPr>
          <a:xfrm>
            <a:off x="635000" y="3390900"/>
            <a:ext cx="10922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>
                <a:alpha val="25000"/>
              </a:srgbClr>
            </a:solidFill>
          </a:ln>
        </p:spPr>
        <p:txBody>
          <a:bodyPr wrap="square" lIns="685800" tIns="36576" rIns="72000" bIns="36576" anchor="ctr"/>
          <a:lstStyle/>
          <a:p>
            <a:pPr>
              <a:buNone/>
            </a:pPr>
            <a:r>
              <a:rPr lang="en-US" sz="1600" b="1" dirty="0">
                <a:solidFill>
                  <a:srgbClr val="F59E0B"/>
                </a:solidFill>
              </a:rPr>
              <a:t>Know the limitations</a:t>
            </a:r>
            <a:r>
              <a:rPr lang="en-US" sz="1600" dirty="0">
                <a:solidFill>
                  <a:srgbClr val="2D3E5F"/>
                </a:solidFill>
              </a:rPr>
              <a:t>  —  </a:t>
            </a:r>
            <a:r>
              <a:rPr lang="en-US" sz="1400" dirty="0">
                <a:solidFill>
                  <a:srgbClr val="2D3E5F"/>
                </a:solidFill>
              </a:rPr>
              <a:t>Hallucinations, bias, and knowledge cutoffs are real. Always verify important outputs.</a:t>
            </a:r>
          </a:p>
        </p:txBody>
      </p:sp>
      <p:sp>
        <p:nvSpPr>
          <p:cNvPr id="15" name="TKN2"/>
          <p:cNvSpPr/>
          <p:nvPr/>
        </p:nvSpPr>
        <p:spPr>
          <a:xfrm>
            <a:off x="762000" y="351790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K3"/>
          <p:cNvSpPr/>
          <p:nvPr/>
        </p:nvSpPr>
        <p:spPr>
          <a:xfrm>
            <a:off x="635000" y="4229100"/>
            <a:ext cx="10922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C4899">
                <a:alpha val="25000"/>
              </a:srgbClr>
            </a:solidFill>
          </a:ln>
        </p:spPr>
        <p:txBody>
          <a:bodyPr wrap="square" lIns="685800" tIns="36576" rIns="72000" bIns="36576" anchor="ctr"/>
          <a:lstStyle/>
          <a:p>
            <a:pPr>
              <a:buNone/>
            </a:pPr>
            <a:r>
              <a:rPr lang="en-US" sz="1600" b="1" dirty="0">
                <a:solidFill>
                  <a:srgbClr val="EC4899"/>
                </a:solidFill>
              </a:rPr>
              <a:t>Prompt quality = output quality</a:t>
            </a:r>
            <a:r>
              <a:rPr lang="en-US" sz="1600" dirty="0">
                <a:solidFill>
                  <a:srgbClr val="2D3E5F"/>
                </a:solidFill>
              </a:rPr>
              <a:t>  —  </a:t>
            </a:r>
            <a:r>
              <a:rPr lang="en-US" sz="1400" dirty="0">
                <a:solidFill>
                  <a:srgbClr val="2D3E5F"/>
                </a:solidFill>
              </a:rPr>
              <a:t>The way you ask is as important as what you ask. Invest in learning prompt engineering.</a:t>
            </a:r>
          </a:p>
        </p:txBody>
      </p:sp>
      <p:sp>
        <p:nvSpPr>
          <p:cNvPr id="17" name="TKN3"/>
          <p:cNvSpPr/>
          <p:nvPr/>
        </p:nvSpPr>
        <p:spPr>
          <a:xfrm>
            <a:off x="762000" y="4356100"/>
            <a:ext cx="457200" cy="45720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K4"/>
          <p:cNvSpPr/>
          <p:nvPr/>
        </p:nvSpPr>
        <p:spPr>
          <a:xfrm>
            <a:off x="635000" y="5067300"/>
            <a:ext cx="10922000" cy="711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>
                <a:alpha val="25000"/>
              </a:srgbClr>
            </a:solidFill>
          </a:ln>
        </p:spPr>
        <p:txBody>
          <a:bodyPr wrap="square" lIns="685800" tIns="36576" rIns="72000" bIns="36576" anchor="ctr"/>
          <a:lstStyle/>
          <a:p>
            <a:pPr>
              <a:buNone/>
            </a:pPr>
            <a:r>
              <a:rPr lang="en-US" sz="1600" b="1" dirty="0">
                <a:solidFill>
                  <a:srgbClr val="0D9488"/>
                </a:solidFill>
              </a:rPr>
              <a:t>The field moves fast</a:t>
            </a:r>
            <a:r>
              <a:rPr lang="en-US" sz="1600" dirty="0">
                <a:solidFill>
                  <a:srgbClr val="2D3E5F"/>
                </a:solidFill>
              </a:rPr>
              <a:t>  —  </a:t>
            </a:r>
            <a:r>
              <a:rPr lang="en-US" sz="1400" dirty="0">
                <a:solidFill>
                  <a:srgbClr val="2D3E5F"/>
                </a:solidFill>
              </a:rPr>
              <a:t>What's cutting-edge today will be standard tomorrow. Stay curious and keep experimenting.</a:t>
            </a:r>
          </a:p>
        </p:txBody>
      </p:sp>
      <p:sp>
        <p:nvSpPr>
          <p:cNvPr id="19" name="TKN4"/>
          <p:cNvSpPr/>
          <p:nvPr/>
        </p:nvSpPr>
        <p:spPr>
          <a:xfrm>
            <a:off x="762000" y="5194300"/>
            <a:ext cx="457200" cy="4572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0" name="Closing"/>
          <p:cNvSpPr/>
          <p:nvPr/>
        </p:nvSpPr>
        <p:spPr>
          <a:xfrm>
            <a:off x="635000" y="6032500"/>
            <a:ext cx="10922000" cy="533400"/>
          </a:xfrm>
          <a:prstGeom prst="roundRect">
            <a:avLst>
              <a:gd name="adj" fmla="val 20000"/>
            </a:avLst>
          </a:prstGeom>
          <a:solidFill>
            <a:srgbClr val="1B2A4A"/>
          </a:solidFill>
          <a:ln>
            <a:noFill/>
          </a:ln>
        </p:spPr>
        <p:txBody>
          <a:bodyPr wrap="square" lIns="91440" rIns="91440" anchor="ctr"/>
          <a:lstStyle/>
          <a:p>
            <a:pPr algn="ctr">
              <a:buNone/>
            </a:pPr>
            <a:r>
              <a:rPr lang="en-US" sz="1600" dirty="0">
                <a:solidFill>
                  <a:srgbClr val="F7F5F0"/>
                </a:solidFill>
              </a:rPr>
              <a:t>The best time to start using LLMs is </a:t>
            </a:r>
            <a:r>
              <a:rPr lang="en-US" sz="1600" b="1" dirty="0">
                <a:solidFill>
                  <a:srgbClr val="F59E0B"/>
                </a:solidFill>
              </a:rPr>
              <a:t>now</a:t>
            </a:r>
            <a:r>
              <a:rPr lang="en-US" sz="1600" dirty="0">
                <a:solidFill>
                  <a:srgbClr val="F7F5F0"/>
                </a:solidFill>
              </a:rPr>
              <a:t>. Start small, experiment, and build your intuition.</a:t>
            </a:r>
          </a:p>
        </p:txBody>
      </p:sp>
    </p:spTree>
    <p:extLst>
      <p:ext uri="{BB962C8B-B14F-4D97-AF65-F5344CB8AC3E}">
        <p14:creationId xmlns:p14="http://schemas.microsoft.com/office/powerpoint/2010/main" val="29647026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54FA81-5AA3-4035-25D5-69907D12EE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000" b="1"/>
              <a:t>Claude &amp; Claude Code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FF7999-03D1-3A00-BA13-103FBBB4C65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2000"/>
              <a:t>Anthropic's AI Assistant &amp; Agentic Coding Tool</a:t>
            </a:r>
          </a:p>
        </p:txBody>
      </p:sp>
    </p:spTree>
    <p:extLst>
      <p:ext uri="{BB962C8B-B14F-4D97-AF65-F5344CB8AC3E}">
        <p14:creationId xmlns:p14="http://schemas.microsoft.com/office/powerpoint/2010/main" val="25674672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A3431-912B-0DF7-CB5F-A52CD71F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What is Claude?</a:t>
            </a:r>
          </a:p>
        </p:txBody>
      </p:sp>
      <p:sp>
        <p:nvSpPr>
          <p:cNvPr id="10" name="DefBox"/>
          <p:cNvSpPr/>
          <p:nvPr/>
        </p:nvSpPr>
        <p:spPr>
          <a:xfrm>
            <a:off x="635000" y="1841500"/>
            <a:ext cx="10922000" cy="863600"/>
          </a:xfrm>
          <a:prstGeom prst="roundRect">
            <a:avLst>
              <a:gd name="adj" fmla="val 800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</a:ln>
        </p:spPr>
        <p:txBody>
          <a:bodyPr lIns="108000" tIns="72000" rIns="108000" bIns="72000" anchor="ctr"/>
          <a:lstStyle/>
          <a:p>
            <a:pPr algn="ctr">
              <a:buNone/>
            </a:pPr>
            <a:r>
              <a:rPr lang="en-US" sz="1600" dirty="0">
                <a:solidFill>
                  <a:srgbClr val="1B2A4A"/>
                </a:solidFill>
                <a:latin typeface="Segoe UI"/>
              </a:rPr>
              <a:t>Claude is a family of AI language models by </a:t>
            </a:r>
            <a:r>
              <a:rPr lang="en-US" sz="1600" b="1" dirty="0">
                <a:solidFill>
                  <a:srgbClr val="0D9488"/>
                </a:solidFill>
                <a:latin typeface="Segoe UI"/>
              </a:rPr>
              <a:t>Anthropic</a:t>
            </a:r>
            <a:r>
              <a:rPr lang="en-US" sz="1600" dirty="0">
                <a:solidFill>
                  <a:srgbClr val="1B2A4A"/>
                </a:solidFill>
                <a:latin typeface="Segoe UI"/>
              </a:rPr>
              <a:t>, trained with Constitutional AI to be helpful, honest, and harmless.</a:t>
            </a:r>
          </a:p>
        </p:txBody>
      </p:sp>
      <p:sp>
        <p:nvSpPr>
          <p:cNvPr id="20" name="Tier0"/>
          <p:cNvSpPr/>
          <p:nvPr/>
        </p:nvSpPr>
        <p:spPr>
          <a:xfrm>
            <a:off x="635000" y="2895600"/>
            <a:ext cx="3365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lIns="108000" tIns="72000" rIns="108000" bIns="54000" anchor="t"/>
          <a:lstStyle/>
          <a:p>
            <a:pPr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/>
              </a:rPr>
              <a:t>Haiku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Fast, compact, low-cost. Great for quick replies and bulk tasks.</a:t>
            </a:r>
          </a:p>
        </p:txBody>
      </p:sp>
      <p:sp>
        <p:nvSpPr>
          <p:cNvPr id="21" name="Tier1"/>
          <p:cNvSpPr/>
          <p:nvPr/>
        </p:nvSpPr>
        <p:spPr>
          <a:xfrm>
            <a:off x="4406900" y="2895600"/>
            <a:ext cx="3365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txBody>
          <a:bodyPr lIns="108000" tIns="72000" rIns="108000" bIns="54000" anchor="t"/>
          <a:lstStyle/>
          <a:p>
            <a:pPr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/>
              </a:rPr>
              <a:t>Sonnet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Balanced cost, speed, and reasoning. The default for most apps.</a:t>
            </a:r>
          </a:p>
        </p:txBody>
      </p:sp>
      <p:sp>
        <p:nvSpPr>
          <p:cNvPr id="22" name="Tier2"/>
          <p:cNvSpPr/>
          <p:nvPr/>
        </p:nvSpPr>
        <p:spPr>
          <a:xfrm>
            <a:off x="8178800" y="2895600"/>
            <a:ext cx="3365500" cy="1524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lIns="108000" tIns="72000" rIns="108000" bIns="54000" anchor="t"/>
          <a:lstStyle/>
          <a:p>
            <a:pPr algn="ctr">
              <a:buNone/>
            </a:pPr>
            <a:r>
              <a:rPr lang="en-US" sz="2000" b="1" dirty="0">
                <a:solidFill>
                  <a:srgbClr val="6366F1"/>
                </a:solidFill>
                <a:latin typeface="Trebuchet MS"/>
              </a:rPr>
              <a:t>Opus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Maximum intelligence for complex reasoning and research.</a:t>
            </a:r>
          </a:p>
        </p:txBody>
      </p:sp>
      <p:sp>
        <p:nvSpPr>
          <p:cNvPr id="30" name="Stat0"/>
          <p:cNvSpPr/>
          <p:nvPr/>
        </p:nvSpPr>
        <p:spPr>
          <a:xfrm>
            <a:off x="635000" y="4610100"/>
            <a:ext cx="3365500" cy="1016000"/>
          </a:xfrm>
          <a:prstGeom prst="roundRect">
            <a:avLst>
              <a:gd name="adj" fmla="val 8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  <p:txBody>
          <a:bodyPr lIns="72000" tIns="54000" rIns="72000" bIns="36000" anchor="ctr"/>
          <a:lstStyle/>
          <a:p>
            <a:pPr algn="ctr">
              <a:buNone/>
            </a:pPr>
            <a:r>
              <a:rPr lang="en-US" sz="2400" b="1" dirty="0">
                <a:solidFill>
                  <a:srgbClr val="0D9488"/>
                </a:solidFill>
                <a:latin typeface="Trebuchet MS"/>
              </a:rPr>
              <a:t>200K+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Token Context</a:t>
            </a:r>
          </a:p>
        </p:txBody>
      </p:sp>
      <p:sp>
        <p:nvSpPr>
          <p:cNvPr id="31" name="Stat1"/>
          <p:cNvSpPr/>
          <p:nvPr/>
        </p:nvSpPr>
        <p:spPr>
          <a:xfrm>
            <a:off x="4406900" y="4610100"/>
            <a:ext cx="3365500" cy="1016000"/>
          </a:xfrm>
          <a:prstGeom prst="roundRect">
            <a:avLst>
              <a:gd name="adj" fmla="val 8000"/>
            </a:avLst>
          </a:prstGeom>
          <a:solidFill>
            <a:srgbClr val="6366F1">
              <a:alpha val="10000"/>
            </a:srgbClr>
          </a:solidFill>
          <a:ln>
            <a:noFill/>
          </a:ln>
        </p:spPr>
        <p:txBody>
          <a:bodyPr lIns="72000" tIns="54000" rIns="72000" bIns="36000" anchor="ctr"/>
          <a:lstStyle/>
          <a:p>
            <a:pPr algn="ctr">
              <a:buNone/>
            </a:pPr>
            <a:r>
              <a:rPr lang="en-US" sz="2400" b="1" dirty="0">
                <a:solidFill>
                  <a:srgbClr val="6366F1"/>
                </a:solidFill>
                <a:latin typeface="Trebuchet MS"/>
              </a:rPr>
              <a:t>91.3%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GPQA Diamond</a:t>
            </a:r>
          </a:p>
        </p:txBody>
      </p:sp>
      <p:sp>
        <p:nvSpPr>
          <p:cNvPr id="32" name="Stat2"/>
          <p:cNvSpPr/>
          <p:nvPr/>
        </p:nvSpPr>
        <p:spPr>
          <a:xfrm>
            <a:off x="8178800" y="4610100"/>
            <a:ext cx="3365500" cy="1016000"/>
          </a:xfrm>
          <a:prstGeom prst="roundRect">
            <a:avLst>
              <a:gd name="adj" fmla="val 8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txBody>
          <a:bodyPr lIns="72000" tIns="54000" rIns="72000" bIns="36000" anchor="ctr"/>
          <a:lstStyle/>
          <a:p>
            <a:pPr algn="ctr">
              <a:buNone/>
            </a:pPr>
            <a:r>
              <a:rPr lang="en-US" sz="2400" b="1" dirty="0">
                <a:solidFill>
                  <a:srgbClr val="F59E0B"/>
                </a:solidFill>
                <a:latin typeface="Trebuchet MS"/>
              </a:rPr>
              <a:t>70%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Dev Preference for Code</a:t>
            </a:r>
          </a:p>
        </p:txBody>
      </p:sp>
      <p:sp>
        <p:nvSpPr>
          <p:cNvPr id="40" name="Note"/>
          <p:cNvSpPr/>
          <p:nvPr/>
        </p:nvSpPr>
        <p:spPr>
          <a:xfrm>
            <a:off x="635000" y="58420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US" sz="1400" i="1" dirty="0">
                <a:solidFill>
                  <a:srgbClr val="6B7280"/>
                </a:solidFill>
                <a:latin typeface="Segoe UI"/>
              </a:rPr>
              <a:t>Named after Claude Shannon, the father of information theory. Founded 2021 by ex-OpenAI researchers.</a:t>
            </a:r>
          </a:p>
        </p:txBody>
      </p:sp>
    </p:spTree>
    <p:extLst>
      <p:ext uri="{BB962C8B-B14F-4D97-AF65-F5344CB8AC3E}">
        <p14:creationId xmlns:p14="http://schemas.microsoft.com/office/powerpoint/2010/main" val="291491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E795C-A6E1-6893-B6C1-FE04BC0A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What is Claude Code?</a:t>
            </a:r>
          </a:p>
        </p:txBody>
      </p:sp>
      <p:sp>
        <p:nvSpPr>
          <p:cNvPr id="10" name="Tagline"/>
          <p:cNvSpPr/>
          <p:nvPr/>
        </p:nvSpPr>
        <p:spPr>
          <a:xfrm>
            <a:off x="635000" y="1841500"/>
            <a:ext cx="10922000" cy="635000"/>
          </a:xfrm>
          <a:prstGeom prst="roundRect">
            <a:avLst>
              <a:gd name="adj" fmla="val 8000"/>
            </a:avLst>
          </a:prstGeom>
          <a:solidFill>
            <a:srgbClr val="0D9488">
              <a:alpha val="12000"/>
            </a:srgbClr>
          </a:solidFill>
          <a:ln w="12700">
            <a:solidFill>
              <a:srgbClr val="0D9488"/>
            </a:solidFill>
          </a:ln>
        </p:spPr>
        <p:txBody>
          <a:bodyPr lIns="108000" tIns="54000" rIns="108000" bIns="54000" anchor="ctr"/>
          <a:lstStyle/>
          <a:p>
            <a:pPr algn="ctr">
              <a:buNone/>
            </a:pPr>
            <a:r>
              <a:rPr lang="en-US" sz="1600" dirty="0">
                <a:solidFill>
                  <a:srgbClr val="1B2A4A"/>
                </a:solidFill>
                <a:latin typeface="Segoe UI"/>
              </a:rPr>
              <a:t>An agentic coding tool that lives in your terminal, reads your codebase, and builds features autonomously.</a:t>
            </a:r>
          </a:p>
        </p:txBody>
      </p:sp>
      <p:sp>
        <p:nvSpPr>
          <p:cNvPr id="20" name="Feat0"/>
          <p:cNvSpPr/>
          <p:nvPr/>
        </p:nvSpPr>
        <p:spPr>
          <a:xfrm>
            <a:off x="635000" y="2667000"/>
            <a:ext cx="5334000" cy="124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txBody>
          <a:bodyPr lIns="108000" tIns="54000" rIns="108000" bIns="54000" anchor="ctr"/>
          <a:lstStyle/>
          <a:p>
            <a:pPr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/>
              </a:rPr>
              <a:t>Terminal-Native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Runs in your terminal alongside your IDE. No context-switching.</a:t>
            </a:r>
          </a:p>
        </p:txBody>
      </p:sp>
      <p:sp>
        <p:nvSpPr>
          <p:cNvPr id="21" name="Feat1"/>
          <p:cNvSpPr/>
          <p:nvPr/>
        </p:nvSpPr>
        <p:spPr>
          <a:xfrm>
            <a:off x="6223000" y="2667000"/>
            <a:ext cx="5334000" cy="124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lIns="108000" tIns="54000" rIns="108000" bIns="54000" anchor="ctr"/>
          <a:lstStyle/>
          <a:p>
            <a:pPr>
              <a:buNone/>
            </a:pPr>
            <a:r>
              <a:rPr lang="en-US" sz="1800" b="1" dirty="0">
                <a:solidFill>
                  <a:srgbClr val="6366F1"/>
                </a:solidFill>
                <a:latin typeface="Trebuchet MS"/>
              </a:rPr>
              <a:t>Full Codebase Aware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Reads your entire project, plans multi-file edits, runs tests.</a:t>
            </a:r>
          </a:p>
        </p:txBody>
      </p:sp>
      <p:sp>
        <p:nvSpPr>
          <p:cNvPr id="22" name="Feat2"/>
          <p:cNvSpPr/>
          <p:nvPr/>
        </p:nvSpPr>
        <p:spPr>
          <a:xfrm>
            <a:off x="635000" y="4089400"/>
            <a:ext cx="5334000" cy="124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59E0B"/>
            </a:solidFill>
          </a:ln>
        </p:spPr>
        <p:txBody>
          <a:bodyPr lIns="108000" tIns="54000" rIns="108000" bIns="54000" anchor="ctr"/>
          <a:lstStyle/>
          <a:p>
            <a:pPr>
              <a:buNone/>
            </a:pPr>
            <a:r>
              <a:rPr lang="en-US" sz="1800" b="1" dirty="0">
                <a:solidFill>
                  <a:srgbClr val="F59E0B"/>
                </a:solidFill>
                <a:latin typeface="Trebuchet MS"/>
              </a:rPr>
              <a:t>IDE Integration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Extensions for VS Code, Cursor, Windsurf, and JetBrains IDEs.</a:t>
            </a:r>
          </a:p>
        </p:txBody>
      </p:sp>
      <p:sp>
        <p:nvSpPr>
          <p:cNvPr id="23" name="Feat3"/>
          <p:cNvSpPr/>
          <p:nvPr/>
        </p:nvSpPr>
        <p:spPr>
          <a:xfrm>
            <a:off x="6223000" y="4089400"/>
            <a:ext cx="5334000" cy="124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txBody>
          <a:bodyPr lIns="108000" tIns="54000" rIns="108000" bIns="54000" anchor="ctr"/>
          <a:lstStyle/>
          <a:p>
            <a:pPr>
              <a:buNone/>
            </a:pPr>
            <a:r>
              <a:rPr lang="en-US" sz="1800" b="1" dirty="0">
                <a:solidFill>
                  <a:srgbClr val="EC4899"/>
                </a:solidFill>
                <a:latin typeface="Trebuchet MS"/>
              </a:rPr>
              <a:t>MCP Connected</a:t>
            </a:r>
          </a:p>
          <a:p>
            <a:pPr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Connects to GitHub, Jira, Slack, and custom tools via open protocol.</a:t>
            </a:r>
          </a:p>
        </p:txBody>
      </p:sp>
      <p:sp>
        <p:nvSpPr>
          <p:cNvPr id="50" name="TimelineBg"/>
          <p:cNvSpPr/>
          <p:nvPr/>
        </p:nvSpPr>
        <p:spPr>
          <a:xfrm>
            <a:off x="635000" y="5588000"/>
            <a:ext cx="10922000" cy="762000"/>
          </a:xfrm>
          <a:prstGeom prst="roundRect">
            <a:avLst>
              <a:gd name="adj" fmla="val 10000"/>
            </a:avLst>
          </a:prstGeom>
          <a:solidFill>
            <a:srgbClr val="EBE8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0" name="Dot0"/>
          <p:cNvSpPr/>
          <p:nvPr/>
        </p:nvSpPr>
        <p:spPr>
          <a:xfrm>
            <a:off x="736600" y="5651500"/>
            <a:ext cx="177800" cy="177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0" name="TLabel0"/>
          <p:cNvSpPr/>
          <p:nvPr/>
        </p:nvSpPr>
        <p:spPr>
          <a:xfrm>
            <a:off x="381000" y="58166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18000" tIns="0" rIns="18000" bIns="0" anchor="t"/>
          <a:lstStyle/>
          <a:p>
            <a:pPr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Segoe UI"/>
              </a:rPr>
              <a:t>Feb 2025</a:t>
            </a:r>
          </a:p>
          <a:p>
            <a:pPr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D3E5F"/>
                </a:solidFill>
                <a:latin typeface="Segoe UI"/>
              </a:rPr>
              <a:t>Beta launch</a:t>
            </a:r>
          </a:p>
        </p:txBody>
      </p:sp>
      <p:sp>
        <p:nvSpPr>
          <p:cNvPr id="61" name="Dot1"/>
          <p:cNvSpPr/>
          <p:nvPr/>
        </p:nvSpPr>
        <p:spPr>
          <a:xfrm>
            <a:off x="2959100" y="5651500"/>
            <a:ext cx="177800" cy="17780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TLabel1"/>
          <p:cNvSpPr/>
          <p:nvPr/>
        </p:nvSpPr>
        <p:spPr>
          <a:xfrm>
            <a:off x="2603500" y="58166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18000" tIns="0" rIns="18000" bIns="0" anchor="t"/>
          <a:lstStyle/>
          <a:p>
            <a:pPr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6366F1"/>
                </a:solidFill>
                <a:latin typeface="Segoe UI"/>
              </a:rPr>
              <a:t>May 2025</a:t>
            </a:r>
          </a:p>
          <a:p>
            <a:pPr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D3E5F"/>
                </a:solidFill>
                <a:latin typeface="Segoe UI"/>
              </a:rPr>
              <a:t>GA release</a:t>
            </a:r>
          </a:p>
        </p:txBody>
      </p:sp>
      <p:sp>
        <p:nvSpPr>
          <p:cNvPr id="62" name="Dot2"/>
          <p:cNvSpPr/>
          <p:nvPr/>
        </p:nvSpPr>
        <p:spPr>
          <a:xfrm>
            <a:off x="5181600" y="5651500"/>
            <a:ext cx="177800" cy="1778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2" name="TLabel2"/>
          <p:cNvSpPr/>
          <p:nvPr/>
        </p:nvSpPr>
        <p:spPr>
          <a:xfrm>
            <a:off x="4826000" y="58166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18000" tIns="0" rIns="18000" bIns="0" anchor="t"/>
          <a:lstStyle/>
          <a:p>
            <a:pPr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F59E0B"/>
                </a:solidFill>
                <a:latin typeface="Segoe UI"/>
              </a:rPr>
              <a:t>Sep 2025</a:t>
            </a:r>
          </a:p>
          <a:p>
            <a:pPr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D3E5F"/>
                </a:solidFill>
                <a:latin typeface="Segoe UI"/>
              </a:rPr>
              <a:t>v2.0 + SDK</a:t>
            </a:r>
          </a:p>
        </p:txBody>
      </p:sp>
      <p:sp>
        <p:nvSpPr>
          <p:cNvPr id="63" name="Dot3"/>
          <p:cNvSpPr/>
          <p:nvPr/>
        </p:nvSpPr>
        <p:spPr>
          <a:xfrm>
            <a:off x="7404100" y="5651500"/>
            <a:ext cx="177800" cy="1778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3" name="TLabel3"/>
          <p:cNvSpPr/>
          <p:nvPr/>
        </p:nvSpPr>
        <p:spPr>
          <a:xfrm>
            <a:off x="7048500" y="58166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18000" tIns="0" rIns="18000" bIns="0" anchor="t"/>
          <a:lstStyle/>
          <a:p>
            <a:pPr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EC4899"/>
                </a:solidFill>
                <a:latin typeface="Segoe UI"/>
              </a:rPr>
              <a:t>2026</a:t>
            </a:r>
          </a:p>
          <a:p>
            <a:pPr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D3E5F"/>
                </a:solidFill>
                <a:latin typeface="Segoe UI"/>
              </a:rPr>
              <a:t>$2.5B ARR</a:t>
            </a:r>
          </a:p>
        </p:txBody>
      </p:sp>
      <p:sp>
        <p:nvSpPr>
          <p:cNvPr id="64" name="Dot4"/>
          <p:cNvSpPr/>
          <p:nvPr/>
        </p:nvSpPr>
        <p:spPr>
          <a:xfrm>
            <a:off x="9499600" y="5651500"/>
            <a:ext cx="177800" cy="17780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4" name="TLabel4"/>
          <p:cNvSpPr/>
          <p:nvPr/>
        </p:nvSpPr>
        <p:spPr>
          <a:xfrm>
            <a:off x="9144000" y="5816600"/>
            <a:ext cx="1778000" cy="482600"/>
          </a:xfrm>
          <a:prstGeom prst="rect">
            <a:avLst/>
          </a:prstGeom>
          <a:noFill/>
          <a:ln>
            <a:noFill/>
          </a:ln>
        </p:spPr>
        <p:txBody>
          <a:bodyPr lIns="18000" tIns="0" rIns="18000" bIns="0" anchor="t"/>
          <a:lstStyle/>
          <a:p>
            <a:pPr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Segoe UI"/>
              </a:rPr>
              <a:t>May 2026</a:t>
            </a:r>
          </a:p>
          <a:p>
            <a:pPr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D3E5F"/>
                </a:solidFill>
                <a:latin typeface="Segoe UI"/>
              </a:rPr>
              <a:t>Managed Agents</a:t>
            </a:r>
          </a:p>
        </p:txBody>
      </p:sp>
    </p:spTree>
    <p:extLst>
      <p:ext uri="{BB962C8B-B14F-4D97-AF65-F5344CB8AC3E}">
        <p14:creationId xmlns:p14="http://schemas.microsoft.com/office/powerpoint/2010/main" val="40139146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63E12-4353-6A7F-3AF0-BEA47BB89F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How Claude Differs</a:t>
            </a:r>
          </a:p>
        </p:txBody>
      </p:sp>
      <p:sp>
        <p:nvSpPr>
          <p:cNvPr id="10" name="Icon0"/>
          <p:cNvSpPr/>
          <p:nvPr/>
        </p:nvSpPr>
        <p:spPr>
          <a:xfrm>
            <a:off x="2032000" y="1879600"/>
            <a:ext cx="558800" cy="5588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/>
              </a:rPr>
              <a:t>C</a:t>
            </a:r>
          </a:p>
        </p:txBody>
      </p:sp>
      <p:sp>
        <p:nvSpPr>
          <p:cNvPr id="20" name="Card0"/>
          <p:cNvSpPr/>
          <p:nvPr/>
        </p:nvSpPr>
        <p:spPr>
          <a:xfrm>
            <a:off x="635000" y="2540000"/>
            <a:ext cx="33655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D9488"/>
            </a:solidFill>
          </a:ln>
        </p:spPr>
        <p:txBody>
          <a:bodyPr lIns="90000" tIns="72000" rIns="90000" bIns="54000" anchor="t"/>
          <a:lstStyle/>
          <a:p>
            <a:pPr algn="ctr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/>
              </a:rPr>
              <a:t>Constitutional AI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Trained against a set of principles rather than chasing user approval. Claude grades its own answers for correctness, not satisfaction.</a:t>
            </a:r>
          </a:p>
        </p:txBody>
      </p:sp>
      <p:sp>
        <p:nvSpPr>
          <p:cNvPr id="11" name="Icon1"/>
          <p:cNvSpPr/>
          <p:nvPr/>
        </p:nvSpPr>
        <p:spPr>
          <a:xfrm>
            <a:off x="5803900" y="1879600"/>
            <a:ext cx="558800" cy="5588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/>
              </a:rPr>
              <a:t>H</a:t>
            </a:r>
          </a:p>
        </p:txBody>
      </p:sp>
      <p:sp>
        <p:nvSpPr>
          <p:cNvPr id="21" name="Card1"/>
          <p:cNvSpPr/>
          <p:nvPr/>
        </p:nvSpPr>
        <p:spPr>
          <a:xfrm>
            <a:off x="4406900" y="2540000"/>
            <a:ext cx="33655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txBody>
          <a:bodyPr lIns="90000" tIns="72000" rIns="90000" bIns="54000" anchor="t"/>
          <a:lstStyle/>
          <a:p>
            <a:pPr algn="ctr">
              <a:buNone/>
            </a:pPr>
            <a:r>
              <a:rPr lang="en-US" sz="1600" b="1" dirty="0">
                <a:solidFill>
                  <a:srgbClr val="6366F1"/>
                </a:solidFill>
                <a:latin typeface="Trebuchet MS"/>
              </a:rPr>
              <a:t>Honest by Design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Willing to challenge assumptions, flag errors, and say "I'm not sure" rather than generating a confident but wrong answer.</a:t>
            </a:r>
          </a:p>
        </p:txBody>
      </p:sp>
      <p:sp>
        <p:nvSpPr>
          <p:cNvPr id="12" name="Icon2"/>
          <p:cNvSpPr/>
          <p:nvPr/>
        </p:nvSpPr>
        <p:spPr>
          <a:xfrm>
            <a:off x="9575800" y="1879600"/>
            <a:ext cx="558800" cy="55880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/>
              </a:rPr>
              <a:t>S</a:t>
            </a:r>
          </a:p>
        </p:txBody>
      </p:sp>
      <p:sp>
        <p:nvSpPr>
          <p:cNvPr id="22" name="Card2"/>
          <p:cNvSpPr/>
          <p:nvPr/>
        </p:nvSpPr>
        <p:spPr>
          <a:xfrm>
            <a:off x="8178800" y="2540000"/>
            <a:ext cx="3365500" cy="1651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C4899"/>
            </a:solidFill>
          </a:ln>
        </p:spPr>
        <p:txBody>
          <a:bodyPr lIns="90000" tIns="72000" rIns="90000" bIns="54000" anchor="t"/>
          <a:lstStyle/>
          <a:p>
            <a:pPr algn="ctr">
              <a:buNone/>
            </a:pPr>
            <a:r>
              <a:rPr lang="en-US" sz="1600" b="1" dirty="0">
                <a:solidFill>
                  <a:srgbClr val="EC4899"/>
                </a:solidFill>
                <a:latin typeface="Trebuchet MS"/>
              </a:rPr>
              <a:t>Safety-First</a:t>
            </a:r>
          </a:p>
          <a:p>
            <a:pPr algn="ctr">
              <a:spcBef>
                <a:spcPts val="4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Responsible Scaling Policy with AI Safety Levels that scale safeguards as model capabilities advance. Independent red-teaming.</a:t>
            </a:r>
          </a:p>
        </p:txBody>
      </p:sp>
      <p:sp>
        <p:nvSpPr>
          <p:cNvPr id="30" name="ImpactHeader"/>
          <p:cNvSpPr/>
          <p:nvPr/>
        </p:nvSpPr>
        <p:spPr>
          <a:xfrm>
            <a:off x="635000" y="4419600"/>
            <a:ext cx="10922000" cy="406400"/>
          </a:xfrm>
          <a:prstGeom prst="rect">
            <a:avLst/>
          </a:prstGeom>
          <a:noFill/>
          <a:ln>
            <a:noFill/>
          </a:ln>
        </p:spPr>
        <p:txBody>
          <a:bodyPr lIns="36000" tIns="18000" rIns="36000" bIns="18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1B2A4A"/>
                </a:solidFill>
                <a:latin typeface="Trebuchet MS"/>
              </a:rPr>
              <a:t>Real-World Impact</a:t>
            </a:r>
          </a:p>
        </p:txBody>
      </p:sp>
      <p:sp>
        <p:nvSpPr>
          <p:cNvPr id="40" name="Impact0"/>
          <p:cNvSpPr/>
          <p:nvPr/>
        </p:nvSpPr>
        <p:spPr>
          <a:xfrm>
            <a:off x="635000" y="4889500"/>
            <a:ext cx="3365500" cy="1143000"/>
          </a:xfrm>
          <a:prstGeom prst="roundRect">
            <a:avLst>
              <a:gd name="adj" fmla="val 8000"/>
            </a:avLst>
          </a:prstGeom>
          <a:solidFill>
            <a:srgbClr val="0D9488">
              <a:alpha val="10000"/>
            </a:srgbClr>
          </a:solidFill>
          <a:ln>
            <a:noFill/>
          </a:ln>
        </p:spPr>
        <p:txBody>
          <a:bodyPr lIns="72000" tIns="54000" rIns="72000" bIns="36000" anchor="ctr"/>
          <a:lstStyle/>
          <a:p>
            <a:pPr algn="ctr">
              <a:buNone/>
            </a:pPr>
            <a:r>
              <a:rPr lang="en-US" sz="2000" b="1" dirty="0">
                <a:solidFill>
                  <a:srgbClr val="0D9488"/>
                </a:solidFill>
                <a:latin typeface="Trebuchet MS"/>
              </a:rPr>
              <a:t>10,000-line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Scala-to-Java migration in 4 days at Stripe</a:t>
            </a:r>
          </a:p>
        </p:txBody>
      </p:sp>
      <p:sp>
        <p:nvSpPr>
          <p:cNvPr id="41" name="Impact1"/>
          <p:cNvSpPr/>
          <p:nvPr/>
        </p:nvSpPr>
        <p:spPr>
          <a:xfrm>
            <a:off x="4406900" y="4889500"/>
            <a:ext cx="3365500" cy="1143000"/>
          </a:xfrm>
          <a:prstGeom prst="roundRect">
            <a:avLst>
              <a:gd name="adj" fmla="val 8000"/>
            </a:avLst>
          </a:prstGeom>
          <a:solidFill>
            <a:srgbClr val="6366F1">
              <a:alpha val="10000"/>
            </a:srgbClr>
          </a:solidFill>
          <a:ln>
            <a:noFill/>
          </a:ln>
        </p:spPr>
        <p:txBody>
          <a:bodyPr lIns="72000" tIns="54000" rIns="72000" bIns="36000" anchor="ctr"/>
          <a:lstStyle/>
          <a:p>
            <a:pPr algn="ctr">
              <a:buNone/>
            </a:pPr>
            <a:r>
              <a:rPr lang="en-US" sz="2000" b="1" dirty="0">
                <a:solidFill>
                  <a:srgbClr val="6366F1"/>
                </a:solidFill>
                <a:latin typeface="Trebuchet MS"/>
              </a:rPr>
              <a:t>50,000-line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Python-to-Go port in 20 hours at Wiz</a:t>
            </a:r>
          </a:p>
        </p:txBody>
      </p:sp>
      <p:sp>
        <p:nvSpPr>
          <p:cNvPr id="42" name="Impact2"/>
          <p:cNvSpPr/>
          <p:nvPr/>
        </p:nvSpPr>
        <p:spPr>
          <a:xfrm>
            <a:off x="8178800" y="4889500"/>
            <a:ext cx="3365500" cy="1143000"/>
          </a:xfrm>
          <a:prstGeom prst="roundRect">
            <a:avLst>
              <a:gd name="adj" fmla="val 8000"/>
            </a:avLst>
          </a:prstGeom>
          <a:solidFill>
            <a:srgbClr val="F59E0B">
              <a:alpha val="10000"/>
            </a:srgbClr>
          </a:solidFill>
          <a:ln>
            <a:noFill/>
          </a:ln>
        </p:spPr>
        <p:txBody>
          <a:bodyPr lIns="72000" tIns="54000" rIns="72000" bIns="36000" anchor="ctr"/>
          <a:lstStyle/>
          <a:p>
            <a:pPr algn="ctr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/>
              </a:rPr>
              <a:t>80%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400" dirty="0">
                <a:solidFill>
                  <a:srgbClr val="2D3E5F"/>
                </a:solidFill>
                <a:latin typeface="Segoe UI"/>
              </a:rPr>
              <a:t>Incident investigation time cut at Ramp</a:t>
            </a:r>
          </a:p>
        </p:txBody>
      </p:sp>
      <p:sp>
        <p:nvSpPr>
          <p:cNvPr id="50" name="Quote"/>
          <p:cNvSpPr/>
          <p:nvPr/>
        </p:nvSpPr>
        <p:spPr>
          <a:xfrm>
            <a:off x="635000" y="6159500"/>
            <a:ext cx="10922000" cy="381000"/>
          </a:xfrm>
          <a:prstGeom prst="rect">
            <a:avLst/>
          </a:prstGeom>
          <a:noFill/>
          <a:ln>
            <a:noFill/>
          </a:ln>
        </p:spPr>
        <p:txBody>
          <a:bodyPr lIns="72000" tIns="18000" rIns="72000" bIns="18000" anchor="ctr"/>
          <a:lstStyle/>
          <a:p>
            <a:pPr algn="ctr">
              <a:buNone/>
            </a:pPr>
            <a:r>
              <a:rPr lang="en-US" sz="1400" i="1" dirty="0">
                <a:solidFill>
                  <a:srgbClr val="6B7280"/>
                </a:solidFill>
                <a:latin typeface="Segoe UI"/>
              </a:rPr>
              <a:t>Used by engineers at Microsoft, Google, Stripe, Ramp, Wiz, and Rakuten.</a:t>
            </a:r>
          </a:p>
        </p:txBody>
      </p:sp>
    </p:spTree>
    <p:extLst>
      <p:ext uri="{BB962C8B-B14F-4D97-AF65-F5344CB8AC3E}">
        <p14:creationId xmlns:p14="http://schemas.microsoft.com/office/powerpoint/2010/main" val="2294237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ED84B-BD4E-FF7E-29EF-69C70DDB3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/>
              <a:t>Responsible AI &amp; What's Next</a:t>
            </a:r>
          </a:p>
        </p:txBody>
      </p:sp>
      <p:sp>
        <p:nvSpPr>
          <p:cNvPr id="10" name="Num0"/>
          <p:cNvSpPr/>
          <p:nvPr/>
        </p:nvSpPr>
        <p:spPr>
          <a:xfrm>
            <a:off x="698500" y="2032000"/>
            <a:ext cx="457200" cy="4572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20" name="SafeCard0"/>
          <p:cNvSpPr/>
          <p:nvPr/>
        </p:nvSpPr>
        <p:spPr>
          <a:xfrm>
            <a:off x="1270000" y="1879600"/>
            <a:ext cx="4826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8E0"/>
            </a:solidFill>
          </a:ln>
        </p:spPr>
        <p:txBody>
          <a:bodyPr lIns="90000" tIns="54000" rIns="72000" bIns="36000" anchor="t"/>
          <a:lstStyle/>
          <a:p>
            <a:pPr>
              <a:buNone/>
            </a:pPr>
            <a:r>
              <a:rPr lang="en-US" sz="1500" b="1" dirty="0">
                <a:solidFill>
                  <a:srgbClr val="0D9488"/>
                </a:solidFill>
                <a:latin typeface="Trebuchet MS"/>
              </a:rPr>
              <a:t>Responsible Scaling Policy</a:t>
            </a:r>
          </a:p>
          <a:p>
            <a:pPr>
              <a:spcBef>
                <a:spcPts val="200"/>
              </a:spcBef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AI Safety Levels (ASL) that require stricter controls as capabilities increase. Pre-deployment testing before release.</a:t>
            </a:r>
          </a:p>
        </p:txBody>
      </p:sp>
      <p:sp>
        <p:nvSpPr>
          <p:cNvPr id="11" name="Num1"/>
          <p:cNvSpPr/>
          <p:nvPr/>
        </p:nvSpPr>
        <p:spPr>
          <a:xfrm>
            <a:off x="698500" y="3403600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21" name="SafeCard1"/>
          <p:cNvSpPr/>
          <p:nvPr/>
        </p:nvSpPr>
        <p:spPr>
          <a:xfrm>
            <a:off x="1270000" y="3251200"/>
            <a:ext cx="4826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8E0"/>
            </a:solidFill>
          </a:ln>
        </p:spPr>
        <p:txBody>
          <a:bodyPr lIns="90000" tIns="54000" rIns="72000" bIns="36000" anchor="t"/>
          <a:lstStyle/>
          <a:p>
            <a:pPr>
              <a:buNone/>
            </a:pPr>
            <a:r>
              <a:rPr lang="en-US" sz="1500" b="1" dirty="0">
                <a:solidFill>
                  <a:srgbClr val="6366F1"/>
                </a:solidFill>
                <a:latin typeface="Trebuchet MS"/>
              </a:rPr>
              <a:t>Constitutional AI Training</a:t>
            </a:r>
          </a:p>
          <a:p>
            <a:pPr>
              <a:spcBef>
                <a:spcPts val="200"/>
              </a:spcBef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A 23,000-word constitution guiding behavior. Principles drawn from the UN Declaration of Human Rights.</a:t>
            </a:r>
          </a:p>
        </p:txBody>
      </p:sp>
      <p:sp>
        <p:nvSpPr>
          <p:cNvPr id="12" name="Num2"/>
          <p:cNvSpPr/>
          <p:nvPr/>
        </p:nvSpPr>
        <p:spPr>
          <a:xfrm>
            <a:off x="698500" y="4775200"/>
            <a:ext cx="457200" cy="45720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 lIns="0" tIns="0" rIns="0" bIns="0" anchor="ctr"/>
          <a:lstStyle/>
          <a:p>
            <a:pPr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22" name="SafeCard2"/>
          <p:cNvSpPr/>
          <p:nvPr/>
        </p:nvSpPr>
        <p:spPr>
          <a:xfrm>
            <a:off x="1270000" y="4622800"/>
            <a:ext cx="4826000" cy="12065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BE8E0"/>
            </a:solidFill>
          </a:ln>
        </p:spPr>
        <p:txBody>
          <a:bodyPr lIns="90000" tIns="54000" rIns="72000" bIns="36000" anchor="t"/>
          <a:lstStyle/>
          <a:p>
            <a:pPr>
              <a:buNone/>
            </a:pPr>
            <a:r>
              <a:rPr lang="en-US" sz="1500" b="1" dirty="0">
                <a:solidFill>
                  <a:srgbClr val="EC4899"/>
                </a:solidFill>
                <a:latin typeface="Trebuchet MS"/>
              </a:rPr>
              <a:t>Red-Teaming &amp; Evals</a:t>
            </a:r>
          </a:p>
          <a:p>
            <a:pPr>
              <a:spcBef>
                <a:spcPts val="200"/>
              </a:spcBef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Internal and third-party red-teaming. Capability thresholds for CBRN and autonomous AI R&amp;D risks.</a:t>
            </a:r>
          </a:p>
        </p:txBody>
      </p:sp>
      <p:sp>
        <p:nvSpPr>
          <p:cNvPr id="30" name="WhatsNextHeader"/>
          <p:cNvSpPr/>
          <p:nvPr/>
        </p:nvSpPr>
        <p:spPr>
          <a:xfrm>
            <a:off x="6477000" y="1879600"/>
            <a:ext cx="5080000" cy="457200"/>
          </a:xfrm>
          <a:prstGeom prst="roundRect">
            <a:avLst>
              <a:gd name="adj" fmla="val 12000"/>
            </a:avLst>
          </a:prstGeom>
          <a:solidFill>
            <a:srgbClr val="0B7C72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/>
              </a:rPr>
              <a:t>What's Next</a:t>
            </a:r>
          </a:p>
        </p:txBody>
      </p:sp>
      <p:sp>
        <p:nvSpPr>
          <p:cNvPr id="40" name="NDot0"/>
          <p:cNvSpPr/>
          <p:nvPr/>
        </p:nvSpPr>
        <p:spPr>
          <a:xfrm>
            <a:off x="6578600" y="2616200"/>
            <a:ext cx="177800" cy="1778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0" name="NTxt0"/>
          <p:cNvSpPr/>
          <p:nvPr/>
        </p:nvSpPr>
        <p:spPr>
          <a:xfrm>
            <a:off x="6858000" y="2514600"/>
            <a:ext cx="4635500" cy="431800"/>
          </a:xfrm>
          <a:prstGeom prst="rect">
            <a:avLst/>
          </a:prstGeom>
          <a:noFill/>
          <a:ln>
            <a:noFill/>
          </a:ln>
        </p:spPr>
        <p:txBody>
          <a:bodyPr lIns="18000" tIns="18000" rIns="18000" bIns="18000" anchor="ctr"/>
          <a:lstStyle/>
          <a:p>
            <a:pPr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Managed Agents API for multi-agent workflows</a:t>
            </a:r>
          </a:p>
        </p:txBody>
      </p:sp>
      <p:sp>
        <p:nvSpPr>
          <p:cNvPr id="41" name="NDot1"/>
          <p:cNvSpPr/>
          <p:nvPr/>
        </p:nvSpPr>
        <p:spPr>
          <a:xfrm>
            <a:off x="6578600" y="3124200"/>
            <a:ext cx="177800" cy="1778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NTxt1"/>
          <p:cNvSpPr/>
          <p:nvPr/>
        </p:nvSpPr>
        <p:spPr>
          <a:xfrm>
            <a:off x="6858000" y="3022600"/>
            <a:ext cx="4635500" cy="431800"/>
          </a:xfrm>
          <a:prstGeom prst="rect">
            <a:avLst/>
          </a:prstGeom>
          <a:noFill/>
          <a:ln>
            <a:noFill/>
          </a:ln>
        </p:spPr>
        <p:txBody>
          <a:bodyPr lIns="18000" tIns="18000" rIns="18000" bIns="18000" anchor="ctr"/>
          <a:lstStyle/>
          <a:p>
            <a:pPr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1M token context on Sonnet 4.6 and Opus 4.6</a:t>
            </a:r>
          </a:p>
        </p:txBody>
      </p:sp>
      <p:sp>
        <p:nvSpPr>
          <p:cNvPr id="42" name="NDot2"/>
          <p:cNvSpPr/>
          <p:nvPr/>
        </p:nvSpPr>
        <p:spPr>
          <a:xfrm>
            <a:off x="6578600" y="3632200"/>
            <a:ext cx="177800" cy="177800"/>
          </a:xfrm>
          <a:prstGeom prst="ellipse">
            <a:avLst/>
          </a:prstGeom>
          <a:solidFill>
            <a:srgbClr val="D9770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NTxt2"/>
          <p:cNvSpPr/>
          <p:nvPr/>
        </p:nvSpPr>
        <p:spPr>
          <a:xfrm>
            <a:off x="6858000" y="3530600"/>
            <a:ext cx="4635500" cy="431800"/>
          </a:xfrm>
          <a:prstGeom prst="rect">
            <a:avLst/>
          </a:prstGeom>
          <a:noFill/>
          <a:ln>
            <a:noFill/>
          </a:ln>
        </p:spPr>
        <p:txBody>
          <a:bodyPr lIns="18000" tIns="18000" rIns="18000" bIns="18000" anchor="ctr"/>
          <a:lstStyle/>
          <a:p>
            <a:pPr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Agent Teams for parallel development tasks</a:t>
            </a:r>
          </a:p>
        </p:txBody>
      </p:sp>
      <p:sp>
        <p:nvSpPr>
          <p:cNvPr id="43" name="NDot3"/>
          <p:cNvSpPr/>
          <p:nvPr/>
        </p:nvSpPr>
        <p:spPr>
          <a:xfrm>
            <a:off x="6578600" y="4140200"/>
            <a:ext cx="177800" cy="177800"/>
          </a:xfrm>
          <a:prstGeom prst="ellipse">
            <a:avLst/>
          </a:prstGeom>
          <a:solidFill>
            <a:srgbClr val="C2185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NTxt3"/>
          <p:cNvSpPr/>
          <p:nvPr/>
        </p:nvSpPr>
        <p:spPr>
          <a:xfrm>
            <a:off x="6858000" y="4038600"/>
            <a:ext cx="4635500" cy="431800"/>
          </a:xfrm>
          <a:prstGeom prst="rect">
            <a:avLst/>
          </a:prstGeom>
          <a:noFill/>
          <a:ln>
            <a:noFill/>
          </a:ln>
        </p:spPr>
        <p:txBody>
          <a:bodyPr lIns="18000" tIns="18000" rIns="18000" bIns="18000" anchor="ctr"/>
          <a:lstStyle/>
          <a:p>
            <a:pPr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Claude Cowork: GUI for non-technical users</a:t>
            </a:r>
          </a:p>
        </p:txBody>
      </p:sp>
      <p:sp>
        <p:nvSpPr>
          <p:cNvPr id="44" name="NDot4"/>
          <p:cNvSpPr/>
          <p:nvPr/>
        </p:nvSpPr>
        <p:spPr>
          <a:xfrm>
            <a:off x="6578600" y="4648200"/>
            <a:ext cx="177800" cy="177800"/>
          </a:xfrm>
          <a:prstGeom prst="ellipse">
            <a:avLst/>
          </a:prstGeom>
          <a:solidFill>
            <a:srgbClr val="0B7C7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4" name="NTxt4"/>
          <p:cNvSpPr/>
          <p:nvPr/>
        </p:nvSpPr>
        <p:spPr>
          <a:xfrm>
            <a:off x="6858000" y="4546600"/>
            <a:ext cx="4635500" cy="431800"/>
          </a:xfrm>
          <a:prstGeom prst="rect">
            <a:avLst/>
          </a:prstGeom>
          <a:noFill/>
          <a:ln>
            <a:noFill/>
          </a:ln>
        </p:spPr>
        <p:txBody>
          <a:bodyPr lIns="18000" tIns="18000" rIns="18000" bIns="18000" anchor="ctr"/>
          <a:lstStyle/>
          <a:p>
            <a:pPr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200+ connectors across design, finance, productivity</a:t>
            </a:r>
          </a:p>
        </p:txBody>
      </p:sp>
      <p:sp>
        <p:nvSpPr>
          <p:cNvPr id="45" name="NDot5"/>
          <p:cNvSpPr/>
          <p:nvPr/>
        </p:nvSpPr>
        <p:spPr>
          <a:xfrm>
            <a:off x="6578600" y="5156200"/>
            <a:ext cx="177800" cy="177800"/>
          </a:xfrm>
          <a:prstGeom prst="ellipse">
            <a:avLst/>
          </a:prstGeom>
          <a:solidFill>
            <a:srgbClr val="4F46E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5" name="NTxt5"/>
          <p:cNvSpPr/>
          <p:nvPr/>
        </p:nvSpPr>
        <p:spPr>
          <a:xfrm>
            <a:off x="6858000" y="5054600"/>
            <a:ext cx="4635500" cy="431800"/>
          </a:xfrm>
          <a:prstGeom prst="rect">
            <a:avLst/>
          </a:prstGeom>
          <a:noFill/>
          <a:ln>
            <a:noFill/>
          </a:ln>
        </p:spPr>
        <p:txBody>
          <a:bodyPr lIns="18000" tIns="18000" rIns="18000" bIns="18000" anchor="ctr"/>
          <a:lstStyle/>
          <a:p>
            <a:pPr>
              <a:buNone/>
            </a:pPr>
            <a:r>
              <a:rPr lang="en-US" sz="1300" dirty="0">
                <a:solidFill>
                  <a:srgbClr val="2D3E5F"/>
                </a:solidFill>
                <a:latin typeface="Segoe UI"/>
              </a:rPr>
              <a:t>Dreaming: persistent memory consolidation</a:t>
            </a:r>
          </a:p>
        </p:txBody>
      </p:sp>
      <p:sp>
        <p:nvSpPr>
          <p:cNvPr id="60" name="CTA"/>
          <p:cNvSpPr/>
          <p:nvPr/>
        </p:nvSpPr>
        <p:spPr>
          <a:xfrm>
            <a:off x="6477000" y="5689600"/>
            <a:ext cx="5080000" cy="66040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>
            <a:noFill/>
          </a:ln>
        </p:spPr>
        <p:txBody>
          <a:bodyPr lIns="72000" tIns="36000" rIns="72000" bIns="36000" anchor="ctr"/>
          <a:lstStyle/>
          <a:p>
            <a:pPr algn="ctr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/>
              </a:rPr>
              <a:t>Try it: claude.ai  |  code.claude.com</a:t>
            </a:r>
          </a:p>
        </p:txBody>
      </p:sp>
    </p:spTree>
    <p:extLst>
      <p:ext uri="{BB962C8B-B14F-4D97-AF65-F5344CB8AC3E}">
        <p14:creationId xmlns:p14="http://schemas.microsoft.com/office/powerpoint/2010/main" val="17613761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8600731396]">
  <a:themeElements>
    <a:clrScheme name="LLM Deck">
      <a:dk1>
        <a:srgbClr val="1B2A4A"/>
      </a:dk1>
      <a:lt1>
        <a:srgbClr val="F7F5F0"/>
      </a:lt1>
      <a:dk2>
        <a:srgbClr val="2D3E5F"/>
      </a:dk2>
      <a:lt2>
        <a:srgbClr val="EBE8E0"/>
      </a:lt2>
      <a:accent1>
        <a:srgbClr val="0D9488"/>
      </a:accent1>
      <a:accent2>
        <a:srgbClr val="F59E0B"/>
      </a:accent2>
      <a:accent3>
        <a:srgbClr val="6366F1"/>
      </a:accent3>
      <a:accent4>
        <a:srgbClr val="EC4899"/>
      </a:accent4>
      <a:accent5>
        <a:srgbClr val="10B981"/>
      </a:accent5>
      <a:accent6>
        <a:srgbClr val="8B5CF6"/>
      </a:accent6>
      <a:hlink>
        <a:srgbClr val="467886"/>
      </a:hlink>
      <a:folHlink>
        <a:srgbClr val="96607D"/>
      </a:folHlink>
    </a:clrScheme>
    <a:fontScheme name="LLM Fonts">
      <a:majorFont>
        <a:latin typeface="Trebuchet M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586A069-069C-6245-B298-E6FF628CD758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e3317a97-8084-4ee8-bbd4-3fa765a4218d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327</TotalTime>
  <Words>1721</Words>
  <Application>Microsoft Macintosh PowerPoint</Application>
  <PresentationFormat>Widescreen</PresentationFormat>
  <Paragraphs>241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Segoe UI</vt:lpstr>
      <vt:lpstr>Trebuchet MS</vt:lpstr>
      <vt:lpstr>Office Theme [1778600731396]</vt:lpstr>
      <vt:lpstr>Understanding LLMs</vt:lpstr>
      <vt:lpstr>What are LLMs?</vt:lpstr>
      <vt:lpstr>How LLMs Work: The Prediction Machine</vt:lpstr>
      <vt:lpstr>How LLMs Are Trained</vt:lpstr>
      <vt:lpstr>Tokens: The Building Blocks</vt:lpstr>
      <vt:lpstr>Context Windows: The LLM's Memory</vt:lpstr>
      <vt:lpstr>Key Limitations to Know</vt:lpstr>
      <vt:lpstr>Popular LLM Families</vt:lpstr>
      <vt:lpstr>Real-World Applications</vt:lpstr>
      <vt:lpstr>The Scale Story</vt:lpstr>
      <vt:lpstr>Prompt Engineering Tips</vt:lpstr>
      <vt:lpstr>Key Takeaways</vt:lpstr>
      <vt:lpstr>Claude &amp; Claude Code</vt:lpstr>
      <vt:lpstr>What is Claude?</vt:lpstr>
      <vt:lpstr>What is Claude Code?</vt:lpstr>
      <vt:lpstr>How Claude Differs</vt:lpstr>
      <vt:lpstr>Responsible AI &amp; What's Next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Ramanuj Das</dc:creator>
  <cp:lastModifiedBy>Ramanuj Das</cp:lastModifiedBy>
  <cp:revision>4</cp:revision>
  <dcterms:created xsi:type="dcterms:W3CDTF">2026-05-12T15:42:49Z</dcterms:created>
  <dcterms:modified xsi:type="dcterms:W3CDTF">2026-05-14T12:12:33Z</dcterms:modified>
</cp:coreProperties>
</file>